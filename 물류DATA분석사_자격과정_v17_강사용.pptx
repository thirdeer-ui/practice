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31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15" r:id="rId16"/>
    <p:sldId id="316" r:id="rId17"/>
    <p:sldId id="270" r:id="rId18"/>
    <p:sldId id="271" r:id="rId19"/>
    <p:sldId id="272" r:id="rId20"/>
    <p:sldId id="334" r:id="rId21"/>
    <p:sldId id="273" r:id="rId22"/>
    <p:sldId id="274" r:id="rId23"/>
    <p:sldId id="275" r:id="rId24"/>
    <p:sldId id="277" r:id="rId25"/>
    <p:sldId id="278" r:id="rId26"/>
    <p:sldId id="279" r:id="rId27"/>
    <p:sldId id="280" r:id="rId28"/>
    <p:sldId id="281" r:id="rId29"/>
    <p:sldId id="339" r:id="rId89"/>
    <p:sldId id="282" r:id="rId30"/>
    <p:sldId id="283" r:id="rId31"/>
    <p:sldId id="340" r:id="rId90"/>
    <p:sldId id="284" r:id="rId32"/>
    <p:sldId id="285" r:id="rId33"/>
    <p:sldId id="286" r:id="rId34"/>
    <p:sldId id="287" r:id="rId35"/>
    <p:sldId id="288" r:id="rId36"/>
    <p:sldId id="317" r:id="rId37"/>
    <p:sldId id="318" r:id="rId38"/>
    <p:sldId id="341" r:id="rId91"/>
    <p:sldId id="289" r:id="rId39"/>
    <p:sldId id="290" r:id="rId40"/>
    <p:sldId id="291" r:id="rId41"/>
    <p:sldId id="292" r:id="rId42"/>
    <p:sldId id="293" r:id="rId43"/>
    <p:sldId id="342" r:id="rId92"/>
    <p:sldId id="294" r:id="rId44"/>
    <p:sldId id="295" r:id="rId45"/>
    <p:sldId id="296" r:id="rId46"/>
    <p:sldId id="343" r:id="rId93"/>
    <p:sldId id="319" r:id="rId47"/>
    <p:sldId id="320" r:id="rId48"/>
    <p:sldId id="321" r:id="rId49"/>
    <p:sldId id="297" r:id="rId50"/>
    <p:sldId id="298" r:id="rId51"/>
    <p:sldId id="344" r:id="rId94"/>
    <p:sldId id="299" r:id="rId52"/>
    <p:sldId id="300" r:id="rId53"/>
    <p:sldId id="301" r:id="rId54"/>
    <p:sldId id="302" r:id="rId55"/>
    <p:sldId id="303" r:id="rId56"/>
    <p:sldId id="322" r:id="rId57"/>
    <p:sldId id="323" r:id="rId58"/>
    <p:sldId id="345" r:id="rId95"/>
    <p:sldId id="304" r:id="rId59"/>
    <p:sldId id="305" r:id="rId60"/>
    <p:sldId id="306" r:id="rId61"/>
    <p:sldId id="346" r:id="rId96"/>
    <p:sldId id="324" r:id="rId62"/>
    <p:sldId id="325" r:id="rId63"/>
    <p:sldId id="326" r:id="rId64"/>
    <p:sldId id="327" r:id="rId65"/>
    <p:sldId id="328" r:id="rId66"/>
    <p:sldId id="347" r:id="rId97"/>
    <p:sldId id="307" r:id="rId67"/>
    <p:sldId id="335" r:id="rId68"/>
    <p:sldId id="336" r:id="rId69"/>
    <p:sldId id="337" r:id="rId70"/>
    <p:sldId id="338" r:id="rId71"/>
    <p:sldId id="348" r:id="rId98"/>
    <p:sldId id="329" r:id="rId72"/>
    <p:sldId id="332" r:id="rId73"/>
    <p:sldId id="333" r:id="rId74"/>
    <p:sldId id="330" r:id="rId75"/>
    <p:sldId id="331" r:id="rId76"/>
    <p:sldId id="308" r:id="rId77"/>
    <p:sldId id="309" r:id="rId78"/>
    <p:sldId id="310" r:id="rId79"/>
    <p:sldId id="311" r:id="rId80"/>
    <p:sldId id="312" r:id="rId81"/>
    <p:sldId id="313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ho Lee" initials="KL" lastIdx="1" clrIdx="0">
    <p:extLst>
      <p:ext uri="{19B8F6BF-5375-455C-9EA6-DF929625EA0E}">
        <p15:presenceInfo xmlns:p15="http://schemas.microsoft.com/office/powerpoint/2012/main" userId="f0974e90a5d908e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507" autoAdjust="0"/>
  </p:normalViewPr>
  <p:slideViewPr>
    <p:cSldViewPr snapToGrid="0" snapToObjects="1">
      <p:cViewPr varScale="1">
        <p:scale>
          <a:sx n="114" d="100"/>
          <a:sy n="114" d="100"/>
        </p:scale>
        <p:origin x="32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1.xml"/><Relationship Id="rId40" Type="http://schemas.openxmlformats.org/officeDocument/2006/relationships/slide" Target="slides/slide42.xml"/><Relationship Id="rId41" Type="http://schemas.openxmlformats.org/officeDocument/2006/relationships/slide" Target="slides/slide43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1.xml"/><Relationship Id="rId48" Type="http://schemas.openxmlformats.org/officeDocument/2006/relationships/slide" Target="slides/slide52.xml"/><Relationship Id="rId49" Type="http://schemas.openxmlformats.org/officeDocument/2006/relationships/slide" Target="slides/slide53.xml"/><Relationship Id="rId50" Type="http://schemas.openxmlformats.org/officeDocument/2006/relationships/slide" Target="slides/slide54.xml"/><Relationship Id="rId51" Type="http://schemas.openxmlformats.org/officeDocument/2006/relationships/slide" Target="slides/slide55.xml"/><Relationship Id="rId52" Type="http://schemas.openxmlformats.org/officeDocument/2006/relationships/slide" Target="slides/slide57.xml"/><Relationship Id="rId53" Type="http://schemas.openxmlformats.org/officeDocument/2006/relationships/slide" Target="slides/slide58.xml"/><Relationship Id="rId54" Type="http://schemas.openxmlformats.org/officeDocument/2006/relationships/slide" Target="slides/slide59.xml"/><Relationship Id="rId55" Type="http://schemas.openxmlformats.org/officeDocument/2006/relationships/slide" Target="slides/slide60.xml"/><Relationship Id="rId56" Type="http://schemas.openxmlformats.org/officeDocument/2006/relationships/slide" Target="slides/slide61.xml"/><Relationship Id="rId57" Type="http://schemas.openxmlformats.org/officeDocument/2006/relationships/slide" Target="slides/slide62.xml"/><Relationship Id="rId58" Type="http://schemas.openxmlformats.org/officeDocument/2006/relationships/slide" Target="slides/slide63.xml"/><Relationship Id="rId59" Type="http://schemas.openxmlformats.org/officeDocument/2006/relationships/slide" Target="slides/slide65.xml"/><Relationship Id="rId60" Type="http://schemas.openxmlformats.org/officeDocument/2006/relationships/slide" Target="slides/slide66.xml"/><Relationship Id="rId61" Type="http://schemas.openxmlformats.org/officeDocument/2006/relationships/slide" Target="slides/slide67.xml"/><Relationship Id="rId62" Type="http://schemas.openxmlformats.org/officeDocument/2006/relationships/slide" Target="slides/slide69.xml"/><Relationship Id="rId63" Type="http://schemas.openxmlformats.org/officeDocument/2006/relationships/slide" Target="slides/slide70.xml"/><Relationship Id="rId64" Type="http://schemas.openxmlformats.org/officeDocument/2006/relationships/slide" Target="slides/slide71.xml"/><Relationship Id="rId65" Type="http://schemas.openxmlformats.org/officeDocument/2006/relationships/slide" Target="slides/slide72.xml"/><Relationship Id="rId66" Type="http://schemas.openxmlformats.org/officeDocument/2006/relationships/slide" Target="slides/slide73.xml"/><Relationship Id="rId67" Type="http://schemas.openxmlformats.org/officeDocument/2006/relationships/slide" Target="slides/slide75.xml"/><Relationship Id="rId68" Type="http://schemas.openxmlformats.org/officeDocument/2006/relationships/slide" Target="slides/slide76.xml"/><Relationship Id="rId69" Type="http://schemas.openxmlformats.org/officeDocument/2006/relationships/slide" Target="slides/slide77.xml"/><Relationship Id="rId70" Type="http://schemas.openxmlformats.org/officeDocument/2006/relationships/slide" Target="slides/slide78.xml"/><Relationship Id="rId71" Type="http://schemas.openxmlformats.org/officeDocument/2006/relationships/slide" Target="slides/slide79.xml"/><Relationship Id="rId72" Type="http://schemas.openxmlformats.org/officeDocument/2006/relationships/slide" Target="slides/slide81.xml"/><Relationship Id="rId73" Type="http://schemas.openxmlformats.org/officeDocument/2006/relationships/slide" Target="slides/slide82.xml"/><Relationship Id="rId74" Type="http://schemas.openxmlformats.org/officeDocument/2006/relationships/slide" Target="slides/slide83.xml"/><Relationship Id="rId75" Type="http://schemas.openxmlformats.org/officeDocument/2006/relationships/slide" Target="slides/slide84.xml"/><Relationship Id="rId76" Type="http://schemas.openxmlformats.org/officeDocument/2006/relationships/slide" Target="slides/slide85.xml"/><Relationship Id="rId77" Type="http://schemas.openxmlformats.org/officeDocument/2006/relationships/slide" Target="slides/slide86.xml"/><Relationship Id="rId78" Type="http://schemas.openxmlformats.org/officeDocument/2006/relationships/slide" Target="slides/slide87.xml"/><Relationship Id="rId79" Type="http://schemas.openxmlformats.org/officeDocument/2006/relationships/slide" Target="slides/slide88.xml"/><Relationship Id="rId80" Type="http://schemas.openxmlformats.org/officeDocument/2006/relationships/slide" Target="slides/slide89.xml"/><Relationship Id="rId81" Type="http://schemas.openxmlformats.org/officeDocument/2006/relationships/slide" Target="slides/slide90.xml"/><Relationship Id="rId82" Type="http://schemas.openxmlformats.org/officeDocument/2006/relationships/slide" Target="slides/slide91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29.xml"/><Relationship Id="rId90" Type="http://schemas.openxmlformats.org/officeDocument/2006/relationships/slide" Target="slides/slide32.xml"/><Relationship Id="rId91" Type="http://schemas.openxmlformats.org/officeDocument/2006/relationships/slide" Target="slides/slide40.xml"/><Relationship Id="rId92" Type="http://schemas.openxmlformats.org/officeDocument/2006/relationships/slide" Target="slides/slide46.xml"/><Relationship Id="rId93" Type="http://schemas.openxmlformats.org/officeDocument/2006/relationships/slide" Target="slides/slide50.xml"/><Relationship Id="rId94" Type="http://schemas.openxmlformats.org/officeDocument/2006/relationships/slide" Target="slides/slide56.xml"/><Relationship Id="rId95" Type="http://schemas.openxmlformats.org/officeDocument/2006/relationships/slide" Target="slides/slide64.xml"/><Relationship Id="rId96" Type="http://schemas.openxmlformats.org/officeDocument/2006/relationships/slide" Target="slides/slide68.xml"/><Relationship Id="rId97" Type="http://schemas.openxmlformats.org/officeDocument/2006/relationships/slide" Target="slides/slide74.xml"/><Relationship Id="rId98" Type="http://schemas.openxmlformats.org/officeDocument/2006/relationships/slide" Target="slides/slide8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별 월 출고량 파레토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예시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10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개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개별 물량비중(%)</c:v>
                </c:pt>
              </c:strCache>
            </c:strRef>
          </c:tx>
          <c:spPr>
            <a:solidFill>
              <a:srgbClr val="2758A7"/>
            </a:solidFill>
          </c:spPr>
          <c:invertIfNegative val="1"/>
          <c:dPt>
            <c:idx val="4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1-8FBA-478D-BBE9-7A1D95C51ADC}"/>
              </c:ext>
            </c:extLst>
          </c:dPt>
          <c:dPt>
            <c:idx val="4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3-8FBA-478D-BBE9-7A1D95C51ADC}"/>
              </c:ext>
            </c:extLst>
          </c:dPt>
          <c:dPt>
            <c:idx val="4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5-8FBA-478D-BBE9-7A1D95C51ADC}"/>
              </c:ext>
            </c:extLst>
          </c:dPt>
          <c:dPt>
            <c:idx val="5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7-8FBA-478D-BBE9-7A1D95C51ADC}"/>
              </c:ext>
            </c:extLst>
          </c:dPt>
          <c:dPt>
            <c:idx val="5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9-8FBA-478D-BBE9-7A1D95C51ADC}"/>
              </c:ext>
            </c:extLst>
          </c:dPt>
          <c:dPt>
            <c:idx val="5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B-8FBA-478D-BBE9-7A1D95C51ADC}"/>
              </c:ext>
            </c:extLst>
          </c:dPt>
          <c:dPt>
            <c:idx val="5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D-8FBA-478D-BBE9-7A1D95C51ADC}"/>
              </c:ext>
            </c:extLst>
          </c:dPt>
          <c:dPt>
            <c:idx val="5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F-8FBA-478D-BBE9-7A1D95C51ADC}"/>
              </c:ext>
            </c:extLst>
          </c:dPt>
          <c:dPt>
            <c:idx val="5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1-8FBA-478D-BBE9-7A1D95C51ADC}"/>
              </c:ext>
            </c:extLst>
          </c:dPt>
          <c:dPt>
            <c:idx val="5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3-8FBA-478D-BBE9-7A1D95C51ADC}"/>
              </c:ext>
            </c:extLst>
          </c:dPt>
          <c:dPt>
            <c:idx val="5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5-8FBA-478D-BBE9-7A1D95C51ADC}"/>
              </c:ext>
            </c:extLst>
          </c:dPt>
          <c:dPt>
            <c:idx val="5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7-8FBA-478D-BBE9-7A1D95C51ADC}"/>
              </c:ext>
            </c:extLst>
          </c:dPt>
          <c:dPt>
            <c:idx val="5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9-8FBA-478D-BBE9-7A1D95C51ADC}"/>
              </c:ext>
            </c:extLst>
          </c:dPt>
          <c:dPt>
            <c:idx val="6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B-8FBA-478D-BBE9-7A1D95C51ADC}"/>
              </c:ext>
            </c:extLst>
          </c:dPt>
          <c:dPt>
            <c:idx val="6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D-8FBA-478D-BBE9-7A1D95C51ADC}"/>
              </c:ext>
            </c:extLst>
          </c:dPt>
          <c:dPt>
            <c:idx val="6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F-8FBA-478D-BBE9-7A1D95C51ADC}"/>
              </c:ext>
            </c:extLst>
          </c:dPt>
          <c:dPt>
            <c:idx val="6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1-8FBA-478D-BBE9-7A1D95C51ADC}"/>
              </c:ext>
            </c:extLst>
          </c:dPt>
          <c:dPt>
            <c:idx val="6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3-8FBA-478D-BBE9-7A1D95C51ADC}"/>
              </c:ext>
            </c:extLst>
          </c:dPt>
          <c:dPt>
            <c:idx val="6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5-8FBA-478D-BBE9-7A1D95C51ADC}"/>
              </c:ext>
            </c:extLst>
          </c:dPt>
          <c:dPt>
            <c:idx val="6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7-8FBA-478D-BBE9-7A1D95C51ADC}"/>
              </c:ext>
            </c:extLst>
          </c:dPt>
          <c:dPt>
            <c:idx val="6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9-8FBA-478D-BBE9-7A1D95C51ADC}"/>
              </c:ext>
            </c:extLst>
          </c:dPt>
          <c:dPt>
            <c:idx val="6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B-8FBA-478D-BBE9-7A1D95C51ADC}"/>
              </c:ext>
            </c:extLst>
          </c:dPt>
          <c:dPt>
            <c:idx val="6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D-8FBA-478D-BBE9-7A1D95C51ADC}"/>
              </c:ext>
            </c:extLst>
          </c:dPt>
          <c:dPt>
            <c:idx val="7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F-8FBA-478D-BBE9-7A1D95C51ADC}"/>
              </c:ext>
            </c:extLst>
          </c:dPt>
          <c:dPt>
            <c:idx val="7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1-8FBA-478D-BBE9-7A1D95C51ADC}"/>
              </c:ext>
            </c:extLst>
          </c:dPt>
          <c:dPt>
            <c:idx val="7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3-8FBA-478D-BBE9-7A1D95C51ADC}"/>
              </c:ext>
            </c:extLst>
          </c:dPt>
          <c:dPt>
            <c:idx val="7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5-8FBA-478D-BBE9-7A1D95C51ADC}"/>
              </c:ext>
            </c:extLst>
          </c:dPt>
          <c:dPt>
            <c:idx val="7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7-8FBA-478D-BBE9-7A1D95C51ADC}"/>
              </c:ext>
            </c:extLst>
          </c:dPt>
          <c:dPt>
            <c:idx val="7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9-8FBA-478D-BBE9-7A1D95C51ADC}"/>
              </c:ext>
            </c:extLst>
          </c:dPt>
          <c:dPt>
            <c:idx val="7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B-8FBA-478D-BBE9-7A1D95C51ADC}"/>
              </c:ext>
            </c:extLst>
          </c:dPt>
          <c:dPt>
            <c:idx val="7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D-8FBA-478D-BBE9-7A1D95C51ADC}"/>
              </c:ext>
            </c:extLst>
          </c:dPt>
          <c:dPt>
            <c:idx val="7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F-8FBA-478D-BBE9-7A1D95C51ADC}"/>
              </c:ext>
            </c:extLst>
          </c:dPt>
          <c:dPt>
            <c:idx val="7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1-8FBA-478D-BBE9-7A1D95C51ADC}"/>
              </c:ext>
            </c:extLst>
          </c:dPt>
          <c:dPt>
            <c:idx val="8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3-8FBA-478D-BBE9-7A1D95C51ADC}"/>
              </c:ext>
            </c:extLst>
          </c:dPt>
          <c:dPt>
            <c:idx val="8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5-8FBA-478D-BBE9-7A1D95C51ADC}"/>
              </c:ext>
            </c:extLst>
          </c:dPt>
          <c:dPt>
            <c:idx val="8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7-8FBA-478D-BBE9-7A1D95C51ADC}"/>
              </c:ext>
            </c:extLst>
          </c:dPt>
          <c:dPt>
            <c:idx val="8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9-8FBA-478D-BBE9-7A1D95C51ADC}"/>
              </c:ext>
            </c:extLst>
          </c:dPt>
          <c:dPt>
            <c:idx val="8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B-8FBA-478D-BBE9-7A1D95C51ADC}"/>
              </c:ext>
            </c:extLst>
          </c:dPt>
          <c:dPt>
            <c:idx val="8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D-8FBA-478D-BBE9-7A1D95C51ADC}"/>
              </c:ext>
            </c:extLst>
          </c:dPt>
          <c:dPt>
            <c:idx val="8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F-8FBA-478D-BBE9-7A1D95C51ADC}"/>
              </c:ext>
            </c:extLst>
          </c:dPt>
          <c:dPt>
            <c:idx val="8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1-8FBA-478D-BBE9-7A1D95C51ADC}"/>
              </c:ext>
            </c:extLst>
          </c:dPt>
          <c:dPt>
            <c:idx val="8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3-8FBA-478D-BBE9-7A1D95C51ADC}"/>
              </c:ext>
            </c:extLst>
          </c:dPt>
          <c:dPt>
            <c:idx val="8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5-8FBA-478D-BBE9-7A1D95C51ADC}"/>
              </c:ext>
            </c:extLst>
          </c:dPt>
          <c:dPt>
            <c:idx val="9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7-8FBA-478D-BBE9-7A1D95C51ADC}"/>
              </c:ext>
            </c:extLst>
          </c:dPt>
          <c:dPt>
            <c:idx val="9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9-8FBA-478D-BBE9-7A1D95C51ADC}"/>
              </c:ext>
            </c:extLst>
          </c:dPt>
          <c:dPt>
            <c:idx val="9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B-8FBA-478D-BBE9-7A1D95C51ADC}"/>
              </c:ext>
            </c:extLst>
          </c:dPt>
          <c:dPt>
            <c:idx val="9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D-8FBA-478D-BBE9-7A1D95C51ADC}"/>
              </c:ext>
            </c:extLst>
          </c:dPt>
          <c:dPt>
            <c:idx val="9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F-8FBA-478D-BBE9-7A1D95C51ADC}"/>
              </c:ext>
            </c:extLst>
          </c:dPt>
          <c:dPt>
            <c:idx val="9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1-8FBA-478D-BBE9-7A1D95C51ADC}"/>
              </c:ext>
            </c:extLst>
          </c:dPt>
          <c:dPt>
            <c:idx val="9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3-8FBA-478D-BBE9-7A1D95C51ADC}"/>
              </c:ext>
            </c:extLst>
          </c:dPt>
          <c:dPt>
            <c:idx val="9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5-8FBA-478D-BBE9-7A1D95C51ADC}"/>
              </c:ext>
            </c:extLst>
          </c:dPt>
          <c:dPt>
            <c:idx val="9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7-8FBA-478D-BBE9-7A1D95C51ADC}"/>
              </c:ext>
            </c:extLst>
          </c:dPt>
          <c:dPt>
            <c:idx val="9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9-8FBA-478D-BBE9-7A1D95C51ADC}"/>
              </c:ext>
            </c:extLst>
          </c:dPt>
          <c:dPt>
            <c:idx val="10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B-8FBA-478D-BBE9-7A1D95C51ADC}"/>
              </c:ext>
            </c:extLst>
          </c:dPt>
          <c:dPt>
            <c:idx val="10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D-8FBA-478D-BBE9-7A1D95C51ADC}"/>
              </c:ext>
            </c:extLst>
          </c:dPt>
          <c:dPt>
            <c:idx val="10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F-8FBA-478D-BBE9-7A1D95C51ADC}"/>
              </c:ext>
            </c:extLst>
          </c:dPt>
          <c:dPt>
            <c:idx val="10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1-8FBA-478D-BBE9-7A1D95C51ADC}"/>
              </c:ext>
            </c:extLst>
          </c:dPt>
          <c:dPt>
            <c:idx val="10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3-8FBA-478D-BBE9-7A1D95C51ADC}"/>
              </c:ext>
            </c:extLst>
          </c:dPt>
          <c:dPt>
            <c:idx val="10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5-8FBA-478D-BBE9-7A1D95C51ADC}"/>
              </c:ext>
            </c:extLst>
          </c:dPt>
          <c:dPt>
            <c:idx val="10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7-8FBA-478D-BBE9-7A1D95C51ADC}"/>
              </c:ext>
            </c:extLst>
          </c:dPt>
          <c:dPt>
            <c:idx val="10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9-8FBA-478D-BBE9-7A1D95C51ADC}"/>
              </c:ext>
            </c:extLst>
          </c:dPt>
          <c:dPt>
            <c:idx val="10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B-8FBA-478D-BBE9-7A1D95C51ADC}"/>
              </c:ext>
            </c:extLst>
          </c:dPt>
          <c:dPt>
            <c:idx val="10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D-8FBA-478D-BBE9-7A1D95C51ADC}"/>
              </c:ext>
            </c:extLst>
          </c:dPt>
          <c:dPt>
            <c:idx val="11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F-8FBA-478D-BBE9-7A1D95C51ADC}"/>
              </c:ext>
            </c:extLst>
          </c:dPt>
          <c:dPt>
            <c:idx val="11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1-8FBA-478D-BBE9-7A1D95C51ADC}"/>
              </c:ext>
            </c:extLst>
          </c:dPt>
          <c:dPt>
            <c:idx val="11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3-8FBA-478D-BBE9-7A1D95C51ADC}"/>
              </c:ext>
            </c:extLst>
          </c:dPt>
          <c:dPt>
            <c:idx val="11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5-8FBA-478D-BBE9-7A1D95C51ADC}"/>
              </c:ext>
            </c:extLst>
          </c:dPt>
          <c:dPt>
            <c:idx val="11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7-8FBA-478D-BBE9-7A1D95C51ADC}"/>
              </c:ext>
            </c:extLst>
          </c:dPt>
          <c:dPt>
            <c:idx val="11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9-8FBA-478D-BBE9-7A1D95C51ADC}"/>
              </c:ext>
            </c:extLst>
          </c:dPt>
          <c:dPt>
            <c:idx val="11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B-8FBA-478D-BBE9-7A1D95C51ADC}"/>
              </c:ext>
            </c:extLst>
          </c:dPt>
          <c:dPt>
            <c:idx val="11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D-8FBA-478D-BBE9-7A1D95C51ADC}"/>
              </c:ext>
            </c:extLst>
          </c:dPt>
          <c:dPt>
            <c:idx val="11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F-8FBA-478D-BBE9-7A1D95C51ADC}"/>
              </c:ext>
            </c:extLst>
          </c:dPt>
          <c:dPt>
            <c:idx val="11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1-8FBA-478D-BBE9-7A1D95C51ADC}"/>
              </c:ext>
            </c:extLst>
          </c:dPt>
          <c:dPt>
            <c:idx val="12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3-8FBA-478D-BBE9-7A1D95C51ADC}"/>
              </c:ext>
            </c:extLst>
          </c:dPt>
          <c:dPt>
            <c:idx val="12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5-8FBA-478D-BBE9-7A1D95C51ADC}"/>
              </c:ext>
            </c:extLst>
          </c:dPt>
          <c:dPt>
            <c:idx val="12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7-8FBA-478D-BBE9-7A1D95C51ADC}"/>
              </c:ext>
            </c:extLst>
          </c:dPt>
          <c:dPt>
            <c:idx val="12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9-8FBA-478D-BBE9-7A1D95C51ADC}"/>
              </c:ext>
            </c:extLst>
          </c:dPt>
          <c:dPt>
            <c:idx val="12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B-8FBA-478D-BBE9-7A1D95C51ADC}"/>
              </c:ext>
            </c:extLst>
          </c:dPt>
          <c:dPt>
            <c:idx val="12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D-8FBA-478D-BBE9-7A1D95C51ADC}"/>
              </c:ext>
            </c:extLst>
          </c:dPt>
          <c:dPt>
            <c:idx val="12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F-8FBA-478D-BBE9-7A1D95C51ADC}"/>
              </c:ext>
            </c:extLst>
          </c:dPt>
          <c:dPt>
            <c:idx val="12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1-8FBA-478D-BBE9-7A1D95C51ADC}"/>
              </c:ext>
            </c:extLst>
          </c:dPt>
          <c:dPt>
            <c:idx val="12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3-8FBA-478D-BBE9-7A1D95C51ADC}"/>
              </c:ext>
            </c:extLst>
          </c:dPt>
          <c:dPt>
            <c:idx val="12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5-8FBA-478D-BBE9-7A1D95C51ADC}"/>
              </c:ext>
            </c:extLst>
          </c:dPt>
          <c:dPt>
            <c:idx val="13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7-8FBA-478D-BBE9-7A1D95C51ADC}"/>
              </c:ext>
            </c:extLst>
          </c:dPt>
          <c:dPt>
            <c:idx val="13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9-8FBA-478D-BBE9-7A1D95C51ADC}"/>
              </c:ext>
            </c:extLst>
          </c:dPt>
          <c:dPt>
            <c:idx val="13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B-8FBA-478D-BBE9-7A1D95C51ADC}"/>
              </c:ext>
            </c:extLst>
          </c:dPt>
          <c:dPt>
            <c:idx val="13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D-8FBA-478D-BBE9-7A1D95C51ADC}"/>
              </c:ext>
            </c:extLst>
          </c:dPt>
          <c:dPt>
            <c:idx val="13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F-8FBA-478D-BBE9-7A1D95C51ADC}"/>
              </c:ext>
            </c:extLst>
          </c:dPt>
          <c:dPt>
            <c:idx val="13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1-8FBA-478D-BBE9-7A1D95C51ADC}"/>
              </c:ext>
            </c:extLst>
          </c:dPt>
          <c:dPt>
            <c:idx val="13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3-8FBA-478D-BBE9-7A1D95C51ADC}"/>
              </c:ext>
            </c:extLst>
          </c:dPt>
          <c:dPt>
            <c:idx val="13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5-8FBA-478D-BBE9-7A1D95C51ADC}"/>
              </c:ext>
            </c:extLst>
          </c:dPt>
          <c:dPt>
            <c:idx val="13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7-8FBA-478D-BBE9-7A1D95C51ADC}"/>
              </c:ext>
            </c:extLst>
          </c:dPt>
          <c:dPt>
            <c:idx val="13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9-8FBA-478D-BBE9-7A1D95C51ADC}"/>
              </c:ext>
            </c:extLst>
          </c:dPt>
          <c:dPt>
            <c:idx val="14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B-8FBA-478D-BBE9-7A1D95C51ADC}"/>
              </c:ext>
            </c:extLst>
          </c:dPt>
          <c:dPt>
            <c:idx val="14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D-8FBA-478D-BBE9-7A1D95C51ADC}"/>
              </c:ext>
            </c:extLst>
          </c:dPt>
          <c:dPt>
            <c:idx val="14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F-8FBA-478D-BBE9-7A1D95C51ADC}"/>
              </c:ext>
            </c:extLst>
          </c:dPt>
          <c:dPt>
            <c:idx val="14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1-8FBA-478D-BBE9-7A1D95C51ADC}"/>
              </c:ext>
            </c:extLst>
          </c:dPt>
          <c:dPt>
            <c:idx val="14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3-8FBA-478D-BBE9-7A1D95C51ADC}"/>
              </c:ext>
            </c:extLst>
          </c:dPt>
          <c:dPt>
            <c:idx val="14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5-8FBA-478D-BBE9-7A1D95C51ADC}"/>
              </c:ext>
            </c:extLst>
          </c:dPt>
          <c:dPt>
            <c:idx val="14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7-8FBA-478D-BBE9-7A1D95C51ADC}"/>
              </c:ext>
            </c:extLst>
          </c:dPt>
          <c:dPt>
            <c:idx val="14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9-8FBA-478D-BBE9-7A1D95C51ADC}"/>
              </c:ext>
            </c:extLst>
          </c:dPt>
          <c:dPt>
            <c:idx val="14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B-8FBA-478D-BBE9-7A1D95C51ADC}"/>
              </c:ext>
            </c:extLst>
          </c:dPt>
          <c:dPt>
            <c:idx val="14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D-8FBA-478D-BBE9-7A1D95C51ADC}"/>
              </c:ext>
            </c:extLst>
          </c:dPt>
          <c:cat>
            <c:strRef>
              <c:f>Sheet1!$A$2:$A$11</c:f>
              <c:strCache>
                <c:ptCount val="10"/>
                <c:pt idx="0">
                  <c:v>SKU01</c:v>
                </c:pt>
                <c:pt idx="1">
                  <c:v>SKU02</c:v>
                </c:pt>
                <c:pt idx="2">
                  <c:v>SKU03</c:v>
                </c:pt>
                <c:pt idx="3">
                  <c:v>SKU04</c:v>
                </c:pt>
                <c:pt idx="4">
                  <c:v>SKU05</c:v>
                </c:pt>
                <c:pt idx="5">
                  <c:v>SKU06</c:v>
                </c:pt>
                <c:pt idx="6">
                  <c:v>SKU07</c:v>
                </c:pt>
                <c:pt idx="7">
                  <c:v>SKU08</c:v>
                </c:pt>
                <c:pt idx="8">
                  <c:v>SKU09</c:v>
                </c:pt>
                <c:pt idx="9">
                  <c:v>SKU10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46</c:v>
                </c:pt>
                <c:pt idx="1">
                  <c:v>34</c:v>
                </c:pt>
                <c:pt idx="2">
                  <c:v>8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1.2</c:v>
                </c:pt>
                <c:pt idx="7">
                  <c:v>0.8</c:v>
                </c:pt>
                <c:pt idx="8">
                  <c:v>0.6</c:v>
                </c:pt>
                <c:pt idx="9">
                  <c:v>0.4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CE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누적 물량비중(%)</c:v>
                </c:pt>
              </c:strCache>
            </c:strRef>
          </c:tx>
          <c:spPr>
            <a:ln w="25400">
              <a:solidFill>
                <a:srgbClr val="C99A2E"/>
              </a:solidFill>
            </a:ln>
          </c:spPr>
          <c:marker>
            <c:symbol val="circle"/>
            <c:size val="5"/>
            <c:spPr>
              <a:solidFill>
                <a:srgbClr val="C99A2E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SKU01</c:v>
                </c:pt>
                <c:pt idx="1">
                  <c:v>SKU02</c:v>
                </c:pt>
                <c:pt idx="2">
                  <c:v>SKU03</c:v>
                </c:pt>
                <c:pt idx="3">
                  <c:v>SKU04</c:v>
                </c:pt>
                <c:pt idx="4">
                  <c:v>SKU05</c:v>
                </c:pt>
                <c:pt idx="5">
                  <c:v>SKU06</c:v>
                </c:pt>
                <c:pt idx="6">
                  <c:v>SKU07</c:v>
                </c:pt>
                <c:pt idx="7">
                  <c:v>SKU08</c:v>
                </c:pt>
                <c:pt idx="8">
                  <c:v>SKU09</c:v>
                </c:pt>
                <c:pt idx="9">
                  <c:v>SKU10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46</c:v>
                </c:pt>
                <c:pt idx="1">
                  <c:v>80</c:v>
                </c:pt>
                <c:pt idx="2">
                  <c:v>88</c:v>
                </c:pt>
                <c:pt idx="3">
                  <c:v>92</c:v>
                </c:pt>
                <c:pt idx="4">
                  <c:v>95</c:v>
                </c:pt>
                <c:pt idx="5">
                  <c:v>97</c:v>
                </c:pt>
                <c:pt idx="6">
                  <c:v>98.2</c:v>
                </c:pt>
                <c:pt idx="7">
                  <c:v>99</c:v>
                </c:pt>
                <c:pt idx="8">
                  <c:v>99.6</c:v>
                </c:pt>
                <c:pt idx="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CF-8FBA-478D-BBE9-7A1D95C51A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80% 기준선</c:v>
                </c:pt>
              </c:strCache>
            </c:strRef>
          </c:tx>
          <c:spPr>
            <a:ln w="15875">
              <a:solidFill>
                <a:srgbClr val="8A8A8A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SKU01</c:v>
                </c:pt>
                <c:pt idx="1">
                  <c:v>SKU02</c:v>
                </c:pt>
                <c:pt idx="2">
                  <c:v>SKU03</c:v>
                </c:pt>
                <c:pt idx="3">
                  <c:v>SKU04</c:v>
                </c:pt>
                <c:pt idx="4">
                  <c:v>SKU05</c:v>
                </c:pt>
                <c:pt idx="5">
                  <c:v>SKU06</c:v>
                </c:pt>
                <c:pt idx="6">
                  <c:v>SKU07</c:v>
                </c:pt>
                <c:pt idx="7">
                  <c:v>SKU08</c:v>
                </c:pt>
                <c:pt idx="8">
                  <c:v>SKU09</c:v>
                </c:pt>
                <c:pt idx="9">
                  <c:v>SKU10</c:v>
                </c:pt>
              </c:strCache>
            </c:strRef>
          </c:cat>
          <c:val>
            <c:numRef>
              <c:f>Sheet1!$D$2:$D$11</c:f>
              <c:numCache>
                <c:formatCode>0.0</c:formatCode>
                <c:ptCount val="10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D0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4"/>
        <c:axId val="-2068027335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tickLblSkip val="9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  <c:valAx>
        <c:axId val="-2068027335"/>
        <c:scaling>
          <c:orientation val="minMax"/>
          <c:max val="100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068027334"/>
        <c:crosses val="max"/>
        <c:crossBetween val="between"/>
      </c:valAx>
      <c:catAx>
        <c:axId val="-206802733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5"/>
        <c:crosses val="autoZero"/>
        <c:auto val="1"/>
        <c:lblAlgn val="ctr"/>
        <c:lblOffset val="100"/>
        <c:noMultiLvlLbl val="1"/>
      </c:catAx>
    </c:plotArea>
    <c:legend>
      <c:legendPos val="b"/>
      <c:overlay val="0"/>
      <c:txPr>
        <a:bodyPr/>
        <a:lstStyle/>
        <a:p>
          <a:pPr>
            <a:defRPr sz="12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150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40C-4AF4-B617-167D8B65B00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168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40C-4AF4-B617-167D8B65B00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142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14.3%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40C-4AF4-B617-167D8B65B00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153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40C-4AF4-B617-167D8B65B00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221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22.2%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40C-4AF4-B617-167D8B65B00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77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40C-4AF4-B617-167D8B65B00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83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8.4%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40C-4AF4-B617-167D8B65B00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150</c:v>
                </c:pt>
                <c:pt idx="1">
                  <c:v>168</c:v>
                </c:pt>
                <c:pt idx="2">
                  <c:v>142</c:v>
                </c:pt>
                <c:pt idx="3">
                  <c:v>153</c:v>
                </c:pt>
                <c:pt idx="4">
                  <c:v>221</c:v>
                </c:pt>
                <c:pt idx="5">
                  <c:v>77</c:v>
                </c:pt>
                <c:pt idx="6">
                  <c:v>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240C-4AF4-B617-167D8B6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요일 평균 142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142</c:v>
                </c:pt>
                <c:pt idx="1">
                  <c:v>142</c:v>
                </c:pt>
                <c:pt idx="2">
                  <c:v>142</c:v>
                </c:pt>
                <c:pt idx="3">
                  <c:v>142</c:v>
                </c:pt>
                <c:pt idx="4">
                  <c:v>142</c:v>
                </c:pt>
                <c:pt idx="5">
                  <c:v>142</c:v>
                </c:pt>
                <c:pt idx="6">
                  <c:v>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40C-4AF4-B617-167D8B6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입고수량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18150</c:v>
                </c:pt>
                <c:pt idx="1">
                  <c:v>19142</c:v>
                </c:pt>
                <c:pt idx="2">
                  <c:v>14826</c:v>
                </c:pt>
                <c:pt idx="3">
                  <c:v>19036</c:v>
                </c:pt>
                <c:pt idx="4">
                  <c:v>26534</c:v>
                </c:pt>
                <c:pt idx="5">
                  <c:v>9176</c:v>
                </c:pt>
                <c:pt idx="6">
                  <c:v>8042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40C-4AF4-B617-167D8B6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19.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37147.599999999999"/>
          <c:min val="-34494.200000000004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일수로 나눈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일수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4·5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 반영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일평균 입고건수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37.5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5FF-4FB8-A777-7F98F41377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5FF-4FB8-A777-7F98F41377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35.5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5FF-4FB8-A777-7F98F41377F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38.2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5FF-4FB8-A777-7F98F41377F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44.2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5FF-4FB8-A777-7F98F41377F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5FF-4FB8-A777-7F98F41377F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5FF-4FB8-A777-7F98F41377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37.5</c:v>
                </c:pt>
                <c:pt idx="1">
                  <c:v>42</c:v>
                </c:pt>
                <c:pt idx="2">
                  <c:v>35.5</c:v>
                </c:pt>
                <c:pt idx="3">
                  <c:v>38.3</c:v>
                </c:pt>
                <c:pt idx="4">
                  <c:v>44.2</c:v>
                </c:pt>
                <c:pt idx="5">
                  <c:v>15.4</c:v>
                </c:pt>
                <c:pt idx="6">
                  <c:v>16.600000000000001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75FF-4FB8-A777-7F98F4137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전체 일평균 32.1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32.1</c:v>
                </c:pt>
                <c:pt idx="1">
                  <c:v>32.1</c:v>
                </c:pt>
                <c:pt idx="2">
                  <c:v>32.1</c:v>
                </c:pt>
                <c:pt idx="3">
                  <c:v>32.1</c:v>
                </c:pt>
                <c:pt idx="4">
                  <c:v>32.1</c:v>
                </c:pt>
                <c:pt idx="5">
                  <c:v>32.1</c:v>
                </c:pt>
                <c:pt idx="6">
                  <c:v>32.1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5FF-4FB8-A777-7F98F4137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7.460000000000008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DA5-4253-91EB-5DEC3B47A16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178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DA5-4253-91EB-5DEC3B47A16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DA5-4253-91EB-5DEC3B47A16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DA5-4253-91EB-5DEC3B47A16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DA5-4253-91EB-5DEC3B47A16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DA5-4253-91EB-5DEC3B47A16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DA5-4253-91EB-5DEC3B47A16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149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DA5-4253-91EB-5DEC3B47A16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DA5-4253-91EB-5DEC3B47A166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DA5-4253-91EB-5DEC3B47A166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9DA5-4253-91EB-5DEC3B47A1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47</c:v>
                </c:pt>
                <c:pt idx="1">
                  <c:v>178</c:v>
                </c:pt>
                <c:pt idx="2">
                  <c:v>189</c:v>
                </c:pt>
                <c:pt idx="3">
                  <c:v>28</c:v>
                </c:pt>
                <c:pt idx="4">
                  <c:v>35</c:v>
                </c:pt>
                <c:pt idx="5">
                  <c:v>51</c:v>
                </c:pt>
                <c:pt idx="6">
                  <c:v>189</c:v>
                </c:pt>
                <c:pt idx="7">
                  <c:v>149</c:v>
                </c:pt>
                <c:pt idx="8">
                  <c:v>45</c:v>
                </c:pt>
                <c:pt idx="9">
                  <c:v>36</c:v>
                </c:pt>
                <c:pt idx="10">
                  <c:v>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9DA5-4253-91EB-5DEC3B47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시간당 평균 90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90.36363636363636</c:v>
                </c:pt>
                <c:pt idx="1">
                  <c:v>90.36363636363636</c:v>
                </c:pt>
                <c:pt idx="2">
                  <c:v>90.36363636363636</c:v>
                </c:pt>
                <c:pt idx="3">
                  <c:v>90.36363636363636</c:v>
                </c:pt>
                <c:pt idx="4">
                  <c:v>90.36363636363636</c:v>
                </c:pt>
                <c:pt idx="5">
                  <c:v>90.36363636363636</c:v>
                </c:pt>
                <c:pt idx="6">
                  <c:v>90.36363636363636</c:v>
                </c:pt>
                <c:pt idx="7">
                  <c:v>90.36363636363636</c:v>
                </c:pt>
                <c:pt idx="8">
                  <c:v>90.36363636363636</c:v>
                </c:pt>
                <c:pt idx="9">
                  <c:v>90.36363636363636</c:v>
                </c:pt>
                <c:pt idx="10">
                  <c:v>90.36363636363636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9DA5-4253-91EB-5DEC3B47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입고수량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21,734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DA5-4253-91EB-5DEC3B47A16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3,244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9DA5-4253-91EB-5DEC3B47A1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4766</c:v>
                </c:pt>
                <c:pt idx="1">
                  <c:v>20248</c:v>
                </c:pt>
                <c:pt idx="2">
                  <c:v>21734</c:v>
                </c:pt>
                <c:pt idx="3">
                  <c:v>3244</c:v>
                </c:pt>
                <c:pt idx="4">
                  <c:v>4150</c:v>
                </c:pt>
                <c:pt idx="5">
                  <c:v>5814</c:v>
                </c:pt>
                <c:pt idx="6">
                  <c:v>20872</c:v>
                </c:pt>
                <c:pt idx="7">
                  <c:v>18144</c:v>
                </c:pt>
                <c:pt idx="8">
                  <c:v>6770</c:v>
                </c:pt>
                <c:pt idx="9">
                  <c:v>3348</c:v>
                </c:pt>
                <c:pt idx="10">
                  <c:v>5816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DA5-4253-91EB-5DEC3B47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40.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30427.599999999999"/>
          <c:min val="-17387.2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비중과 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하루 진행률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비중(%)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4.7E-2</c:v>
                </c:pt>
                <c:pt idx="1">
                  <c:v>0.17899999999999999</c:v>
                </c:pt>
                <c:pt idx="2">
                  <c:v>0.19</c:v>
                </c:pt>
                <c:pt idx="3">
                  <c:v>2.7999999999999997E-2</c:v>
                </c:pt>
                <c:pt idx="4">
                  <c:v>3.5000000000000003E-2</c:v>
                </c:pt>
                <c:pt idx="5">
                  <c:v>5.0999999999999997E-2</c:v>
                </c:pt>
                <c:pt idx="6">
                  <c:v>0.19</c:v>
                </c:pt>
                <c:pt idx="7">
                  <c:v>0.15</c:v>
                </c:pt>
                <c:pt idx="8">
                  <c:v>4.4999999999999998E-2</c:v>
                </c:pt>
                <c:pt idx="9">
                  <c:v>3.6000000000000004E-2</c:v>
                </c:pt>
                <c:pt idx="10">
                  <c:v>4.7E-2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CD9-4A39-9406-FB26152B79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CD9-4A39-9406-FB26152B79A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41.6%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CD9-4A39-9406-FB26152B79A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CD9-4A39-9406-FB26152B79A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53.1%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CD9-4A39-9406-FB26152B79A1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87.1%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CD9-4A39-9406-FB26152B79A1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100.0%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CD9-4A39-9406-FB26152B79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4.7E-2</c:v>
                </c:pt>
                <c:pt idx="1">
                  <c:v>0.22600000000000001</c:v>
                </c:pt>
                <c:pt idx="2">
                  <c:v>0.41600000000000004</c:v>
                </c:pt>
                <c:pt idx="3">
                  <c:v>0.44500000000000001</c:v>
                </c:pt>
                <c:pt idx="4">
                  <c:v>0.48</c:v>
                </c:pt>
                <c:pt idx="5">
                  <c:v>0.53100000000000003</c:v>
                </c:pt>
                <c:pt idx="6">
                  <c:v>0.72099999999999997</c:v>
                </c:pt>
                <c:pt idx="7">
                  <c:v>0.871</c:v>
                </c:pt>
                <c:pt idx="8">
                  <c:v>0.91599999999999993</c:v>
                </c:pt>
                <c:pt idx="9">
                  <c:v>0.95299999999999996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CD9-4A39-9406-FB26152B79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59999999999999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5"/>
          <c:min val="-0.9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주차별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일평균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236 (23.7%)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EA-4EBE-8C43-B329F4F8BFC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220 (22.1%)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BEA-4EBE-8C43-B329F4F8BFC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238 (23.9%)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BEA-4EBE-8C43-B329F4F8BFC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219 (22.0%)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BEA-4EBE-8C43-B329F4F8BFC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81 (8.1%)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BEA-4EBE-8C43-B329F4F8BF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236</c:v>
                </c:pt>
                <c:pt idx="1">
                  <c:v>220</c:v>
                </c:pt>
                <c:pt idx="2">
                  <c:v>238</c:v>
                </c:pt>
                <c:pt idx="3">
                  <c:v>219</c:v>
                </c:pt>
                <c:pt idx="4">
                  <c:v>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FBEA-4EBE-8C43-B329F4F8BF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일평균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33.700000000000003</c:v>
                </c:pt>
                <c:pt idx="1">
                  <c:v>31.4</c:v>
                </c:pt>
                <c:pt idx="2">
                  <c:v>34</c:v>
                </c:pt>
                <c:pt idx="3">
                  <c:v>31.3</c:v>
                </c:pt>
                <c:pt idx="4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BEA-4EBE-8C43-B329F4F8BF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47.4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38.080000000000005"/>
          <c:min val="-64.599999999999994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평일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주말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구성 차이 제거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평일 일평균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41.6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45C-4180-846C-69722C8244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38.8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45C-4180-846C-69722C8244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45C-4180-846C-69722C8244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36.8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45C-4180-846C-69722C8244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38.0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45C-4180-846C-69722C8244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41.6</c:v>
                </c:pt>
                <c:pt idx="1">
                  <c:v>38.799999999999997</c:v>
                </c:pt>
                <c:pt idx="2">
                  <c:v>42</c:v>
                </c:pt>
                <c:pt idx="3">
                  <c:v>36.799999999999997</c:v>
                </c:pt>
                <c:pt idx="4">
                  <c:v>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245C-4180-846C-69722C8244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일평균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14.0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45C-4180-846C-69722C8244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45C-4180-846C-69722C8244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14.0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45C-4180-846C-69722C8244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17.5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45C-4180-846C-69722C8244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45C-4180-846C-69722C8244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</c:v>
                </c:pt>
                <c:pt idx="1">
                  <c:v>13</c:v>
                </c:pt>
                <c:pt idx="2">
                  <c:v>14</c:v>
                </c:pt>
                <c:pt idx="3">
                  <c:v>17.5</c:v>
                </c:pt>
                <c:pt idx="4">
                  <c:v>21.5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245C-4180-846C-69722C8244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5월 평일 39.7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39.700000000000003</c:v>
                </c:pt>
                <c:pt idx="1">
                  <c:v>39.700000000000003</c:v>
                </c:pt>
                <c:pt idx="2">
                  <c:v>39.700000000000003</c:v>
                </c:pt>
                <c:pt idx="3">
                  <c:v>39.700000000000003</c:v>
                </c:pt>
                <c:pt idx="4">
                  <c:v>39.700000000000003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45C-4180-846C-69722C8244D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5월 주말 16.0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245C-4180-846C-69722C8244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4.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공급처별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파레토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17B-46CB-B8A5-7739838D2A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17B-46CB-B8A5-7739838D2A1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17B-46CB-B8A5-7739838D2A1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17B-46CB-B8A5-7739838D2A1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17B-46CB-B8A5-7739838D2A1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17B-46CB-B8A5-7739838D2A1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17B-46CB-B8A5-7739838D2A1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17B-46CB-B8A5-7739838D2A1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17B-46CB-B8A5-7739838D2A1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17B-46CB-B8A5-7739838D2A1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</c:v>
                </c:pt>
                <c:pt idx="1">
                  <c:v>111</c:v>
                </c:pt>
                <c:pt idx="2">
                  <c:v>108</c:v>
                </c:pt>
                <c:pt idx="3">
                  <c:v>104</c:v>
                </c:pt>
                <c:pt idx="4">
                  <c:v>99</c:v>
                </c:pt>
                <c:pt idx="5">
                  <c:v>96</c:v>
                </c:pt>
                <c:pt idx="6">
                  <c:v>90</c:v>
                </c:pt>
                <c:pt idx="7">
                  <c:v>89</c:v>
                </c:pt>
                <c:pt idx="8">
                  <c:v>86</c:v>
                </c:pt>
                <c:pt idx="9">
                  <c:v>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817B-46CB-B8A5-7739838D2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0.13100000000000001</c:v>
                </c:pt>
                <c:pt idx="1">
                  <c:v>0.24199999999999999</c:v>
                </c:pt>
                <c:pt idx="2">
                  <c:v>0.35100000000000003</c:v>
                </c:pt>
                <c:pt idx="3">
                  <c:v>0.45600000000000002</c:v>
                </c:pt>
                <c:pt idx="4">
                  <c:v>0.55500000000000005</c:v>
                </c:pt>
                <c:pt idx="5">
                  <c:v>0.65200000000000002</c:v>
                </c:pt>
                <c:pt idx="6">
                  <c:v>0.74199999999999999</c:v>
                </c:pt>
                <c:pt idx="7">
                  <c:v>0.83200000000000007</c:v>
                </c:pt>
                <c:pt idx="8">
                  <c:v>0.91900000000000004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817B-46CB-B8A5-7739838D2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8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"/>
          <c:min val="-1.7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입고수량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오류율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 -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평균 초과 표시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18134</c:v>
                </c:pt>
                <c:pt idx="1">
                  <c:v>13358</c:v>
                </c:pt>
                <c:pt idx="2">
                  <c:v>13472</c:v>
                </c:pt>
                <c:pt idx="3">
                  <c:v>12718</c:v>
                </c:pt>
                <c:pt idx="4">
                  <c:v>10778</c:v>
                </c:pt>
                <c:pt idx="5">
                  <c:v>12352</c:v>
                </c:pt>
                <c:pt idx="6">
                  <c:v>9276</c:v>
                </c:pt>
                <c:pt idx="7">
                  <c:v>9246</c:v>
                </c:pt>
                <c:pt idx="8">
                  <c:v>7820</c:v>
                </c:pt>
                <c:pt idx="9">
                  <c:v>7752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61B-4C0B-AD12-FF81B5BD9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오류율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9.0%(10)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61B-4C0B-AD12-FF81B5BD97B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6.7%(7)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61B-4C0B-AD12-FF81B5BD97B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6.1%(6)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61B-4C0B-AD12-FF81B5BD97BE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7.4%(6)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61B-4C0B-AD12-FF81B5BD97B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3.1E-2</c:v>
                </c:pt>
                <c:pt idx="1">
                  <c:v>0.09</c:v>
                </c:pt>
                <c:pt idx="2">
                  <c:v>3.7000000000000005E-2</c:v>
                </c:pt>
                <c:pt idx="3">
                  <c:v>6.7000000000000004E-2</c:v>
                </c:pt>
                <c:pt idx="4">
                  <c:v>6.0999999999999999E-2</c:v>
                </c:pt>
                <c:pt idx="5">
                  <c:v>4.2000000000000003E-2</c:v>
                </c:pt>
                <c:pt idx="6">
                  <c:v>2.2000000000000002E-2</c:v>
                </c:pt>
                <c:pt idx="7">
                  <c:v>3.4000000000000002E-2</c:v>
                </c:pt>
                <c:pt idx="8">
                  <c:v>2.3E-2</c:v>
                </c:pt>
                <c:pt idx="9">
                  <c:v>7.400000000000001E-2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61B-4C0B-AD12-FF81B5BD9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 4.8%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4.8000000000000001E-2</c:v>
                </c:pt>
                <c:pt idx="1">
                  <c:v>4.8000000000000001E-2</c:v>
                </c:pt>
                <c:pt idx="2">
                  <c:v>4.8000000000000001E-2</c:v>
                </c:pt>
                <c:pt idx="3">
                  <c:v>4.8000000000000001E-2</c:v>
                </c:pt>
                <c:pt idx="4">
                  <c:v>4.8000000000000001E-2</c:v>
                </c:pt>
                <c:pt idx="5">
                  <c:v>4.8000000000000001E-2</c:v>
                </c:pt>
                <c:pt idx="6">
                  <c:v>4.8000000000000001E-2</c:v>
                </c:pt>
                <c:pt idx="7">
                  <c:v>4.8000000000000001E-2</c:v>
                </c:pt>
                <c:pt idx="8">
                  <c:v>4.8000000000000001E-2</c:v>
                </c:pt>
                <c:pt idx="9">
                  <c:v>4.8000000000000001E-2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61B-4C0B-AD12-FF81B5BD9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9894.800000000003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0.14399999999999999"/>
          <c:min val="-8.1000000000000003E-2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 오류 유형별 건수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11 (22.9%)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90F-4F87-9055-1948EEA6998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10 (20.8%)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90F-4F87-9055-1948EEA699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10 (20.8%)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90F-4F87-9055-1948EEA6998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9 (18.8%)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90F-4F87-9055-1948EEA6998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8 (16.7%)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90F-4F87-9055-1948EEA6998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오배송</c:v>
                </c:pt>
                <c:pt idx="1">
                  <c:v>규격불량</c:v>
                </c:pt>
                <c:pt idx="2">
                  <c:v>수량불일치</c:v>
                </c:pt>
                <c:pt idx="3">
                  <c:v>서류미비</c:v>
                </c:pt>
                <c:pt idx="4">
                  <c:v>파손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790F-4F87-9055-1948EEA699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.3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180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 초과 재고금액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막대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,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억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 ·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카테고리 재고 대비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180일 초과 재고금액(억)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0.41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98E-4EB1-9F5A-66F7F868CB3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0.39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98E-4EB1-9F5A-66F7F868CB3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0.34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98E-4EB1-9F5A-66F7F868CB3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0.33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98E-4EB1-9F5A-66F7F868CB3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0.13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98E-4EB1-9F5A-66F7F868CB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패션
3개</c:v>
                </c:pt>
                <c:pt idx="1">
                  <c:v>소형가전
4개</c:v>
                </c:pt>
                <c:pt idx="2">
                  <c:v>뷰티
5개</c:v>
                </c:pt>
                <c:pt idx="3">
                  <c:v>생활
5개</c:v>
                </c:pt>
                <c:pt idx="4">
                  <c:v>식품
3개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0.41</c:v>
                </c:pt>
                <c:pt idx="1">
                  <c:v>0.39</c:v>
                </c:pt>
                <c:pt idx="2">
                  <c:v>0.34</c:v>
                </c:pt>
                <c:pt idx="3">
                  <c:v>0.33</c:v>
                </c:pt>
                <c:pt idx="4">
                  <c:v>0.13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598E-4EB1-9F5A-66F7F868C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카테고리 재고 대비(%)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26.4%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98E-4EB1-9F5A-66F7F868CB3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98E-4EB1-9F5A-66F7F868CB3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16.3%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98E-4EB1-9F5A-66F7F868CB3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26.9%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98E-4EB1-9F5A-66F7F868CB3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6.8%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98E-4EB1-9F5A-66F7F868CB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패션
3개</c:v>
                </c:pt>
                <c:pt idx="1">
                  <c:v>소형가전
4개</c:v>
                </c:pt>
                <c:pt idx="2">
                  <c:v>뷰티
5개</c:v>
                </c:pt>
                <c:pt idx="3">
                  <c:v>생활
5개</c:v>
                </c:pt>
                <c:pt idx="4">
                  <c:v>식품
3개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0.26400000000000001</c:v>
                </c:pt>
                <c:pt idx="1">
                  <c:v>8.199999999999999E-2</c:v>
                </c:pt>
                <c:pt idx="2">
                  <c:v>0.16300000000000001</c:v>
                </c:pt>
                <c:pt idx="3">
                  <c:v>0.26899999999999996</c:v>
                </c:pt>
                <c:pt idx="4">
                  <c:v>6.8000000000000005E-2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598E-4EB1-9F5A-66F7F868C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0.33"/>
          <c:min val="-0.45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t>커버일수 구간별 SKU 수 (전체 150개)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SKU 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26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93F-4D8C-9C6D-99EE31BA29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52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93F-4D8C-9C6D-99EE31BA29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45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93F-4D8C-9C6D-99EE31BA29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27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93F-4D8C-9C6D-99EE31BA29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30일 이하</c:v>
                </c:pt>
                <c:pt idx="1">
                  <c:v>31~90일</c:v>
                </c:pt>
                <c:pt idx="2">
                  <c:v>91~180일</c:v>
                </c:pt>
                <c:pt idx="3">
                  <c:v>180일 초과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52</c:v>
                </c:pt>
                <c:pt idx="2">
                  <c:v>45</c:v>
                </c:pt>
                <c:pt idx="3">
                  <c:v>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B93F-4D8C-9C6D-99EE31BA2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309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0D1-4523-8F12-8D7492A0FD5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0D1-4523-8F12-8D7492A0FD5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0D1-4523-8F12-8D7492A0FD5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722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0D1-4523-8F12-8D7492A0FD5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0D1-4523-8F12-8D7492A0FD5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1,227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0D1-4523-8F12-8D7492A0FD5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1,696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0D1-4523-8F12-8D7492A0FD5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2,256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0D1-4523-8F12-8D7492A0FD5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1,915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0D1-4523-8F12-8D7492A0FD5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1,061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0D1-4523-8F12-8D7492A0FD55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0D1-4523-8F12-8D7492A0FD55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F0D1-4523-8F12-8D7492A0FD5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309</c:v>
                </c:pt>
                <c:pt idx="1">
                  <c:v>421</c:v>
                </c:pt>
                <c:pt idx="2">
                  <c:v>482</c:v>
                </c:pt>
                <c:pt idx="3">
                  <c:v>722</c:v>
                </c:pt>
                <c:pt idx="4">
                  <c:v>919</c:v>
                </c:pt>
                <c:pt idx="5">
                  <c:v>1227</c:v>
                </c:pt>
                <c:pt idx="6">
                  <c:v>1696</c:v>
                </c:pt>
                <c:pt idx="7">
                  <c:v>2256</c:v>
                </c:pt>
                <c:pt idx="8">
                  <c:v>1915</c:v>
                </c:pt>
                <c:pt idx="9">
                  <c:v>1061</c:v>
                </c:pt>
                <c:pt idx="10">
                  <c:v>532</c:v>
                </c:pt>
                <c:pt idx="11">
                  <c:v>327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F0D1-4523-8F12-8D7492A0F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시간당 평균 989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988.91666666666663</c:v>
                </c:pt>
                <c:pt idx="1">
                  <c:v>988.91666666666663</c:v>
                </c:pt>
                <c:pt idx="2">
                  <c:v>988.91666666666663</c:v>
                </c:pt>
                <c:pt idx="3">
                  <c:v>988.91666666666663</c:v>
                </c:pt>
                <c:pt idx="4">
                  <c:v>988.91666666666663</c:v>
                </c:pt>
                <c:pt idx="5">
                  <c:v>988.91666666666663</c:v>
                </c:pt>
                <c:pt idx="6">
                  <c:v>988.91666666666663</c:v>
                </c:pt>
                <c:pt idx="7">
                  <c:v>988.91666666666663</c:v>
                </c:pt>
                <c:pt idx="8">
                  <c:v>988.91666666666663</c:v>
                </c:pt>
                <c:pt idx="9">
                  <c:v>988.91666666666663</c:v>
                </c:pt>
                <c:pt idx="10">
                  <c:v>988.91666666666663</c:v>
                </c:pt>
                <c:pt idx="11">
                  <c:v>988.91666666666663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F0D1-4523-8F12-8D7492A0F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출고수량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853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F0D1-4523-8F12-8D7492A0FD5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6,185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F0D1-4523-8F12-8D7492A0FD5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853</c:v>
                </c:pt>
                <c:pt idx="1">
                  <c:v>1165</c:v>
                </c:pt>
                <c:pt idx="2">
                  <c:v>1282</c:v>
                </c:pt>
                <c:pt idx="3">
                  <c:v>2035</c:v>
                </c:pt>
                <c:pt idx="4">
                  <c:v>2431</c:v>
                </c:pt>
                <c:pt idx="5">
                  <c:v>3321</c:v>
                </c:pt>
                <c:pt idx="6">
                  <c:v>4450</c:v>
                </c:pt>
                <c:pt idx="7">
                  <c:v>6185</c:v>
                </c:pt>
                <c:pt idx="8">
                  <c:v>5359</c:v>
                </c:pt>
                <c:pt idx="9">
                  <c:v>2867</c:v>
                </c:pt>
                <c:pt idx="10">
                  <c:v>1479</c:v>
                </c:pt>
                <c:pt idx="11">
                  <c:v>926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F0D1-4523-8F12-8D7492A0F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60.8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8659"/>
          <c:min val="-4948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비중과 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하루 진행률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비중(%)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2.6000000000000002E-2</c:v>
                </c:pt>
                <c:pt idx="1">
                  <c:v>3.5000000000000003E-2</c:v>
                </c:pt>
                <c:pt idx="2">
                  <c:v>4.0999999999999995E-2</c:v>
                </c:pt>
                <c:pt idx="3">
                  <c:v>6.0999999999999999E-2</c:v>
                </c:pt>
                <c:pt idx="4">
                  <c:v>7.6999999999999999E-2</c:v>
                </c:pt>
                <c:pt idx="5">
                  <c:v>0.10300000000000001</c:v>
                </c:pt>
                <c:pt idx="6">
                  <c:v>0.14300000000000002</c:v>
                </c:pt>
                <c:pt idx="7">
                  <c:v>0.19</c:v>
                </c:pt>
                <c:pt idx="8">
                  <c:v>0.161</c:v>
                </c:pt>
                <c:pt idx="9">
                  <c:v>8.900000000000001E-2</c:v>
                </c:pt>
                <c:pt idx="10">
                  <c:v>4.4999999999999998E-2</c:v>
                </c:pt>
                <c:pt idx="11">
                  <c:v>2.7999999999999997E-2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989-4CA7-8D14-7CE1175CA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989-4CA7-8D14-7CE1175CAB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989-4CA7-8D14-7CE1175CABC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34.4%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989-4CA7-8D14-7CE1175CABC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48.7%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989-4CA7-8D14-7CE1175CABC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67.7%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989-4CA7-8D14-7CE1175CABC5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100.0%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989-4CA7-8D14-7CE1175CAB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2.6000000000000002E-2</c:v>
                </c:pt>
                <c:pt idx="1">
                  <c:v>6.2E-2</c:v>
                </c:pt>
                <c:pt idx="2">
                  <c:v>0.10199999999999999</c:v>
                </c:pt>
                <c:pt idx="3">
                  <c:v>0.16300000000000001</c:v>
                </c:pt>
                <c:pt idx="4">
                  <c:v>0.24</c:v>
                </c:pt>
                <c:pt idx="5">
                  <c:v>0.34399999999999997</c:v>
                </c:pt>
                <c:pt idx="6">
                  <c:v>0.48700000000000004</c:v>
                </c:pt>
                <c:pt idx="7">
                  <c:v>0.67700000000000005</c:v>
                </c:pt>
                <c:pt idx="8">
                  <c:v>0.83799999999999997</c:v>
                </c:pt>
                <c:pt idx="9">
                  <c:v>0.92799999999999994</c:v>
                </c:pt>
                <c:pt idx="10">
                  <c:v>0.97199999999999998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989-4CA7-8D14-7CE1175CA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59999999999999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5"/>
          <c:min val="-0.9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1,747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14.7%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0B6-4E23-B268-9072315A5F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1,343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0B6-4E23-B268-9072315A5F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1,524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12.8%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0B6-4E23-B268-9072315A5F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1,609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13.6%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0B6-4E23-B268-9072315A5F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2,349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19.8%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0B6-4E23-B268-9072315A5F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1,958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0B6-4E23-B268-9072315A5F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1,337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0B6-4E23-B268-9072315A5F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1747</c:v>
                </c:pt>
                <c:pt idx="1">
                  <c:v>1343</c:v>
                </c:pt>
                <c:pt idx="2">
                  <c:v>1524</c:v>
                </c:pt>
                <c:pt idx="3">
                  <c:v>1609</c:v>
                </c:pt>
                <c:pt idx="4">
                  <c:v>2349</c:v>
                </c:pt>
                <c:pt idx="5">
                  <c:v>1958</c:v>
                </c:pt>
                <c:pt idx="6">
                  <c:v>1337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40B6-4E23-B268-9072315A5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요일 평균 1,695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1695.2857142857142</c:v>
                </c:pt>
                <c:pt idx="1">
                  <c:v>1695.2857142857142</c:v>
                </c:pt>
                <c:pt idx="2">
                  <c:v>1695.2857142857142</c:v>
                </c:pt>
                <c:pt idx="3">
                  <c:v>1695.2857142857142</c:v>
                </c:pt>
                <c:pt idx="4">
                  <c:v>1695.2857142857142</c:v>
                </c:pt>
                <c:pt idx="5">
                  <c:v>1695.2857142857142</c:v>
                </c:pt>
                <c:pt idx="6">
                  <c:v>1695.2857142857142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0B6-4E23-B268-9072315A5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출고수량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4671</c:v>
                </c:pt>
                <c:pt idx="1">
                  <c:v>3525</c:v>
                </c:pt>
                <c:pt idx="2">
                  <c:v>4208</c:v>
                </c:pt>
                <c:pt idx="3">
                  <c:v>4371</c:v>
                </c:pt>
                <c:pt idx="4">
                  <c:v>6459</c:v>
                </c:pt>
                <c:pt idx="5">
                  <c:v>5408</c:v>
                </c:pt>
                <c:pt idx="6">
                  <c:v>3711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0B6-4E23-B268-9072315A5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463.099999999999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9042.5999999999985"/>
          <c:min val="-8396.7000000000007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일수로 나눈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일수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4·5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 반영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일평균 출고 라인수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436.8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7FC-4A5F-A60E-0EA2A1A6DED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335.8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7FC-4A5F-A60E-0EA2A1A6DED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381.0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7FC-4A5F-A60E-0EA2A1A6DED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402.2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7FC-4A5F-A60E-0EA2A1A6DED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469.8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7FC-4A5F-A60E-0EA2A1A6DED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391.6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7FC-4A5F-A60E-0EA2A1A6DED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267.4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7FC-4A5F-A60E-0EA2A1A6DED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436.8</c:v>
                </c:pt>
                <c:pt idx="1">
                  <c:v>335.8</c:v>
                </c:pt>
                <c:pt idx="2">
                  <c:v>381</c:v>
                </c:pt>
                <c:pt idx="3">
                  <c:v>402.3</c:v>
                </c:pt>
                <c:pt idx="4">
                  <c:v>469.8</c:v>
                </c:pt>
                <c:pt idx="5">
                  <c:v>391.6</c:v>
                </c:pt>
                <c:pt idx="6">
                  <c:v>267.39999999999998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37FC-4A5F-A60E-0EA2A1A6D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전체 일평균 382.8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382.8</c:v>
                </c:pt>
                <c:pt idx="1">
                  <c:v>382.8</c:v>
                </c:pt>
                <c:pt idx="2">
                  <c:v>382.8</c:v>
                </c:pt>
                <c:pt idx="3">
                  <c:v>382.8</c:v>
                </c:pt>
                <c:pt idx="4">
                  <c:v>382.8</c:v>
                </c:pt>
                <c:pt idx="5">
                  <c:v>382.8</c:v>
                </c:pt>
                <c:pt idx="6">
                  <c:v>382.8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37FC-4A5F-A60E-0EA2A1A6D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10.74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주차별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일평균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2,316 (19.5%)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40D-4837-B17E-CC15B8908CC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2,396 (20.2%)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40D-4837-B17E-CC15B8908C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2,954 (24.9%)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40D-4837-B17E-CC15B8908CC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3,163 (26.7%)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40D-4837-B17E-CC15B8908CC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1,038 (8.7%)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40D-4837-B17E-CC15B8908C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2316</c:v>
                </c:pt>
                <c:pt idx="1">
                  <c:v>2396</c:v>
                </c:pt>
                <c:pt idx="2">
                  <c:v>2954</c:v>
                </c:pt>
                <c:pt idx="3">
                  <c:v>3163</c:v>
                </c:pt>
                <c:pt idx="4">
                  <c:v>1038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440D-4837-B17E-CC15B8908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일평균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330.9</c:v>
                </c:pt>
                <c:pt idx="1">
                  <c:v>342.3</c:v>
                </c:pt>
                <c:pt idx="2">
                  <c:v>422</c:v>
                </c:pt>
                <c:pt idx="3">
                  <c:v>451.9</c:v>
                </c:pt>
                <c:pt idx="4">
                  <c:v>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40D-4837-B17E-CC15B8908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274.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506.12800000000004"/>
          <c:min val="-858.6099999999999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평일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주말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구성 차이 제거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평일 일평균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361.8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835-49E8-9D81-E83B4D67EEF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356.6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835-49E8-9D81-E83B4D67EEF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483.6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835-49E8-9D81-E83B4D67EEF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430.0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835-49E8-9D81-E83B4D67EEF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412.0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835-49E8-9D81-E83B4D67EEF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361.8</c:v>
                </c:pt>
                <c:pt idx="1">
                  <c:v>356.6</c:v>
                </c:pt>
                <c:pt idx="2">
                  <c:v>483.6</c:v>
                </c:pt>
                <c:pt idx="3">
                  <c:v>430</c:v>
                </c:pt>
                <c:pt idx="4">
                  <c:v>412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2835-49E8-9D81-E83B4D67EE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일평균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253.5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835-49E8-9D81-E83B4D67EEF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306.5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835-49E8-9D81-E83B4D67EEF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268.0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835-49E8-9D81-E83B4D67EEF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506.5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835-49E8-9D81-E83B4D67EEF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313.0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835-49E8-9D81-E83B4D67EEF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253.5</c:v>
                </c:pt>
                <c:pt idx="1">
                  <c:v>306.5</c:v>
                </c:pt>
                <c:pt idx="2">
                  <c:v>268</c:v>
                </c:pt>
                <c:pt idx="3">
                  <c:v>506.5</c:v>
                </c:pt>
                <c:pt idx="4">
                  <c:v>313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2835-49E8-9D81-E83B4D67E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5월 평일 408.2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408.2</c:v>
                </c:pt>
                <c:pt idx="1">
                  <c:v>408.2</c:v>
                </c:pt>
                <c:pt idx="2">
                  <c:v>408.2</c:v>
                </c:pt>
                <c:pt idx="3">
                  <c:v>408.2</c:v>
                </c:pt>
                <c:pt idx="4">
                  <c:v>408.2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835-49E8-9D81-E83B4D67EEF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5월 주말 329.5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329.5</c:v>
                </c:pt>
                <c:pt idx="1">
                  <c:v>329.5</c:v>
                </c:pt>
                <c:pt idx="2">
                  <c:v>329.5</c:v>
                </c:pt>
                <c:pt idx="3">
                  <c:v>329.5</c:v>
                </c:pt>
                <c:pt idx="4">
                  <c:v>329.5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2835-49E8-9D81-E83B4D67E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8.4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별 출고 물량 파레토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전체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150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개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개별 물량비중(%)</c:v>
                </c:pt>
              </c:strCache>
            </c:strRef>
          </c:tx>
          <c:spPr>
            <a:solidFill>
              <a:srgbClr val="2758A7"/>
            </a:solidFill>
          </c:spPr>
          <c:invertIfNegative val="1"/>
          <c:dPt>
            <c:idx val="4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1-8FBA-478D-BBE9-7A1D95C51ADC}"/>
              </c:ext>
            </c:extLst>
          </c:dPt>
          <c:dPt>
            <c:idx val="4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3-8FBA-478D-BBE9-7A1D95C51ADC}"/>
              </c:ext>
            </c:extLst>
          </c:dPt>
          <c:dPt>
            <c:idx val="4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5-8FBA-478D-BBE9-7A1D95C51ADC}"/>
              </c:ext>
            </c:extLst>
          </c:dPt>
          <c:dPt>
            <c:idx val="5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7-8FBA-478D-BBE9-7A1D95C51ADC}"/>
              </c:ext>
            </c:extLst>
          </c:dPt>
          <c:dPt>
            <c:idx val="5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9-8FBA-478D-BBE9-7A1D95C51ADC}"/>
              </c:ext>
            </c:extLst>
          </c:dPt>
          <c:dPt>
            <c:idx val="5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B-8FBA-478D-BBE9-7A1D95C51ADC}"/>
              </c:ext>
            </c:extLst>
          </c:dPt>
          <c:dPt>
            <c:idx val="5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D-8FBA-478D-BBE9-7A1D95C51ADC}"/>
              </c:ext>
            </c:extLst>
          </c:dPt>
          <c:dPt>
            <c:idx val="5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F-8FBA-478D-BBE9-7A1D95C51ADC}"/>
              </c:ext>
            </c:extLst>
          </c:dPt>
          <c:dPt>
            <c:idx val="5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1-8FBA-478D-BBE9-7A1D95C51ADC}"/>
              </c:ext>
            </c:extLst>
          </c:dPt>
          <c:dPt>
            <c:idx val="5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3-8FBA-478D-BBE9-7A1D95C51ADC}"/>
              </c:ext>
            </c:extLst>
          </c:dPt>
          <c:dPt>
            <c:idx val="5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5-8FBA-478D-BBE9-7A1D95C51ADC}"/>
              </c:ext>
            </c:extLst>
          </c:dPt>
          <c:dPt>
            <c:idx val="5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7-8FBA-478D-BBE9-7A1D95C51ADC}"/>
              </c:ext>
            </c:extLst>
          </c:dPt>
          <c:dPt>
            <c:idx val="5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9-8FBA-478D-BBE9-7A1D95C51ADC}"/>
              </c:ext>
            </c:extLst>
          </c:dPt>
          <c:dPt>
            <c:idx val="6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B-8FBA-478D-BBE9-7A1D95C51ADC}"/>
              </c:ext>
            </c:extLst>
          </c:dPt>
          <c:dPt>
            <c:idx val="6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D-8FBA-478D-BBE9-7A1D95C51ADC}"/>
              </c:ext>
            </c:extLst>
          </c:dPt>
          <c:dPt>
            <c:idx val="6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F-8FBA-478D-BBE9-7A1D95C51ADC}"/>
              </c:ext>
            </c:extLst>
          </c:dPt>
          <c:dPt>
            <c:idx val="6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1-8FBA-478D-BBE9-7A1D95C51ADC}"/>
              </c:ext>
            </c:extLst>
          </c:dPt>
          <c:dPt>
            <c:idx val="6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3-8FBA-478D-BBE9-7A1D95C51ADC}"/>
              </c:ext>
            </c:extLst>
          </c:dPt>
          <c:dPt>
            <c:idx val="6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5-8FBA-478D-BBE9-7A1D95C51ADC}"/>
              </c:ext>
            </c:extLst>
          </c:dPt>
          <c:dPt>
            <c:idx val="6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7-8FBA-478D-BBE9-7A1D95C51ADC}"/>
              </c:ext>
            </c:extLst>
          </c:dPt>
          <c:dPt>
            <c:idx val="6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9-8FBA-478D-BBE9-7A1D95C51ADC}"/>
              </c:ext>
            </c:extLst>
          </c:dPt>
          <c:dPt>
            <c:idx val="6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B-8FBA-478D-BBE9-7A1D95C51ADC}"/>
              </c:ext>
            </c:extLst>
          </c:dPt>
          <c:dPt>
            <c:idx val="6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D-8FBA-478D-BBE9-7A1D95C51ADC}"/>
              </c:ext>
            </c:extLst>
          </c:dPt>
          <c:dPt>
            <c:idx val="7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F-8FBA-478D-BBE9-7A1D95C51ADC}"/>
              </c:ext>
            </c:extLst>
          </c:dPt>
          <c:dPt>
            <c:idx val="7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1-8FBA-478D-BBE9-7A1D95C51ADC}"/>
              </c:ext>
            </c:extLst>
          </c:dPt>
          <c:dPt>
            <c:idx val="7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3-8FBA-478D-BBE9-7A1D95C51ADC}"/>
              </c:ext>
            </c:extLst>
          </c:dPt>
          <c:dPt>
            <c:idx val="7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5-8FBA-478D-BBE9-7A1D95C51ADC}"/>
              </c:ext>
            </c:extLst>
          </c:dPt>
          <c:dPt>
            <c:idx val="7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7-8FBA-478D-BBE9-7A1D95C51ADC}"/>
              </c:ext>
            </c:extLst>
          </c:dPt>
          <c:dPt>
            <c:idx val="7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9-8FBA-478D-BBE9-7A1D95C51ADC}"/>
              </c:ext>
            </c:extLst>
          </c:dPt>
          <c:dPt>
            <c:idx val="7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B-8FBA-478D-BBE9-7A1D95C51ADC}"/>
              </c:ext>
            </c:extLst>
          </c:dPt>
          <c:dPt>
            <c:idx val="7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D-8FBA-478D-BBE9-7A1D95C51ADC}"/>
              </c:ext>
            </c:extLst>
          </c:dPt>
          <c:dPt>
            <c:idx val="7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F-8FBA-478D-BBE9-7A1D95C51ADC}"/>
              </c:ext>
            </c:extLst>
          </c:dPt>
          <c:dPt>
            <c:idx val="7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1-8FBA-478D-BBE9-7A1D95C51ADC}"/>
              </c:ext>
            </c:extLst>
          </c:dPt>
          <c:dPt>
            <c:idx val="8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3-8FBA-478D-BBE9-7A1D95C51ADC}"/>
              </c:ext>
            </c:extLst>
          </c:dPt>
          <c:dPt>
            <c:idx val="8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5-8FBA-478D-BBE9-7A1D95C51ADC}"/>
              </c:ext>
            </c:extLst>
          </c:dPt>
          <c:dPt>
            <c:idx val="8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7-8FBA-478D-BBE9-7A1D95C51ADC}"/>
              </c:ext>
            </c:extLst>
          </c:dPt>
          <c:dPt>
            <c:idx val="8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9-8FBA-478D-BBE9-7A1D95C51ADC}"/>
              </c:ext>
            </c:extLst>
          </c:dPt>
          <c:dPt>
            <c:idx val="8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B-8FBA-478D-BBE9-7A1D95C51ADC}"/>
              </c:ext>
            </c:extLst>
          </c:dPt>
          <c:dPt>
            <c:idx val="8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D-8FBA-478D-BBE9-7A1D95C51ADC}"/>
              </c:ext>
            </c:extLst>
          </c:dPt>
          <c:dPt>
            <c:idx val="8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F-8FBA-478D-BBE9-7A1D95C51ADC}"/>
              </c:ext>
            </c:extLst>
          </c:dPt>
          <c:dPt>
            <c:idx val="8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1-8FBA-478D-BBE9-7A1D95C51ADC}"/>
              </c:ext>
            </c:extLst>
          </c:dPt>
          <c:dPt>
            <c:idx val="8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3-8FBA-478D-BBE9-7A1D95C51ADC}"/>
              </c:ext>
            </c:extLst>
          </c:dPt>
          <c:dPt>
            <c:idx val="8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5-8FBA-478D-BBE9-7A1D95C51ADC}"/>
              </c:ext>
            </c:extLst>
          </c:dPt>
          <c:dPt>
            <c:idx val="9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7-8FBA-478D-BBE9-7A1D95C51ADC}"/>
              </c:ext>
            </c:extLst>
          </c:dPt>
          <c:dPt>
            <c:idx val="9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9-8FBA-478D-BBE9-7A1D95C51ADC}"/>
              </c:ext>
            </c:extLst>
          </c:dPt>
          <c:dPt>
            <c:idx val="9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B-8FBA-478D-BBE9-7A1D95C51ADC}"/>
              </c:ext>
            </c:extLst>
          </c:dPt>
          <c:dPt>
            <c:idx val="9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D-8FBA-478D-BBE9-7A1D95C51ADC}"/>
              </c:ext>
            </c:extLst>
          </c:dPt>
          <c:dPt>
            <c:idx val="9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F-8FBA-478D-BBE9-7A1D95C51ADC}"/>
              </c:ext>
            </c:extLst>
          </c:dPt>
          <c:dPt>
            <c:idx val="9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1-8FBA-478D-BBE9-7A1D95C51ADC}"/>
              </c:ext>
            </c:extLst>
          </c:dPt>
          <c:dPt>
            <c:idx val="9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3-8FBA-478D-BBE9-7A1D95C51ADC}"/>
              </c:ext>
            </c:extLst>
          </c:dPt>
          <c:dPt>
            <c:idx val="9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5-8FBA-478D-BBE9-7A1D95C51ADC}"/>
              </c:ext>
            </c:extLst>
          </c:dPt>
          <c:dPt>
            <c:idx val="9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7-8FBA-478D-BBE9-7A1D95C51ADC}"/>
              </c:ext>
            </c:extLst>
          </c:dPt>
          <c:dPt>
            <c:idx val="9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9-8FBA-478D-BBE9-7A1D95C51ADC}"/>
              </c:ext>
            </c:extLst>
          </c:dPt>
          <c:dPt>
            <c:idx val="10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B-8FBA-478D-BBE9-7A1D95C51ADC}"/>
              </c:ext>
            </c:extLst>
          </c:dPt>
          <c:dPt>
            <c:idx val="10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D-8FBA-478D-BBE9-7A1D95C51ADC}"/>
              </c:ext>
            </c:extLst>
          </c:dPt>
          <c:dPt>
            <c:idx val="10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F-8FBA-478D-BBE9-7A1D95C51ADC}"/>
              </c:ext>
            </c:extLst>
          </c:dPt>
          <c:dPt>
            <c:idx val="10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1-8FBA-478D-BBE9-7A1D95C51ADC}"/>
              </c:ext>
            </c:extLst>
          </c:dPt>
          <c:dPt>
            <c:idx val="10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3-8FBA-478D-BBE9-7A1D95C51ADC}"/>
              </c:ext>
            </c:extLst>
          </c:dPt>
          <c:dPt>
            <c:idx val="10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5-8FBA-478D-BBE9-7A1D95C51ADC}"/>
              </c:ext>
            </c:extLst>
          </c:dPt>
          <c:dPt>
            <c:idx val="10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7-8FBA-478D-BBE9-7A1D95C51ADC}"/>
              </c:ext>
            </c:extLst>
          </c:dPt>
          <c:dPt>
            <c:idx val="10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9-8FBA-478D-BBE9-7A1D95C51ADC}"/>
              </c:ext>
            </c:extLst>
          </c:dPt>
          <c:dPt>
            <c:idx val="10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B-8FBA-478D-BBE9-7A1D95C51ADC}"/>
              </c:ext>
            </c:extLst>
          </c:dPt>
          <c:dPt>
            <c:idx val="10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D-8FBA-478D-BBE9-7A1D95C51ADC}"/>
              </c:ext>
            </c:extLst>
          </c:dPt>
          <c:dPt>
            <c:idx val="11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F-8FBA-478D-BBE9-7A1D95C51ADC}"/>
              </c:ext>
            </c:extLst>
          </c:dPt>
          <c:dPt>
            <c:idx val="11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1-8FBA-478D-BBE9-7A1D95C51ADC}"/>
              </c:ext>
            </c:extLst>
          </c:dPt>
          <c:dPt>
            <c:idx val="11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3-8FBA-478D-BBE9-7A1D95C51ADC}"/>
              </c:ext>
            </c:extLst>
          </c:dPt>
          <c:dPt>
            <c:idx val="11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5-8FBA-478D-BBE9-7A1D95C51ADC}"/>
              </c:ext>
            </c:extLst>
          </c:dPt>
          <c:dPt>
            <c:idx val="11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7-8FBA-478D-BBE9-7A1D95C51ADC}"/>
              </c:ext>
            </c:extLst>
          </c:dPt>
          <c:dPt>
            <c:idx val="11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9-8FBA-478D-BBE9-7A1D95C51ADC}"/>
              </c:ext>
            </c:extLst>
          </c:dPt>
          <c:dPt>
            <c:idx val="11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B-8FBA-478D-BBE9-7A1D95C51ADC}"/>
              </c:ext>
            </c:extLst>
          </c:dPt>
          <c:dPt>
            <c:idx val="11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D-8FBA-478D-BBE9-7A1D95C51ADC}"/>
              </c:ext>
            </c:extLst>
          </c:dPt>
          <c:dPt>
            <c:idx val="11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F-8FBA-478D-BBE9-7A1D95C51ADC}"/>
              </c:ext>
            </c:extLst>
          </c:dPt>
          <c:dPt>
            <c:idx val="11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1-8FBA-478D-BBE9-7A1D95C51ADC}"/>
              </c:ext>
            </c:extLst>
          </c:dPt>
          <c:dPt>
            <c:idx val="12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3-8FBA-478D-BBE9-7A1D95C51ADC}"/>
              </c:ext>
            </c:extLst>
          </c:dPt>
          <c:dPt>
            <c:idx val="12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5-8FBA-478D-BBE9-7A1D95C51ADC}"/>
              </c:ext>
            </c:extLst>
          </c:dPt>
          <c:dPt>
            <c:idx val="12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7-8FBA-478D-BBE9-7A1D95C51ADC}"/>
              </c:ext>
            </c:extLst>
          </c:dPt>
          <c:dPt>
            <c:idx val="12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9-8FBA-478D-BBE9-7A1D95C51ADC}"/>
              </c:ext>
            </c:extLst>
          </c:dPt>
          <c:dPt>
            <c:idx val="12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B-8FBA-478D-BBE9-7A1D95C51ADC}"/>
              </c:ext>
            </c:extLst>
          </c:dPt>
          <c:dPt>
            <c:idx val="12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D-8FBA-478D-BBE9-7A1D95C51ADC}"/>
              </c:ext>
            </c:extLst>
          </c:dPt>
          <c:dPt>
            <c:idx val="12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F-8FBA-478D-BBE9-7A1D95C51ADC}"/>
              </c:ext>
            </c:extLst>
          </c:dPt>
          <c:dPt>
            <c:idx val="12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1-8FBA-478D-BBE9-7A1D95C51ADC}"/>
              </c:ext>
            </c:extLst>
          </c:dPt>
          <c:dPt>
            <c:idx val="12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3-8FBA-478D-BBE9-7A1D95C51ADC}"/>
              </c:ext>
            </c:extLst>
          </c:dPt>
          <c:dPt>
            <c:idx val="12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5-8FBA-478D-BBE9-7A1D95C51ADC}"/>
              </c:ext>
            </c:extLst>
          </c:dPt>
          <c:dPt>
            <c:idx val="13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7-8FBA-478D-BBE9-7A1D95C51ADC}"/>
              </c:ext>
            </c:extLst>
          </c:dPt>
          <c:dPt>
            <c:idx val="13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9-8FBA-478D-BBE9-7A1D95C51ADC}"/>
              </c:ext>
            </c:extLst>
          </c:dPt>
          <c:dPt>
            <c:idx val="13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B-8FBA-478D-BBE9-7A1D95C51ADC}"/>
              </c:ext>
            </c:extLst>
          </c:dPt>
          <c:dPt>
            <c:idx val="13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D-8FBA-478D-BBE9-7A1D95C51ADC}"/>
              </c:ext>
            </c:extLst>
          </c:dPt>
          <c:dPt>
            <c:idx val="13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F-8FBA-478D-BBE9-7A1D95C51ADC}"/>
              </c:ext>
            </c:extLst>
          </c:dPt>
          <c:dPt>
            <c:idx val="13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1-8FBA-478D-BBE9-7A1D95C51ADC}"/>
              </c:ext>
            </c:extLst>
          </c:dPt>
          <c:dPt>
            <c:idx val="13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3-8FBA-478D-BBE9-7A1D95C51ADC}"/>
              </c:ext>
            </c:extLst>
          </c:dPt>
          <c:dPt>
            <c:idx val="13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5-8FBA-478D-BBE9-7A1D95C51ADC}"/>
              </c:ext>
            </c:extLst>
          </c:dPt>
          <c:dPt>
            <c:idx val="13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7-8FBA-478D-BBE9-7A1D95C51ADC}"/>
              </c:ext>
            </c:extLst>
          </c:dPt>
          <c:dPt>
            <c:idx val="13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9-8FBA-478D-BBE9-7A1D95C51ADC}"/>
              </c:ext>
            </c:extLst>
          </c:dPt>
          <c:dPt>
            <c:idx val="14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B-8FBA-478D-BBE9-7A1D95C51ADC}"/>
              </c:ext>
            </c:extLst>
          </c:dPt>
          <c:dPt>
            <c:idx val="14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D-8FBA-478D-BBE9-7A1D95C51ADC}"/>
              </c:ext>
            </c:extLst>
          </c:dPt>
          <c:dPt>
            <c:idx val="14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F-8FBA-478D-BBE9-7A1D95C51ADC}"/>
              </c:ext>
            </c:extLst>
          </c:dPt>
          <c:dPt>
            <c:idx val="14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1-8FBA-478D-BBE9-7A1D95C51ADC}"/>
              </c:ext>
            </c:extLst>
          </c:dPt>
          <c:dPt>
            <c:idx val="14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3-8FBA-478D-BBE9-7A1D95C51ADC}"/>
              </c:ext>
            </c:extLst>
          </c:dPt>
          <c:dPt>
            <c:idx val="14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5-8FBA-478D-BBE9-7A1D95C51ADC}"/>
              </c:ext>
            </c:extLst>
          </c:dPt>
          <c:dPt>
            <c:idx val="14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7-8FBA-478D-BBE9-7A1D95C51ADC}"/>
              </c:ext>
            </c:extLst>
          </c:dPt>
          <c:dPt>
            <c:idx val="14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9-8FBA-478D-BBE9-7A1D95C51ADC}"/>
              </c:ext>
            </c:extLst>
          </c:dPt>
          <c:dPt>
            <c:idx val="14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B-8FBA-478D-BBE9-7A1D95C51ADC}"/>
              </c:ext>
            </c:extLst>
          </c:dPt>
          <c:dPt>
            <c:idx val="14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D-8FBA-478D-BBE9-7A1D95C51ADC}"/>
              </c:ext>
            </c:extLst>
          </c:dPt>
          <c:cat>
            <c:strRef>
              <c:f>Sheet1!$A$2:$A$151</c:f>
              <c:strCache>
                <c:ptCount val="150"/>
                <c:pt idx="0">
                  <c:v>0002</c:v>
                </c:pt>
                <c:pt idx="1">
                  <c:v>0107</c:v>
                </c:pt>
                <c:pt idx="2">
                  <c:v>0138</c:v>
                </c:pt>
                <c:pt idx="3">
                  <c:v>0008</c:v>
                </c:pt>
                <c:pt idx="4">
                  <c:v>0113</c:v>
                </c:pt>
                <c:pt idx="5">
                  <c:v>0117</c:v>
                </c:pt>
                <c:pt idx="6">
                  <c:v>0017</c:v>
                </c:pt>
                <c:pt idx="7">
                  <c:v>0135</c:v>
                </c:pt>
                <c:pt idx="8">
                  <c:v>0127</c:v>
                </c:pt>
                <c:pt idx="9">
                  <c:v>0009</c:v>
                </c:pt>
                <c:pt idx="10">
                  <c:v>0027</c:v>
                </c:pt>
                <c:pt idx="11">
                  <c:v>0087</c:v>
                </c:pt>
                <c:pt idx="12">
                  <c:v>0040</c:v>
                </c:pt>
                <c:pt idx="13">
                  <c:v>0006</c:v>
                </c:pt>
                <c:pt idx="14">
                  <c:v>0102</c:v>
                </c:pt>
                <c:pt idx="15">
                  <c:v>0068</c:v>
                </c:pt>
                <c:pt idx="16">
                  <c:v>0114</c:v>
                </c:pt>
                <c:pt idx="17">
                  <c:v>0092</c:v>
                </c:pt>
                <c:pt idx="18">
                  <c:v>0132</c:v>
                </c:pt>
                <c:pt idx="19">
                  <c:v>0116</c:v>
                </c:pt>
                <c:pt idx="20">
                  <c:v>0097</c:v>
                </c:pt>
                <c:pt idx="21">
                  <c:v>0119</c:v>
                </c:pt>
                <c:pt idx="22">
                  <c:v>0012</c:v>
                </c:pt>
                <c:pt idx="23">
                  <c:v>0090</c:v>
                </c:pt>
                <c:pt idx="24">
                  <c:v>0115</c:v>
                </c:pt>
                <c:pt idx="25">
                  <c:v>0112</c:v>
                </c:pt>
                <c:pt idx="26">
                  <c:v>0026</c:v>
                </c:pt>
                <c:pt idx="27">
                  <c:v>0088</c:v>
                </c:pt>
                <c:pt idx="28">
                  <c:v>0032</c:v>
                </c:pt>
                <c:pt idx="29">
                  <c:v>0085</c:v>
                </c:pt>
                <c:pt idx="30">
                  <c:v>0007</c:v>
                </c:pt>
                <c:pt idx="31">
                  <c:v>0066</c:v>
                </c:pt>
                <c:pt idx="32">
                  <c:v>0031</c:v>
                </c:pt>
                <c:pt idx="33">
                  <c:v>0076</c:v>
                </c:pt>
                <c:pt idx="34">
                  <c:v>0084</c:v>
                </c:pt>
                <c:pt idx="35">
                  <c:v>0003</c:v>
                </c:pt>
                <c:pt idx="36">
                  <c:v>0058</c:v>
                </c:pt>
                <c:pt idx="37">
                  <c:v>0071</c:v>
                </c:pt>
                <c:pt idx="38">
                  <c:v>0095</c:v>
                </c:pt>
                <c:pt idx="39">
                  <c:v>0124</c:v>
                </c:pt>
                <c:pt idx="40">
                  <c:v>0056</c:v>
                </c:pt>
                <c:pt idx="41">
                  <c:v>0089</c:v>
                </c:pt>
                <c:pt idx="42">
                  <c:v>0128</c:v>
                </c:pt>
                <c:pt idx="43">
                  <c:v>0063</c:v>
                </c:pt>
                <c:pt idx="44">
                  <c:v>0137</c:v>
                </c:pt>
                <c:pt idx="45">
                  <c:v>0126</c:v>
                </c:pt>
                <c:pt idx="46">
                  <c:v>0147</c:v>
                </c:pt>
                <c:pt idx="47">
                  <c:v>0079</c:v>
                </c:pt>
                <c:pt idx="48">
                  <c:v>0110</c:v>
                </c:pt>
                <c:pt idx="49">
                  <c:v>0060</c:v>
                </c:pt>
                <c:pt idx="50">
                  <c:v>0149</c:v>
                </c:pt>
                <c:pt idx="51">
                  <c:v>0130</c:v>
                </c:pt>
                <c:pt idx="52">
                  <c:v>0030</c:v>
                </c:pt>
                <c:pt idx="53">
                  <c:v>0111</c:v>
                </c:pt>
                <c:pt idx="54">
                  <c:v>0018</c:v>
                </c:pt>
                <c:pt idx="55">
                  <c:v>0082</c:v>
                </c:pt>
                <c:pt idx="56">
                  <c:v>0118</c:v>
                </c:pt>
                <c:pt idx="57">
                  <c:v>0064</c:v>
                </c:pt>
                <c:pt idx="58">
                  <c:v>0057</c:v>
                </c:pt>
                <c:pt idx="59">
                  <c:v>0035</c:v>
                </c:pt>
                <c:pt idx="60">
                  <c:v>0034</c:v>
                </c:pt>
                <c:pt idx="61">
                  <c:v>0019</c:v>
                </c:pt>
                <c:pt idx="62">
                  <c:v>0038</c:v>
                </c:pt>
                <c:pt idx="63">
                  <c:v>0121</c:v>
                </c:pt>
                <c:pt idx="64">
                  <c:v>0053</c:v>
                </c:pt>
                <c:pt idx="65">
                  <c:v>0077</c:v>
                </c:pt>
                <c:pt idx="66">
                  <c:v>0051</c:v>
                </c:pt>
                <c:pt idx="67">
                  <c:v>0094</c:v>
                </c:pt>
                <c:pt idx="68">
                  <c:v>0142</c:v>
                </c:pt>
                <c:pt idx="69">
                  <c:v>0070</c:v>
                </c:pt>
                <c:pt idx="70">
                  <c:v>0044</c:v>
                </c:pt>
                <c:pt idx="71">
                  <c:v>0133</c:v>
                </c:pt>
                <c:pt idx="72">
                  <c:v>0005</c:v>
                </c:pt>
                <c:pt idx="73">
                  <c:v>0105</c:v>
                </c:pt>
                <c:pt idx="74">
                  <c:v>0100</c:v>
                </c:pt>
                <c:pt idx="75">
                  <c:v>0037</c:v>
                </c:pt>
                <c:pt idx="76">
                  <c:v>0043</c:v>
                </c:pt>
                <c:pt idx="77">
                  <c:v>0093</c:v>
                </c:pt>
                <c:pt idx="78">
                  <c:v>0072</c:v>
                </c:pt>
                <c:pt idx="79">
                  <c:v>0139</c:v>
                </c:pt>
                <c:pt idx="80">
                  <c:v>0080</c:v>
                </c:pt>
                <c:pt idx="81">
                  <c:v>0136</c:v>
                </c:pt>
                <c:pt idx="82">
                  <c:v>0123</c:v>
                </c:pt>
                <c:pt idx="83">
                  <c:v>0069</c:v>
                </c:pt>
                <c:pt idx="84">
                  <c:v>0125</c:v>
                </c:pt>
                <c:pt idx="85">
                  <c:v>0065</c:v>
                </c:pt>
                <c:pt idx="86">
                  <c:v>0120</c:v>
                </c:pt>
                <c:pt idx="87">
                  <c:v>0129</c:v>
                </c:pt>
                <c:pt idx="88">
                  <c:v>0074</c:v>
                </c:pt>
                <c:pt idx="89">
                  <c:v>0049</c:v>
                </c:pt>
                <c:pt idx="90">
                  <c:v>0029</c:v>
                </c:pt>
                <c:pt idx="91">
                  <c:v>0048</c:v>
                </c:pt>
                <c:pt idx="92">
                  <c:v>0046</c:v>
                </c:pt>
                <c:pt idx="93">
                  <c:v>0098</c:v>
                </c:pt>
                <c:pt idx="94">
                  <c:v>0039</c:v>
                </c:pt>
                <c:pt idx="95">
                  <c:v>0122</c:v>
                </c:pt>
                <c:pt idx="96">
                  <c:v>0096</c:v>
                </c:pt>
                <c:pt idx="97">
                  <c:v>0108</c:v>
                </c:pt>
                <c:pt idx="98">
                  <c:v>0086</c:v>
                </c:pt>
                <c:pt idx="99">
                  <c:v>0045</c:v>
                </c:pt>
                <c:pt idx="100">
                  <c:v>0036</c:v>
                </c:pt>
                <c:pt idx="101">
                  <c:v>0104</c:v>
                </c:pt>
                <c:pt idx="102">
                  <c:v>0109</c:v>
                </c:pt>
                <c:pt idx="103">
                  <c:v>0014</c:v>
                </c:pt>
                <c:pt idx="104">
                  <c:v>0013</c:v>
                </c:pt>
                <c:pt idx="105">
                  <c:v>0052</c:v>
                </c:pt>
                <c:pt idx="106">
                  <c:v>0141</c:v>
                </c:pt>
                <c:pt idx="107">
                  <c:v>0150</c:v>
                </c:pt>
                <c:pt idx="108">
                  <c:v>0055</c:v>
                </c:pt>
                <c:pt idx="109">
                  <c:v>0145</c:v>
                </c:pt>
                <c:pt idx="110">
                  <c:v>0062</c:v>
                </c:pt>
                <c:pt idx="111">
                  <c:v>0047</c:v>
                </c:pt>
                <c:pt idx="112">
                  <c:v>0134</c:v>
                </c:pt>
                <c:pt idx="113">
                  <c:v>0073</c:v>
                </c:pt>
                <c:pt idx="114">
                  <c:v>0131</c:v>
                </c:pt>
                <c:pt idx="115">
                  <c:v>0106</c:v>
                </c:pt>
                <c:pt idx="116">
                  <c:v>0025</c:v>
                </c:pt>
                <c:pt idx="117">
                  <c:v>0001</c:v>
                </c:pt>
                <c:pt idx="118">
                  <c:v>0024</c:v>
                </c:pt>
                <c:pt idx="119">
                  <c:v>0083</c:v>
                </c:pt>
                <c:pt idx="120">
                  <c:v>0010</c:v>
                </c:pt>
                <c:pt idx="121">
                  <c:v>0091</c:v>
                </c:pt>
                <c:pt idx="122">
                  <c:v>0143</c:v>
                </c:pt>
                <c:pt idx="123">
                  <c:v>0015</c:v>
                </c:pt>
                <c:pt idx="124">
                  <c:v>0042</c:v>
                </c:pt>
                <c:pt idx="125">
                  <c:v>0146</c:v>
                </c:pt>
                <c:pt idx="126">
                  <c:v>0075</c:v>
                </c:pt>
                <c:pt idx="127">
                  <c:v>0103</c:v>
                </c:pt>
                <c:pt idx="128">
                  <c:v>0020</c:v>
                </c:pt>
                <c:pt idx="129">
                  <c:v>0033</c:v>
                </c:pt>
                <c:pt idx="130">
                  <c:v>0016</c:v>
                </c:pt>
                <c:pt idx="131">
                  <c:v>0067</c:v>
                </c:pt>
                <c:pt idx="132">
                  <c:v>0061</c:v>
                </c:pt>
                <c:pt idx="133">
                  <c:v>0059</c:v>
                </c:pt>
                <c:pt idx="134">
                  <c:v>0022</c:v>
                </c:pt>
                <c:pt idx="135">
                  <c:v>0101</c:v>
                </c:pt>
                <c:pt idx="136">
                  <c:v>0081</c:v>
                </c:pt>
                <c:pt idx="137">
                  <c:v>0021</c:v>
                </c:pt>
                <c:pt idx="138">
                  <c:v>0011</c:v>
                </c:pt>
                <c:pt idx="139">
                  <c:v>0054</c:v>
                </c:pt>
                <c:pt idx="140">
                  <c:v>0023</c:v>
                </c:pt>
                <c:pt idx="141">
                  <c:v>0078</c:v>
                </c:pt>
                <c:pt idx="142">
                  <c:v>0050</c:v>
                </c:pt>
                <c:pt idx="143">
                  <c:v>0148</c:v>
                </c:pt>
                <c:pt idx="144">
                  <c:v>0041</c:v>
                </c:pt>
                <c:pt idx="145">
                  <c:v>0004</c:v>
                </c:pt>
                <c:pt idx="146">
                  <c:v>0144</c:v>
                </c:pt>
                <c:pt idx="147">
                  <c:v>0099</c:v>
                </c:pt>
                <c:pt idx="148">
                  <c:v>0140</c:v>
                </c:pt>
                <c:pt idx="149">
                  <c:v>0028</c:v>
                </c:pt>
              </c:strCache>
            </c:strRef>
          </c:cat>
          <c:val>
            <c:numRef>
              <c:f>Sheet1!$B$2:$B$151</c:f>
              <c:numCache>
                <c:formatCode>0.0</c:formatCode>
                <c:ptCount val="150"/>
                <c:pt idx="0">
                  <c:v>10.896000000000001</c:v>
                </c:pt>
                <c:pt idx="1">
                  <c:v>7.4409999999999998</c:v>
                </c:pt>
                <c:pt idx="2">
                  <c:v>5.9580000000000002</c:v>
                </c:pt>
                <c:pt idx="3">
                  <c:v>5.0810000000000004</c:v>
                </c:pt>
                <c:pt idx="4">
                  <c:v>4.5</c:v>
                </c:pt>
                <c:pt idx="5">
                  <c:v>4.07</c:v>
                </c:pt>
                <c:pt idx="6">
                  <c:v>3.7330000000000001</c:v>
                </c:pt>
                <c:pt idx="7">
                  <c:v>3.472</c:v>
                </c:pt>
                <c:pt idx="8">
                  <c:v>3.2530000000000001</c:v>
                </c:pt>
                <c:pt idx="9">
                  <c:v>3.0670000000000002</c:v>
                </c:pt>
                <c:pt idx="10">
                  <c:v>2.9159999999999999</c:v>
                </c:pt>
                <c:pt idx="11">
                  <c:v>2.7810000000000001</c:v>
                </c:pt>
                <c:pt idx="12">
                  <c:v>2.6539999999999999</c:v>
                </c:pt>
                <c:pt idx="13">
                  <c:v>2.5529999999999999</c:v>
                </c:pt>
                <c:pt idx="14">
                  <c:v>2.4609999999999999</c:v>
                </c:pt>
                <c:pt idx="15">
                  <c:v>2.3679999999999999</c:v>
                </c:pt>
                <c:pt idx="16">
                  <c:v>2.2919999999999998</c:v>
                </c:pt>
                <c:pt idx="17">
                  <c:v>2.2250000000000001</c:v>
                </c:pt>
                <c:pt idx="18">
                  <c:v>2.157</c:v>
                </c:pt>
                <c:pt idx="19">
                  <c:v>2.0979999999999999</c:v>
                </c:pt>
                <c:pt idx="20">
                  <c:v>2.0390000000000001</c:v>
                </c:pt>
                <c:pt idx="21">
                  <c:v>1.9890000000000001</c:v>
                </c:pt>
                <c:pt idx="22">
                  <c:v>1.2130000000000001</c:v>
                </c:pt>
                <c:pt idx="23">
                  <c:v>0.89300000000000002</c:v>
                </c:pt>
                <c:pt idx="24">
                  <c:v>0.75</c:v>
                </c:pt>
                <c:pt idx="25">
                  <c:v>0.65700000000000003</c:v>
                </c:pt>
                <c:pt idx="26">
                  <c:v>0.59</c:v>
                </c:pt>
                <c:pt idx="27">
                  <c:v>0.54800000000000004</c:v>
                </c:pt>
                <c:pt idx="28">
                  <c:v>0.50600000000000001</c:v>
                </c:pt>
                <c:pt idx="29">
                  <c:v>0.48</c:v>
                </c:pt>
                <c:pt idx="30">
                  <c:v>0.45500000000000002</c:v>
                </c:pt>
                <c:pt idx="31">
                  <c:v>0.438</c:v>
                </c:pt>
                <c:pt idx="32">
                  <c:v>0.41299999999999998</c:v>
                </c:pt>
                <c:pt idx="33">
                  <c:v>0.39600000000000002</c:v>
                </c:pt>
                <c:pt idx="34">
                  <c:v>0.38800000000000001</c:v>
                </c:pt>
                <c:pt idx="35">
                  <c:v>0.371</c:v>
                </c:pt>
                <c:pt idx="36">
                  <c:v>0.36199999999999999</c:v>
                </c:pt>
                <c:pt idx="37">
                  <c:v>0.35399999999999998</c:v>
                </c:pt>
                <c:pt idx="38">
                  <c:v>0.34499999999999997</c:v>
                </c:pt>
                <c:pt idx="39">
                  <c:v>0.33700000000000002</c:v>
                </c:pt>
                <c:pt idx="40">
                  <c:v>0.32900000000000001</c:v>
                </c:pt>
                <c:pt idx="41">
                  <c:v>0.32</c:v>
                </c:pt>
                <c:pt idx="42">
                  <c:v>0.312</c:v>
                </c:pt>
                <c:pt idx="43">
                  <c:v>0.30299999999999999</c:v>
                </c:pt>
                <c:pt idx="44">
                  <c:v>0.29499999999999998</c:v>
                </c:pt>
                <c:pt idx="45">
                  <c:v>0.29499999999999998</c:v>
                </c:pt>
                <c:pt idx="46">
                  <c:v>0.28699999999999998</c:v>
                </c:pt>
                <c:pt idx="47">
                  <c:v>0.28699999999999998</c:v>
                </c:pt>
                <c:pt idx="48">
                  <c:v>0.27800000000000002</c:v>
                </c:pt>
                <c:pt idx="49">
                  <c:v>0.27</c:v>
                </c:pt>
                <c:pt idx="50">
                  <c:v>0.27</c:v>
                </c:pt>
                <c:pt idx="51">
                  <c:v>0.26100000000000001</c:v>
                </c:pt>
                <c:pt idx="52">
                  <c:v>0.26100000000000001</c:v>
                </c:pt>
                <c:pt idx="53">
                  <c:v>0.26100000000000001</c:v>
                </c:pt>
                <c:pt idx="54">
                  <c:v>0.253</c:v>
                </c:pt>
                <c:pt idx="55">
                  <c:v>0.253</c:v>
                </c:pt>
                <c:pt idx="56">
                  <c:v>0.24399999999999999</c:v>
                </c:pt>
                <c:pt idx="57">
                  <c:v>0.24399999999999999</c:v>
                </c:pt>
                <c:pt idx="58">
                  <c:v>0.24399999999999999</c:v>
                </c:pt>
                <c:pt idx="59">
                  <c:v>0.23599999999999999</c:v>
                </c:pt>
                <c:pt idx="60">
                  <c:v>0.16900000000000001</c:v>
                </c:pt>
                <c:pt idx="61">
                  <c:v>0.14299999999999999</c:v>
                </c:pt>
                <c:pt idx="62">
                  <c:v>0.126</c:v>
                </c:pt>
                <c:pt idx="63">
                  <c:v>0.11</c:v>
                </c:pt>
                <c:pt idx="64">
                  <c:v>0.10100000000000001</c:v>
                </c:pt>
                <c:pt idx="65">
                  <c:v>9.2999999999999999E-2</c:v>
                </c:pt>
                <c:pt idx="66">
                  <c:v>9.2999999999999999E-2</c:v>
                </c:pt>
                <c:pt idx="67">
                  <c:v>8.4000000000000005E-2</c:v>
                </c:pt>
                <c:pt idx="68">
                  <c:v>8.4000000000000005E-2</c:v>
                </c:pt>
                <c:pt idx="69">
                  <c:v>8.4000000000000005E-2</c:v>
                </c:pt>
                <c:pt idx="70">
                  <c:v>7.5999999999999998E-2</c:v>
                </c:pt>
                <c:pt idx="71">
                  <c:v>7.5999999999999998E-2</c:v>
                </c:pt>
                <c:pt idx="72">
                  <c:v>7.5999999999999998E-2</c:v>
                </c:pt>
                <c:pt idx="73">
                  <c:v>6.7000000000000004E-2</c:v>
                </c:pt>
                <c:pt idx="74">
                  <c:v>6.7000000000000004E-2</c:v>
                </c:pt>
                <c:pt idx="75">
                  <c:v>6.7000000000000004E-2</c:v>
                </c:pt>
                <c:pt idx="76">
                  <c:v>6.7000000000000004E-2</c:v>
                </c:pt>
                <c:pt idx="77">
                  <c:v>6.7000000000000004E-2</c:v>
                </c:pt>
                <c:pt idx="78">
                  <c:v>6.7000000000000004E-2</c:v>
                </c:pt>
                <c:pt idx="79">
                  <c:v>5.8999999999999997E-2</c:v>
                </c:pt>
                <c:pt idx="80">
                  <c:v>5.8999999999999997E-2</c:v>
                </c:pt>
                <c:pt idx="81">
                  <c:v>5.8999999999999997E-2</c:v>
                </c:pt>
                <c:pt idx="82">
                  <c:v>5.8999999999999997E-2</c:v>
                </c:pt>
                <c:pt idx="83">
                  <c:v>5.8999999999999997E-2</c:v>
                </c:pt>
                <c:pt idx="84">
                  <c:v>5.8999999999999997E-2</c:v>
                </c:pt>
                <c:pt idx="85">
                  <c:v>5.8999999999999997E-2</c:v>
                </c:pt>
                <c:pt idx="86">
                  <c:v>5.8999999999999997E-2</c:v>
                </c:pt>
                <c:pt idx="87">
                  <c:v>5.8999999999999997E-2</c:v>
                </c:pt>
                <c:pt idx="88">
                  <c:v>5.8999999999999997E-2</c:v>
                </c:pt>
                <c:pt idx="89">
                  <c:v>5.0999999999999997E-2</c:v>
                </c:pt>
                <c:pt idx="90">
                  <c:v>5.0999999999999997E-2</c:v>
                </c:pt>
                <c:pt idx="91">
                  <c:v>5.0999999999999997E-2</c:v>
                </c:pt>
                <c:pt idx="92">
                  <c:v>5.0999999999999997E-2</c:v>
                </c:pt>
                <c:pt idx="93">
                  <c:v>5.0999999999999997E-2</c:v>
                </c:pt>
                <c:pt idx="94">
                  <c:v>5.0999999999999997E-2</c:v>
                </c:pt>
                <c:pt idx="95">
                  <c:v>5.0999999999999997E-2</c:v>
                </c:pt>
                <c:pt idx="96">
                  <c:v>5.0999999999999997E-2</c:v>
                </c:pt>
                <c:pt idx="97">
                  <c:v>5.0999999999999997E-2</c:v>
                </c:pt>
                <c:pt idx="98">
                  <c:v>5.0999999999999997E-2</c:v>
                </c:pt>
                <c:pt idx="99">
                  <c:v>5.0999999999999997E-2</c:v>
                </c:pt>
                <c:pt idx="100">
                  <c:v>5.0999999999999997E-2</c:v>
                </c:pt>
                <c:pt idx="101">
                  <c:v>5.0999999999999997E-2</c:v>
                </c:pt>
                <c:pt idx="102">
                  <c:v>5.0999999999999997E-2</c:v>
                </c:pt>
                <c:pt idx="103">
                  <c:v>5.0999999999999997E-2</c:v>
                </c:pt>
                <c:pt idx="104">
                  <c:v>5.0999999999999997E-2</c:v>
                </c:pt>
                <c:pt idx="105">
                  <c:v>5.0999999999999997E-2</c:v>
                </c:pt>
                <c:pt idx="106">
                  <c:v>5.0999999999999997E-2</c:v>
                </c:pt>
                <c:pt idx="107">
                  <c:v>5.0999999999999997E-2</c:v>
                </c:pt>
                <c:pt idx="108">
                  <c:v>4.2000000000000003E-2</c:v>
                </c:pt>
                <c:pt idx="109">
                  <c:v>4.2000000000000003E-2</c:v>
                </c:pt>
                <c:pt idx="110">
                  <c:v>4.2000000000000003E-2</c:v>
                </c:pt>
                <c:pt idx="111">
                  <c:v>4.2000000000000003E-2</c:v>
                </c:pt>
                <c:pt idx="112">
                  <c:v>4.2000000000000003E-2</c:v>
                </c:pt>
                <c:pt idx="113">
                  <c:v>4.2000000000000003E-2</c:v>
                </c:pt>
                <c:pt idx="114">
                  <c:v>4.2000000000000003E-2</c:v>
                </c:pt>
                <c:pt idx="115">
                  <c:v>4.2000000000000003E-2</c:v>
                </c:pt>
                <c:pt idx="116">
                  <c:v>4.2000000000000003E-2</c:v>
                </c:pt>
                <c:pt idx="117">
                  <c:v>4.2000000000000003E-2</c:v>
                </c:pt>
                <c:pt idx="118">
                  <c:v>4.2000000000000003E-2</c:v>
                </c:pt>
                <c:pt idx="119">
                  <c:v>4.2000000000000003E-2</c:v>
                </c:pt>
                <c:pt idx="120">
                  <c:v>4.2000000000000003E-2</c:v>
                </c:pt>
                <c:pt idx="121">
                  <c:v>4.2000000000000003E-2</c:v>
                </c:pt>
                <c:pt idx="122">
                  <c:v>4.2000000000000003E-2</c:v>
                </c:pt>
                <c:pt idx="123">
                  <c:v>4.2000000000000003E-2</c:v>
                </c:pt>
                <c:pt idx="124">
                  <c:v>4.2000000000000003E-2</c:v>
                </c:pt>
                <c:pt idx="125">
                  <c:v>4.2000000000000003E-2</c:v>
                </c:pt>
                <c:pt idx="126">
                  <c:v>4.2000000000000003E-2</c:v>
                </c:pt>
                <c:pt idx="127">
                  <c:v>4.2000000000000003E-2</c:v>
                </c:pt>
                <c:pt idx="128">
                  <c:v>4.2000000000000003E-2</c:v>
                </c:pt>
                <c:pt idx="129">
                  <c:v>4.2000000000000003E-2</c:v>
                </c:pt>
                <c:pt idx="130">
                  <c:v>4.2000000000000003E-2</c:v>
                </c:pt>
                <c:pt idx="131">
                  <c:v>4.2000000000000003E-2</c:v>
                </c:pt>
                <c:pt idx="132">
                  <c:v>4.2000000000000003E-2</c:v>
                </c:pt>
                <c:pt idx="133">
                  <c:v>4.2000000000000003E-2</c:v>
                </c:pt>
                <c:pt idx="134">
                  <c:v>4.2000000000000003E-2</c:v>
                </c:pt>
                <c:pt idx="135">
                  <c:v>4.2000000000000003E-2</c:v>
                </c:pt>
                <c:pt idx="136">
                  <c:v>4.2000000000000003E-2</c:v>
                </c:pt>
                <c:pt idx="137">
                  <c:v>4.2000000000000003E-2</c:v>
                </c:pt>
                <c:pt idx="138">
                  <c:v>4.2000000000000003E-2</c:v>
                </c:pt>
                <c:pt idx="139">
                  <c:v>4.2000000000000003E-2</c:v>
                </c:pt>
                <c:pt idx="140">
                  <c:v>4.2000000000000003E-2</c:v>
                </c:pt>
                <c:pt idx="141">
                  <c:v>4.2000000000000003E-2</c:v>
                </c:pt>
                <c:pt idx="142">
                  <c:v>4.2000000000000003E-2</c:v>
                </c:pt>
                <c:pt idx="143">
                  <c:v>4.2000000000000003E-2</c:v>
                </c:pt>
                <c:pt idx="144">
                  <c:v>4.2000000000000003E-2</c:v>
                </c:pt>
                <c:pt idx="145">
                  <c:v>3.4000000000000002E-2</c:v>
                </c:pt>
                <c:pt idx="146">
                  <c:v>3.4000000000000002E-2</c:v>
                </c:pt>
                <c:pt idx="147">
                  <c:v>3.4000000000000002E-2</c:v>
                </c:pt>
                <c:pt idx="148">
                  <c:v>3.4000000000000002E-2</c:v>
                </c:pt>
                <c:pt idx="149">
                  <c:v>3.4000000000000002E-2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CE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누적 물량비중(%)</c:v>
                </c:pt>
              </c:strCache>
            </c:strRef>
          </c:tx>
          <c:spPr>
            <a:ln w="25400">
              <a:solidFill>
                <a:srgbClr val="C99A2E"/>
              </a:solidFill>
            </a:ln>
          </c:spPr>
          <c:marker>
            <c:symbol val="circle"/>
            <c:size val="5"/>
            <c:spPr>
              <a:solidFill>
                <a:srgbClr val="C99A2E"/>
              </a:solidFill>
            </c:spPr>
          </c:marker>
          <c:cat>
            <c:strRef>
              <c:f>Sheet1!$A$2:$A$151</c:f>
              <c:strCache>
                <c:ptCount val="150"/>
                <c:pt idx="0">
                  <c:v>0002</c:v>
                </c:pt>
                <c:pt idx="1">
                  <c:v>0107</c:v>
                </c:pt>
                <c:pt idx="2">
                  <c:v>0138</c:v>
                </c:pt>
                <c:pt idx="3">
                  <c:v>0008</c:v>
                </c:pt>
                <c:pt idx="4">
                  <c:v>0113</c:v>
                </c:pt>
                <c:pt idx="5">
                  <c:v>0117</c:v>
                </c:pt>
                <c:pt idx="6">
                  <c:v>0017</c:v>
                </c:pt>
                <c:pt idx="7">
                  <c:v>0135</c:v>
                </c:pt>
                <c:pt idx="8">
                  <c:v>0127</c:v>
                </c:pt>
                <c:pt idx="9">
                  <c:v>0009</c:v>
                </c:pt>
                <c:pt idx="10">
                  <c:v>0027</c:v>
                </c:pt>
                <c:pt idx="11">
                  <c:v>0087</c:v>
                </c:pt>
                <c:pt idx="12">
                  <c:v>0040</c:v>
                </c:pt>
                <c:pt idx="13">
                  <c:v>0006</c:v>
                </c:pt>
                <c:pt idx="14">
                  <c:v>0102</c:v>
                </c:pt>
                <c:pt idx="15">
                  <c:v>0068</c:v>
                </c:pt>
                <c:pt idx="16">
                  <c:v>0114</c:v>
                </c:pt>
                <c:pt idx="17">
                  <c:v>0092</c:v>
                </c:pt>
                <c:pt idx="18">
                  <c:v>0132</c:v>
                </c:pt>
                <c:pt idx="19">
                  <c:v>0116</c:v>
                </c:pt>
                <c:pt idx="20">
                  <c:v>0097</c:v>
                </c:pt>
                <c:pt idx="21">
                  <c:v>0119</c:v>
                </c:pt>
                <c:pt idx="22">
                  <c:v>0012</c:v>
                </c:pt>
                <c:pt idx="23">
                  <c:v>0090</c:v>
                </c:pt>
                <c:pt idx="24">
                  <c:v>0115</c:v>
                </c:pt>
                <c:pt idx="25">
                  <c:v>0112</c:v>
                </c:pt>
                <c:pt idx="26">
                  <c:v>0026</c:v>
                </c:pt>
                <c:pt idx="27">
                  <c:v>0088</c:v>
                </c:pt>
                <c:pt idx="28">
                  <c:v>0032</c:v>
                </c:pt>
                <c:pt idx="29">
                  <c:v>0085</c:v>
                </c:pt>
                <c:pt idx="30">
                  <c:v>0007</c:v>
                </c:pt>
                <c:pt idx="31">
                  <c:v>0066</c:v>
                </c:pt>
                <c:pt idx="32">
                  <c:v>0031</c:v>
                </c:pt>
                <c:pt idx="33">
                  <c:v>0076</c:v>
                </c:pt>
                <c:pt idx="34">
                  <c:v>0084</c:v>
                </c:pt>
                <c:pt idx="35">
                  <c:v>0003</c:v>
                </c:pt>
                <c:pt idx="36">
                  <c:v>0058</c:v>
                </c:pt>
                <c:pt idx="37">
                  <c:v>0071</c:v>
                </c:pt>
                <c:pt idx="38">
                  <c:v>0095</c:v>
                </c:pt>
                <c:pt idx="39">
                  <c:v>0124</c:v>
                </c:pt>
                <c:pt idx="40">
                  <c:v>0056</c:v>
                </c:pt>
                <c:pt idx="41">
                  <c:v>0089</c:v>
                </c:pt>
                <c:pt idx="42">
                  <c:v>0128</c:v>
                </c:pt>
                <c:pt idx="43">
                  <c:v>0063</c:v>
                </c:pt>
                <c:pt idx="44">
                  <c:v>0137</c:v>
                </c:pt>
                <c:pt idx="45">
                  <c:v>0126</c:v>
                </c:pt>
                <c:pt idx="46">
                  <c:v>0147</c:v>
                </c:pt>
                <c:pt idx="47">
                  <c:v>0079</c:v>
                </c:pt>
                <c:pt idx="48">
                  <c:v>0110</c:v>
                </c:pt>
                <c:pt idx="49">
                  <c:v>0060</c:v>
                </c:pt>
                <c:pt idx="50">
                  <c:v>0149</c:v>
                </c:pt>
                <c:pt idx="51">
                  <c:v>0130</c:v>
                </c:pt>
                <c:pt idx="52">
                  <c:v>0030</c:v>
                </c:pt>
                <c:pt idx="53">
                  <c:v>0111</c:v>
                </c:pt>
                <c:pt idx="54">
                  <c:v>0018</c:v>
                </c:pt>
                <c:pt idx="55">
                  <c:v>0082</c:v>
                </c:pt>
                <c:pt idx="56">
                  <c:v>0118</c:v>
                </c:pt>
                <c:pt idx="57">
                  <c:v>0064</c:v>
                </c:pt>
                <c:pt idx="58">
                  <c:v>0057</c:v>
                </c:pt>
                <c:pt idx="59">
                  <c:v>0035</c:v>
                </c:pt>
                <c:pt idx="60">
                  <c:v>0034</c:v>
                </c:pt>
                <c:pt idx="61">
                  <c:v>0019</c:v>
                </c:pt>
                <c:pt idx="62">
                  <c:v>0038</c:v>
                </c:pt>
                <c:pt idx="63">
                  <c:v>0121</c:v>
                </c:pt>
                <c:pt idx="64">
                  <c:v>0053</c:v>
                </c:pt>
                <c:pt idx="65">
                  <c:v>0077</c:v>
                </c:pt>
                <c:pt idx="66">
                  <c:v>0051</c:v>
                </c:pt>
                <c:pt idx="67">
                  <c:v>0094</c:v>
                </c:pt>
                <c:pt idx="68">
                  <c:v>0142</c:v>
                </c:pt>
                <c:pt idx="69">
                  <c:v>0070</c:v>
                </c:pt>
                <c:pt idx="70">
                  <c:v>0044</c:v>
                </c:pt>
                <c:pt idx="71">
                  <c:v>0133</c:v>
                </c:pt>
                <c:pt idx="72">
                  <c:v>0005</c:v>
                </c:pt>
                <c:pt idx="73">
                  <c:v>0105</c:v>
                </c:pt>
                <c:pt idx="74">
                  <c:v>0100</c:v>
                </c:pt>
                <c:pt idx="75">
                  <c:v>0037</c:v>
                </c:pt>
                <c:pt idx="76">
                  <c:v>0043</c:v>
                </c:pt>
                <c:pt idx="77">
                  <c:v>0093</c:v>
                </c:pt>
                <c:pt idx="78">
                  <c:v>0072</c:v>
                </c:pt>
                <c:pt idx="79">
                  <c:v>0139</c:v>
                </c:pt>
                <c:pt idx="80">
                  <c:v>0080</c:v>
                </c:pt>
                <c:pt idx="81">
                  <c:v>0136</c:v>
                </c:pt>
                <c:pt idx="82">
                  <c:v>0123</c:v>
                </c:pt>
                <c:pt idx="83">
                  <c:v>0069</c:v>
                </c:pt>
                <c:pt idx="84">
                  <c:v>0125</c:v>
                </c:pt>
                <c:pt idx="85">
                  <c:v>0065</c:v>
                </c:pt>
                <c:pt idx="86">
                  <c:v>0120</c:v>
                </c:pt>
                <c:pt idx="87">
                  <c:v>0129</c:v>
                </c:pt>
                <c:pt idx="88">
                  <c:v>0074</c:v>
                </c:pt>
                <c:pt idx="89">
                  <c:v>0049</c:v>
                </c:pt>
                <c:pt idx="90">
                  <c:v>0029</c:v>
                </c:pt>
                <c:pt idx="91">
                  <c:v>0048</c:v>
                </c:pt>
                <c:pt idx="92">
                  <c:v>0046</c:v>
                </c:pt>
                <c:pt idx="93">
                  <c:v>0098</c:v>
                </c:pt>
                <c:pt idx="94">
                  <c:v>0039</c:v>
                </c:pt>
                <c:pt idx="95">
                  <c:v>0122</c:v>
                </c:pt>
                <c:pt idx="96">
                  <c:v>0096</c:v>
                </c:pt>
                <c:pt idx="97">
                  <c:v>0108</c:v>
                </c:pt>
                <c:pt idx="98">
                  <c:v>0086</c:v>
                </c:pt>
                <c:pt idx="99">
                  <c:v>0045</c:v>
                </c:pt>
                <c:pt idx="100">
                  <c:v>0036</c:v>
                </c:pt>
                <c:pt idx="101">
                  <c:v>0104</c:v>
                </c:pt>
                <c:pt idx="102">
                  <c:v>0109</c:v>
                </c:pt>
                <c:pt idx="103">
                  <c:v>0014</c:v>
                </c:pt>
                <c:pt idx="104">
                  <c:v>0013</c:v>
                </c:pt>
                <c:pt idx="105">
                  <c:v>0052</c:v>
                </c:pt>
                <c:pt idx="106">
                  <c:v>0141</c:v>
                </c:pt>
                <c:pt idx="107">
                  <c:v>0150</c:v>
                </c:pt>
                <c:pt idx="108">
                  <c:v>0055</c:v>
                </c:pt>
                <c:pt idx="109">
                  <c:v>0145</c:v>
                </c:pt>
                <c:pt idx="110">
                  <c:v>0062</c:v>
                </c:pt>
                <c:pt idx="111">
                  <c:v>0047</c:v>
                </c:pt>
                <c:pt idx="112">
                  <c:v>0134</c:v>
                </c:pt>
                <c:pt idx="113">
                  <c:v>0073</c:v>
                </c:pt>
                <c:pt idx="114">
                  <c:v>0131</c:v>
                </c:pt>
                <c:pt idx="115">
                  <c:v>0106</c:v>
                </c:pt>
                <c:pt idx="116">
                  <c:v>0025</c:v>
                </c:pt>
                <c:pt idx="117">
                  <c:v>0001</c:v>
                </c:pt>
                <c:pt idx="118">
                  <c:v>0024</c:v>
                </c:pt>
                <c:pt idx="119">
                  <c:v>0083</c:v>
                </c:pt>
                <c:pt idx="120">
                  <c:v>0010</c:v>
                </c:pt>
                <c:pt idx="121">
                  <c:v>0091</c:v>
                </c:pt>
                <c:pt idx="122">
                  <c:v>0143</c:v>
                </c:pt>
                <c:pt idx="123">
                  <c:v>0015</c:v>
                </c:pt>
                <c:pt idx="124">
                  <c:v>0042</c:v>
                </c:pt>
                <c:pt idx="125">
                  <c:v>0146</c:v>
                </c:pt>
                <c:pt idx="126">
                  <c:v>0075</c:v>
                </c:pt>
                <c:pt idx="127">
                  <c:v>0103</c:v>
                </c:pt>
                <c:pt idx="128">
                  <c:v>0020</c:v>
                </c:pt>
                <c:pt idx="129">
                  <c:v>0033</c:v>
                </c:pt>
                <c:pt idx="130">
                  <c:v>0016</c:v>
                </c:pt>
                <c:pt idx="131">
                  <c:v>0067</c:v>
                </c:pt>
                <c:pt idx="132">
                  <c:v>0061</c:v>
                </c:pt>
                <c:pt idx="133">
                  <c:v>0059</c:v>
                </c:pt>
                <c:pt idx="134">
                  <c:v>0022</c:v>
                </c:pt>
                <c:pt idx="135">
                  <c:v>0101</c:v>
                </c:pt>
                <c:pt idx="136">
                  <c:v>0081</c:v>
                </c:pt>
                <c:pt idx="137">
                  <c:v>0021</c:v>
                </c:pt>
                <c:pt idx="138">
                  <c:v>0011</c:v>
                </c:pt>
                <c:pt idx="139">
                  <c:v>0054</c:v>
                </c:pt>
                <c:pt idx="140">
                  <c:v>0023</c:v>
                </c:pt>
                <c:pt idx="141">
                  <c:v>0078</c:v>
                </c:pt>
                <c:pt idx="142">
                  <c:v>0050</c:v>
                </c:pt>
                <c:pt idx="143">
                  <c:v>0148</c:v>
                </c:pt>
                <c:pt idx="144">
                  <c:v>0041</c:v>
                </c:pt>
                <c:pt idx="145">
                  <c:v>0004</c:v>
                </c:pt>
                <c:pt idx="146">
                  <c:v>0144</c:v>
                </c:pt>
                <c:pt idx="147">
                  <c:v>0099</c:v>
                </c:pt>
                <c:pt idx="148">
                  <c:v>0140</c:v>
                </c:pt>
                <c:pt idx="149">
                  <c:v>0028</c:v>
                </c:pt>
              </c:strCache>
            </c:strRef>
          </c:cat>
          <c:val>
            <c:numRef>
              <c:f>Sheet1!$C$2:$C$151</c:f>
              <c:numCache>
                <c:formatCode>0.0</c:formatCode>
                <c:ptCount val="150"/>
                <c:pt idx="0">
                  <c:v>10.896000000000001</c:v>
                </c:pt>
                <c:pt idx="1">
                  <c:v>18.337</c:v>
                </c:pt>
                <c:pt idx="2">
                  <c:v>24.294</c:v>
                </c:pt>
                <c:pt idx="3">
                  <c:v>29.376000000000001</c:v>
                </c:pt>
                <c:pt idx="4">
                  <c:v>33.875</c:v>
                </c:pt>
                <c:pt idx="5">
                  <c:v>37.945999999999998</c:v>
                </c:pt>
                <c:pt idx="6">
                  <c:v>41.679000000000002</c:v>
                </c:pt>
                <c:pt idx="7">
                  <c:v>45.15</c:v>
                </c:pt>
                <c:pt idx="8">
                  <c:v>48.402999999999999</c:v>
                </c:pt>
                <c:pt idx="9">
                  <c:v>51.47</c:v>
                </c:pt>
                <c:pt idx="10">
                  <c:v>54.386000000000003</c:v>
                </c:pt>
                <c:pt idx="11">
                  <c:v>57.167000000000002</c:v>
                </c:pt>
                <c:pt idx="12">
                  <c:v>59.820999999999998</c:v>
                </c:pt>
                <c:pt idx="13">
                  <c:v>62.375</c:v>
                </c:pt>
                <c:pt idx="14">
                  <c:v>64.834999999999994</c:v>
                </c:pt>
                <c:pt idx="15">
                  <c:v>67.203000000000003</c:v>
                </c:pt>
                <c:pt idx="16">
                  <c:v>69.495000000000005</c:v>
                </c:pt>
                <c:pt idx="17">
                  <c:v>71.72</c:v>
                </c:pt>
                <c:pt idx="18">
                  <c:v>73.876999999999995</c:v>
                </c:pt>
                <c:pt idx="19">
                  <c:v>75.974999999999994</c:v>
                </c:pt>
                <c:pt idx="20">
                  <c:v>78.015000000000001</c:v>
                </c:pt>
                <c:pt idx="21">
                  <c:v>80.003</c:v>
                </c:pt>
                <c:pt idx="22">
                  <c:v>81.216999999999999</c:v>
                </c:pt>
                <c:pt idx="23">
                  <c:v>82.11</c:v>
                </c:pt>
                <c:pt idx="24">
                  <c:v>82.86</c:v>
                </c:pt>
                <c:pt idx="25">
                  <c:v>83.516999999999996</c:v>
                </c:pt>
                <c:pt idx="26">
                  <c:v>84.106999999999999</c:v>
                </c:pt>
                <c:pt idx="27">
                  <c:v>84.655000000000001</c:v>
                </c:pt>
                <c:pt idx="28">
                  <c:v>85.161000000000001</c:v>
                </c:pt>
                <c:pt idx="29">
                  <c:v>85.641000000000005</c:v>
                </c:pt>
                <c:pt idx="30">
                  <c:v>86.096000000000004</c:v>
                </c:pt>
                <c:pt idx="31">
                  <c:v>86.534000000000006</c:v>
                </c:pt>
                <c:pt idx="32">
                  <c:v>86.947000000000003</c:v>
                </c:pt>
                <c:pt idx="33">
                  <c:v>87.343000000000004</c:v>
                </c:pt>
                <c:pt idx="34">
                  <c:v>87.730999999999995</c:v>
                </c:pt>
                <c:pt idx="35">
                  <c:v>88.100999999999999</c:v>
                </c:pt>
                <c:pt idx="36">
                  <c:v>88.463999999999999</c:v>
                </c:pt>
                <c:pt idx="37">
                  <c:v>88.817999999999998</c:v>
                </c:pt>
                <c:pt idx="38">
                  <c:v>89.162999999999997</c:v>
                </c:pt>
                <c:pt idx="39">
                  <c:v>89.5</c:v>
                </c:pt>
                <c:pt idx="40">
                  <c:v>89.828999999999994</c:v>
                </c:pt>
                <c:pt idx="41">
                  <c:v>90.149000000000001</c:v>
                </c:pt>
                <c:pt idx="42">
                  <c:v>90.460999999999999</c:v>
                </c:pt>
                <c:pt idx="43">
                  <c:v>90.763999999999996</c:v>
                </c:pt>
                <c:pt idx="44">
                  <c:v>91.058999999999997</c:v>
                </c:pt>
                <c:pt idx="45">
                  <c:v>91.353999999999999</c:v>
                </c:pt>
                <c:pt idx="46">
                  <c:v>91.641000000000005</c:v>
                </c:pt>
                <c:pt idx="47">
                  <c:v>91.927000000000007</c:v>
                </c:pt>
                <c:pt idx="48">
                  <c:v>92.204999999999998</c:v>
                </c:pt>
                <c:pt idx="49">
                  <c:v>92.474999999999994</c:v>
                </c:pt>
                <c:pt idx="50">
                  <c:v>92.745000000000005</c:v>
                </c:pt>
                <c:pt idx="51">
                  <c:v>93.006</c:v>
                </c:pt>
                <c:pt idx="52">
                  <c:v>93.266999999999996</c:v>
                </c:pt>
                <c:pt idx="53">
                  <c:v>93.528000000000006</c:v>
                </c:pt>
                <c:pt idx="54">
                  <c:v>93.781000000000006</c:v>
                </c:pt>
                <c:pt idx="55">
                  <c:v>94.034000000000006</c:v>
                </c:pt>
                <c:pt idx="56">
                  <c:v>94.278000000000006</c:v>
                </c:pt>
                <c:pt idx="57">
                  <c:v>94.522999999999996</c:v>
                </c:pt>
                <c:pt idx="58">
                  <c:v>94.766999999999996</c:v>
                </c:pt>
                <c:pt idx="59">
                  <c:v>95.003</c:v>
                </c:pt>
                <c:pt idx="60">
                  <c:v>95.171000000000006</c:v>
                </c:pt>
                <c:pt idx="61">
                  <c:v>95.314999999999998</c:v>
                </c:pt>
                <c:pt idx="62">
                  <c:v>95.441000000000003</c:v>
                </c:pt>
                <c:pt idx="63">
                  <c:v>95.551000000000002</c:v>
                </c:pt>
                <c:pt idx="64">
                  <c:v>95.652000000000001</c:v>
                </c:pt>
                <c:pt idx="65">
                  <c:v>95.745000000000005</c:v>
                </c:pt>
                <c:pt idx="66">
                  <c:v>95.837000000000003</c:v>
                </c:pt>
                <c:pt idx="67">
                  <c:v>95.921000000000006</c:v>
                </c:pt>
                <c:pt idx="68">
                  <c:v>96.006</c:v>
                </c:pt>
                <c:pt idx="69">
                  <c:v>96.09</c:v>
                </c:pt>
                <c:pt idx="70">
                  <c:v>96.165999999999997</c:v>
                </c:pt>
                <c:pt idx="71">
                  <c:v>96.242000000000004</c:v>
                </c:pt>
                <c:pt idx="72">
                  <c:v>96.317999999999998</c:v>
                </c:pt>
                <c:pt idx="73">
                  <c:v>96.385000000000005</c:v>
                </c:pt>
                <c:pt idx="74">
                  <c:v>96.451999999999998</c:v>
                </c:pt>
                <c:pt idx="75">
                  <c:v>96.52</c:v>
                </c:pt>
                <c:pt idx="76">
                  <c:v>96.587000000000003</c:v>
                </c:pt>
                <c:pt idx="77">
                  <c:v>96.655000000000001</c:v>
                </c:pt>
                <c:pt idx="78">
                  <c:v>96.721999999999994</c:v>
                </c:pt>
                <c:pt idx="79">
                  <c:v>96.781000000000006</c:v>
                </c:pt>
                <c:pt idx="80">
                  <c:v>96.84</c:v>
                </c:pt>
                <c:pt idx="81">
                  <c:v>96.899000000000001</c:v>
                </c:pt>
                <c:pt idx="82">
                  <c:v>96.957999999999998</c:v>
                </c:pt>
                <c:pt idx="83">
                  <c:v>97.016999999999996</c:v>
                </c:pt>
                <c:pt idx="84">
                  <c:v>97.075999999999993</c:v>
                </c:pt>
                <c:pt idx="85">
                  <c:v>97.135000000000005</c:v>
                </c:pt>
                <c:pt idx="86">
                  <c:v>97.194000000000003</c:v>
                </c:pt>
                <c:pt idx="87">
                  <c:v>97.253</c:v>
                </c:pt>
                <c:pt idx="88">
                  <c:v>97.311999999999998</c:v>
                </c:pt>
                <c:pt idx="89">
                  <c:v>97.361999999999995</c:v>
                </c:pt>
                <c:pt idx="90">
                  <c:v>97.412999999999997</c:v>
                </c:pt>
                <c:pt idx="91">
                  <c:v>97.463999999999999</c:v>
                </c:pt>
                <c:pt idx="92">
                  <c:v>97.513999999999996</c:v>
                </c:pt>
                <c:pt idx="93">
                  <c:v>97.564999999999998</c:v>
                </c:pt>
                <c:pt idx="94">
                  <c:v>97.614999999999995</c:v>
                </c:pt>
                <c:pt idx="95">
                  <c:v>97.665999999999997</c:v>
                </c:pt>
                <c:pt idx="96">
                  <c:v>97.715999999999994</c:v>
                </c:pt>
                <c:pt idx="97">
                  <c:v>97.766999999999996</c:v>
                </c:pt>
                <c:pt idx="98">
                  <c:v>97.816999999999993</c:v>
                </c:pt>
                <c:pt idx="99">
                  <c:v>97.867999999999995</c:v>
                </c:pt>
                <c:pt idx="100">
                  <c:v>97.918999999999997</c:v>
                </c:pt>
                <c:pt idx="101">
                  <c:v>97.968999999999994</c:v>
                </c:pt>
                <c:pt idx="102">
                  <c:v>98.02</c:v>
                </c:pt>
                <c:pt idx="103">
                  <c:v>98.07</c:v>
                </c:pt>
                <c:pt idx="104">
                  <c:v>98.120999999999995</c:v>
                </c:pt>
                <c:pt idx="105">
                  <c:v>98.171000000000006</c:v>
                </c:pt>
                <c:pt idx="106">
                  <c:v>98.221999999999994</c:v>
                </c:pt>
                <c:pt idx="107">
                  <c:v>98.272999999999996</c:v>
                </c:pt>
                <c:pt idx="108">
                  <c:v>98.314999999999998</c:v>
                </c:pt>
                <c:pt idx="109">
                  <c:v>98.356999999999999</c:v>
                </c:pt>
                <c:pt idx="110">
                  <c:v>98.399000000000001</c:v>
                </c:pt>
                <c:pt idx="111">
                  <c:v>98.441000000000003</c:v>
                </c:pt>
                <c:pt idx="112">
                  <c:v>98.483000000000004</c:v>
                </c:pt>
                <c:pt idx="113">
                  <c:v>98.525000000000006</c:v>
                </c:pt>
                <c:pt idx="114">
                  <c:v>98.566999999999993</c:v>
                </c:pt>
                <c:pt idx="115">
                  <c:v>98.61</c:v>
                </c:pt>
                <c:pt idx="116">
                  <c:v>98.652000000000001</c:v>
                </c:pt>
                <c:pt idx="117">
                  <c:v>98.694000000000003</c:v>
                </c:pt>
                <c:pt idx="118">
                  <c:v>98.736000000000004</c:v>
                </c:pt>
                <c:pt idx="119">
                  <c:v>98.778000000000006</c:v>
                </c:pt>
                <c:pt idx="120">
                  <c:v>98.82</c:v>
                </c:pt>
                <c:pt idx="121">
                  <c:v>98.861999999999995</c:v>
                </c:pt>
                <c:pt idx="122">
                  <c:v>98.905000000000001</c:v>
                </c:pt>
                <c:pt idx="123">
                  <c:v>98.947000000000003</c:v>
                </c:pt>
                <c:pt idx="124">
                  <c:v>98.989000000000004</c:v>
                </c:pt>
                <c:pt idx="125">
                  <c:v>99.031000000000006</c:v>
                </c:pt>
                <c:pt idx="126">
                  <c:v>99.072999999999993</c:v>
                </c:pt>
                <c:pt idx="127">
                  <c:v>99.114999999999995</c:v>
                </c:pt>
                <c:pt idx="128">
                  <c:v>99.156999999999996</c:v>
                </c:pt>
                <c:pt idx="129">
                  <c:v>99.198999999999998</c:v>
                </c:pt>
                <c:pt idx="130">
                  <c:v>99.242000000000004</c:v>
                </c:pt>
                <c:pt idx="131">
                  <c:v>99.284000000000006</c:v>
                </c:pt>
                <c:pt idx="132">
                  <c:v>99.325999999999993</c:v>
                </c:pt>
                <c:pt idx="133">
                  <c:v>99.367999999999995</c:v>
                </c:pt>
                <c:pt idx="134">
                  <c:v>99.41</c:v>
                </c:pt>
                <c:pt idx="135">
                  <c:v>99.451999999999998</c:v>
                </c:pt>
                <c:pt idx="136">
                  <c:v>99.494</c:v>
                </c:pt>
                <c:pt idx="137">
                  <c:v>99.537000000000006</c:v>
                </c:pt>
                <c:pt idx="138">
                  <c:v>99.578999999999994</c:v>
                </c:pt>
                <c:pt idx="139">
                  <c:v>99.620999999999995</c:v>
                </c:pt>
                <c:pt idx="140">
                  <c:v>99.662999999999997</c:v>
                </c:pt>
                <c:pt idx="141">
                  <c:v>99.704999999999998</c:v>
                </c:pt>
                <c:pt idx="142">
                  <c:v>99.747</c:v>
                </c:pt>
                <c:pt idx="143">
                  <c:v>99.789000000000001</c:v>
                </c:pt>
                <c:pt idx="144">
                  <c:v>99.831000000000003</c:v>
                </c:pt>
                <c:pt idx="145">
                  <c:v>99.864999999999995</c:v>
                </c:pt>
                <c:pt idx="146">
                  <c:v>99.899000000000001</c:v>
                </c:pt>
                <c:pt idx="147">
                  <c:v>99.933000000000007</c:v>
                </c:pt>
                <c:pt idx="148">
                  <c:v>99.965999999999994</c:v>
                </c:pt>
                <c:pt idx="14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CF-8FBA-478D-BBE9-7A1D95C51A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80% 기준선</c:v>
                </c:pt>
              </c:strCache>
            </c:strRef>
          </c:tx>
          <c:spPr>
            <a:ln w="15875">
              <a:solidFill>
                <a:srgbClr val="8A8A8A"/>
              </a:solidFill>
              <a:prstDash val="dash"/>
            </a:ln>
          </c:spPr>
          <c:marker>
            <c:symbol val="none"/>
          </c:marker>
          <c:cat>
            <c:strRef>
              <c:f>Sheet1!$A$2:$A$151</c:f>
              <c:strCache>
                <c:ptCount val="150"/>
                <c:pt idx="0">
                  <c:v>0002</c:v>
                </c:pt>
                <c:pt idx="1">
                  <c:v>0107</c:v>
                </c:pt>
                <c:pt idx="2">
                  <c:v>0138</c:v>
                </c:pt>
                <c:pt idx="3">
                  <c:v>0008</c:v>
                </c:pt>
                <c:pt idx="4">
                  <c:v>0113</c:v>
                </c:pt>
                <c:pt idx="5">
                  <c:v>0117</c:v>
                </c:pt>
                <c:pt idx="6">
                  <c:v>0017</c:v>
                </c:pt>
                <c:pt idx="7">
                  <c:v>0135</c:v>
                </c:pt>
                <c:pt idx="8">
                  <c:v>0127</c:v>
                </c:pt>
                <c:pt idx="9">
                  <c:v>0009</c:v>
                </c:pt>
                <c:pt idx="10">
                  <c:v>0027</c:v>
                </c:pt>
                <c:pt idx="11">
                  <c:v>0087</c:v>
                </c:pt>
                <c:pt idx="12">
                  <c:v>0040</c:v>
                </c:pt>
                <c:pt idx="13">
                  <c:v>0006</c:v>
                </c:pt>
                <c:pt idx="14">
                  <c:v>0102</c:v>
                </c:pt>
                <c:pt idx="15">
                  <c:v>0068</c:v>
                </c:pt>
                <c:pt idx="16">
                  <c:v>0114</c:v>
                </c:pt>
                <c:pt idx="17">
                  <c:v>0092</c:v>
                </c:pt>
                <c:pt idx="18">
                  <c:v>0132</c:v>
                </c:pt>
                <c:pt idx="19">
                  <c:v>0116</c:v>
                </c:pt>
                <c:pt idx="20">
                  <c:v>0097</c:v>
                </c:pt>
                <c:pt idx="21">
                  <c:v>0119</c:v>
                </c:pt>
                <c:pt idx="22">
                  <c:v>0012</c:v>
                </c:pt>
                <c:pt idx="23">
                  <c:v>0090</c:v>
                </c:pt>
                <c:pt idx="24">
                  <c:v>0115</c:v>
                </c:pt>
                <c:pt idx="25">
                  <c:v>0112</c:v>
                </c:pt>
                <c:pt idx="26">
                  <c:v>0026</c:v>
                </c:pt>
                <c:pt idx="27">
                  <c:v>0088</c:v>
                </c:pt>
                <c:pt idx="28">
                  <c:v>0032</c:v>
                </c:pt>
                <c:pt idx="29">
                  <c:v>0085</c:v>
                </c:pt>
                <c:pt idx="30">
                  <c:v>0007</c:v>
                </c:pt>
                <c:pt idx="31">
                  <c:v>0066</c:v>
                </c:pt>
                <c:pt idx="32">
                  <c:v>0031</c:v>
                </c:pt>
                <c:pt idx="33">
                  <c:v>0076</c:v>
                </c:pt>
                <c:pt idx="34">
                  <c:v>0084</c:v>
                </c:pt>
                <c:pt idx="35">
                  <c:v>0003</c:v>
                </c:pt>
                <c:pt idx="36">
                  <c:v>0058</c:v>
                </c:pt>
                <c:pt idx="37">
                  <c:v>0071</c:v>
                </c:pt>
                <c:pt idx="38">
                  <c:v>0095</c:v>
                </c:pt>
                <c:pt idx="39">
                  <c:v>0124</c:v>
                </c:pt>
                <c:pt idx="40">
                  <c:v>0056</c:v>
                </c:pt>
                <c:pt idx="41">
                  <c:v>0089</c:v>
                </c:pt>
                <c:pt idx="42">
                  <c:v>0128</c:v>
                </c:pt>
                <c:pt idx="43">
                  <c:v>0063</c:v>
                </c:pt>
                <c:pt idx="44">
                  <c:v>0137</c:v>
                </c:pt>
                <c:pt idx="45">
                  <c:v>0126</c:v>
                </c:pt>
                <c:pt idx="46">
                  <c:v>0147</c:v>
                </c:pt>
                <c:pt idx="47">
                  <c:v>0079</c:v>
                </c:pt>
                <c:pt idx="48">
                  <c:v>0110</c:v>
                </c:pt>
                <c:pt idx="49">
                  <c:v>0060</c:v>
                </c:pt>
                <c:pt idx="50">
                  <c:v>0149</c:v>
                </c:pt>
                <c:pt idx="51">
                  <c:v>0130</c:v>
                </c:pt>
                <c:pt idx="52">
                  <c:v>0030</c:v>
                </c:pt>
                <c:pt idx="53">
                  <c:v>0111</c:v>
                </c:pt>
                <c:pt idx="54">
                  <c:v>0018</c:v>
                </c:pt>
                <c:pt idx="55">
                  <c:v>0082</c:v>
                </c:pt>
                <c:pt idx="56">
                  <c:v>0118</c:v>
                </c:pt>
                <c:pt idx="57">
                  <c:v>0064</c:v>
                </c:pt>
                <c:pt idx="58">
                  <c:v>0057</c:v>
                </c:pt>
                <c:pt idx="59">
                  <c:v>0035</c:v>
                </c:pt>
                <c:pt idx="60">
                  <c:v>0034</c:v>
                </c:pt>
                <c:pt idx="61">
                  <c:v>0019</c:v>
                </c:pt>
                <c:pt idx="62">
                  <c:v>0038</c:v>
                </c:pt>
                <c:pt idx="63">
                  <c:v>0121</c:v>
                </c:pt>
                <c:pt idx="64">
                  <c:v>0053</c:v>
                </c:pt>
                <c:pt idx="65">
                  <c:v>0077</c:v>
                </c:pt>
                <c:pt idx="66">
                  <c:v>0051</c:v>
                </c:pt>
                <c:pt idx="67">
                  <c:v>0094</c:v>
                </c:pt>
                <c:pt idx="68">
                  <c:v>0142</c:v>
                </c:pt>
                <c:pt idx="69">
                  <c:v>0070</c:v>
                </c:pt>
                <c:pt idx="70">
                  <c:v>0044</c:v>
                </c:pt>
                <c:pt idx="71">
                  <c:v>0133</c:v>
                </c:pt>
                <c:pt idx="72">
                  <c:v>0005</c:v>
                </c:pt>
                <c:pt idx="73">
                  <c:v>0105</c:v>
                </c:pt>
                <c:pt idx="74">
                  <c:v>0100</c:v>
                </c:pt>
                <c:pt idx="75">
                  <c:v>0037</c:v>
                </c:pt>
                <c:pt idx="76">
                  <c:v>0043</c:v>
                </c:pt>
                <c:pt idx="77">
                  <c:v>0093</c:v>
                </c:pt>
                <c:pt idx="78">
                  <c:v>0072</c:v>
                </c:pt>
                <c:pt idx="79">
                  <c:v>0139</c:v>
                </c:pt>
                <c:pt idx="80">
                  <c:v>0080</c:v>
                </c:pt>
                <c:pt idx="81">
                  <c:v>0136</c:v>
                </c:pt>
                <c:pt idx="82">
                  <c:v>0123</c:v>
                </c:pt>
                <c:pt idx="83">
                  <c:v>0069</c:v>
                </c:pt>
                <c:pt idx="84">
                  <c:v>0125</c:v>
                </c:pt>
                <c:pt idx="85">
                  <c:v>0065</c:v>
                </c:pt>
                <c:pt idx="86">
                  <c:v>0120</c:v>
                </c:pt>
                <c:pt idx="87">
                  <c:v>0129</c:v>
                </c:pt>
                <c:pt idx="88">
                  <c:v>0074</c:v>
                </c:pt>
                <c:pt idx="89">
                  <c:v>0049</c:v>
                </c:pt>
                <c:pt idx="90">
                  <c:v>0029</c:v>
                </c:pt>
                <c:pt idx="91">
                  <c:v>0048</c:v>
                </c:pt>
                <c:pt idx="92">
                  <c:v>0046</c:v>
                </c:pt>
                <c:pt idx="93">
                  <c:v>0098</c:v>
                </c:pt>
                <c:pt idx="94">
                  <c:v>0039</c:v>
                </c:pt>
                <c:pt idx="95">
                  <c:v>0122</c:v>
                </c:pt>
                <c:pt idx="96">
                  <c:v>0096</c:v>
                </c:pt>
                <c:pt idx="97">
                  <c:v>0108</c:v>
                </c:pt>
                <c:pt idx="98">
                  <c:v>0086</c:v>
                </c:pt>
                <c:pt idx="99">
                  <c:v>0045</c:v>
                </c:pt>
                <c:pt idx="100">
                  <c:v>0036</c:v>
                </c:pt>
                <c:pt idx="101">
                  <c:v>0104</c:v>
                </c:pt>
                <c:pt idx="102">
                  <c:v>0109</c:v>
                </c:pt>
                <c:pt idx="103">
                  <c:v>0014</c:v>
                </c:pt>
                <c:pt idx="104">
                  <c:v>0013</c:v>
                </c:pt>
                <c:pt idx="105">
                  <c:v>0052</c:v>
                </c:pt>
                <c:pt idx="106">
                  <c:v>0141</c:v>
                </c:pt>
                <c:pt idx="107">
                  <c:v>0150</c:v>
                </c:pt>
                <c:pt idx="108">
                  <c:v>0055</c:v>
                </c:pt>
                <c:pt idx="109">
                  <c:v>0145</c:v>
                </c:pt>
                <c:pt idx="110">
                  <c:v>0062</c:v>
                </c:pt>
                <c:pt idx="111">
                  <c:v>0047</c:v>
                </c:pt>
                <c:pt idx="112">
                  <c:v>0134</c:v>
                </c:pt>
                <c:pt idx="113">
                  <c:v>0073</c:v>
                </c:pt>
                <c:pt idx="114">
                  <c:v>0131</c:v>
                </c:pt>
                <c:pt idx="115">
                  <c:v>0106</c:v>
                </c:pt>
                <c:pt idx="116">
                  <c:v>0025</c:v>
                </c:pt>
                <c:pt idx="117">
                  <c:v>0001</c:v>
                </c:pt>
                <c:pt idx="118">
                  <c:v>0024</c:v>
                </c:pt>
                <c:pt idx="119">
                  <c:v>0083</c:v>
                </c:pt>
                <c:pt idx="120">
                  <c:v>0010</c:v>
                </c:pt>
                <c:pt idx="121">
                  <c:v>0091</c:v>
                </c:pt>
                <c:pt idx="122">
                  <c:v>0143</c:v>
                </c:pt>
                <c:pt idx="123">
                  <c:v>0015</c:v>
                </c:pt>
                <c:pt idx="124">
                  <c:v>0042</c:v>
                </c:pt>
                <c:pt idx="125">
                  <c:v>0146</c:v>
                </c:pt>
                <c:pt idx="126">
                  <c:v>0075</c:v>
                </c:pt>
                <c:pt idx="127">
                  <c:v>0103</c:v>
                </c:pt>
                <c:pt idx="128">
                  <c:v>0020</c:v>
                </c:pt>
                <c:pt idx="129">
                  <c:v>0033</c:v>
                </c:pt>
                <c:pt idx="130">
                  <c:v>0016</c:v>
                </c:pt>
                <c:pt idx="131">
                  <c:v>0067</c:v>
                </c:pt>
                <c:pt idx="132">
                  <c:v>0061</c:v>
                </c:pt>
                <c:pt idx="133">
                  <c:v>0059</c:v>
                </c:pt>
                <c:pt idx="134">
                  <c:v>0022</c:v>
                </c:pt>
                <c:pt idx="135">
                  <c:v>0101</c:v>
                </c:pt>
                <c:pt idx="136">
                  <c:v>0081</c:v>
                </c:pt>
                <c:pt idx="137">
                  <c:v>0021</c:v>
                </c:pt>
                <c:pt idx="138">
                  <c:v>0011</c:v>
                </c:pt>
                <c:pt idx="139">
                  <c:v>0054</c:v>
                </c:pt>
                <c:pt idx="140">
                  <c:v>0023</c:v>
                </c:pt>
                <c:pt idx="141">
                  <c:v>0078</c:v>
                </c:pt>
                <c:pt idx="142">
                  <c:v>0050</c:v>
                </c:pt>
                <c:pt idx="143">
                  <c:v>0148</c:v>
                </c:pt>
                <c:pt idx="144">
                  <c:v>0041</c:v>
                </c:pt>
                <c:pt idx="145">
                  <c:v>0004</c:v>
                </c:pt>
                <c:pt idx="146">
                  <c:v>0144</c:v>
                </c:pt>
                <c:pt idx="147">
                  <c:v>0099</c:v>
                </c:pt>
                <c:pt idx="148">
                  <c:v>0140</c:v>
                </c:pt>
                <c:pt idx="149">
                  <c:v>0028</c:v>
                </c:pt>
              </c:strCache>
            </c:strRef>
          </c:cat>
          <c:val>
            <c:numRef>
              <c:f>Sheet1!$D$2:$D$151</c:f>
              <c:numCache>
                <c:formatCode>0.0</c:formatCode>
                <c:ptCount val="150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  <c:pt idx="10">
                  <c:v>80</c:v>
                </c:pt>
                <c:pt idx="11">
                  <c:v>80</c:v>
                </c:pt>
                <c:pt idx="12">
                  <c:v>80</c:v>
                </c:pt>
                <c:pt idx="13">
                  <c:v>80</c:v>
                </c:pt>
                <c:pt idx="14">
                  <c:v>80</c:v>
                </c:pt>
                <c:pt idx="15">
                  <c:v>80</c:v>
                </c:pt>
                <c:pt idx="16">
                  <c:v>80</c:v>
                </c:pt>
                <c:pt idx="17">
                  <c:v>80</c:v>
                </c:pt>
                <c:pt idx="18">
                  <c:v>80</c:v>
                </c:pt>
                <c:pt idx="19">
                  <c:v>80</c:v>
                </c:pt>
                <c:pt idx="20">
                  <c:v>80</c:v>
                </c:pt>
                <c:pt idx="21">
                  <c:v>80</c:v>
                </c:pt>
                <c:pt idx="22">
                  <c:v>80</c:v>
                </c:pt>
                <c:pt idx="23">
                  <c:v>80</c:v>
                </c:pt>
                <c:pt idx="24">
                  <c:v>80</c:v>
                </c:pt>
                <c:pt idx="25">
                  <c:v>80</c:v>
                </c:pt>
                <c:pt idx="26">
                  <c:v>80</c:v>
                </c:pt>
                <c:pt idx="27">
                  <c:v>80</c:v>
                </c:pt>
                <c:pt idx="28">
                  <c:v>80</c:v>
                </c:pt>
                <c:pt idx="29">
                  <c:v>80</c:v>
                </c:pt>
                <c:pt idx="30">
                  <c:v>80</c:v>
                </c:pt>
                <c:pt idx="31">
                  <c:v>80</c:v>
                </c:pt>
                <c:pt idx="32">
                  <c:v>80</c:v>
                </c:pt>
                <c:pt idx="33">
                  <c:v>80</c:v>
                </c:pt>
                <c:pt idx="34">
                  <c:v>80</c:v>
                </c:pt>
                <c:pt idx="35">
                  <c:v>80</c:v>
                </c:pt>
                <c:pt idx="36">
                  <c:v>80</c:v>
                </c:pt>
                <c:pt idx="37">
                  <c:v>80</c:v>
                </c:pt>
                <c:pt idx="38">
                  <c:v>80</c:v>
                </c:pt>
                <c:pt idx="39">
                  <c:v>80</c:v>
                </c:pt>
                <c:pt idx="40">
                  <c:v>80</c:v>
                </c:pt>
                <c:pt idx="41">
                  <c:v>80</c:v>
                </c:pt>
                <c:pt idx="42">
                  <c:v>80</c:v>
                </c:pt>
                <c:pt idx="43">
                  <c:v>80</c:v>
                </c:pt>
                <c:pt idx="44">
                  <c:v>80</c:v>
                </c:pt>
                <c:pt idx="45">
                  <c:v>80</c:v>
                </c:pt>
                <c:pt idx="46">
                  <c:v>80</c:v>
                </c:pt>
                <c:pt idx="47">
                  <c:v>80</c:v>
                </c:pt>
                <c:pt idx="48">
                  <c:v>80</c:v>
                </c:pt>
                <c:pt idx="49">
                  <c:v>80</c:v>
                </c:pt>
                <c:pt idx="50">
                  <c:v>80</c:v>
                </c:pt>
                <c:pt idx="51">
                  <c:v>80</c:v>
                </c:pt>
                <c:pt idx="52">
                  <c:v>80</c:v>
                </c:pt>
                <c:pt idx="53">
                  <c:v>80</c:v>
                </c:pt>
                <c:pt idx="54">
                  <c:v>80</c:v>
                </c:pt>
                <c:pt idx="55">
                  <c:v>80</c:v>
                </c:pt>
                <c:pt idx="56">
                  <c:v>80</c:v>
                </c:pt>
                <c:pt idx="57">
                  <c:v>80</c:v>
                </c:pt>
                <c:pt idx="58">
                  <c:v>80</c:v>
                </c:pt>
                <c:pt idx="59">
                  <c:v>80</c:v>
                </c:pt>
                <c:pt idx="60">
                  <c:v>80</c:v>
                </c:pt>
                <c:pt idx="61">
                  <c:v>80</c:v>
                </c:pt>
                <c:pt idx="62">
                  <c:v>80</c:v>
                </c:pt>
                <c:pt idx="63">
                  <c:v>80</c:v>
                </c:pt>
                <c:pt idx="64">
                  <c:v>80</c:v>
                </c:pt>
                <c:pt idx="65">
                  <c:v>80</c:v>
                </c:pt>
                <c:pt idx="66">
                  <c:v>80</c:v>
                </c:pt>
                <c:pt idx="67">
                  <c:v>80</c:v>
                </c:pt>
                <c:pt idx="68">
                  <c:v>80</c:v>
                </c:pt>
                <c:pt idx="69">
                  <c:v>80</c:v>
                </c:pt>
                <c:pt idx="70">
                  <c:v>80</c:v>
                </c:pt>
                <c:pt idx="71">
                  <c:v>80</c:v>
                </c:pt>
                <c:pt idx="72">
                  <c:v>80</c:v>
                </c:pt>
                <c:pt idx="73">
                  <c:v>80</c:v>
                </c:pt>
                <c:pt idx="74">
                  <c:v>80</c:v>
                </c:pt>
                <c:pt idx="75">
                  <c:v>80</c:v>
                </c:pt>
                <c:pt idx="76">
                  <c:v>80</c:v>
                </c:pt>
                <c:pt idx="77">
                  <c:v>80</c:v>
                </c:pt>
                <c:pt idx="78">
                  <c:v>80</c:v>
                </c:pt>
                <c:pt idx="79">
                  <c:v>80</c:v>
                </c:pt>
                <c:pt idx="80">
                  <c:v>80</c:v>
                </c:pt>
                <c:pt idx="81">
                  <c:v>80</c:v>
                </c:pt>
                <c:pt idx="82">
                  <c:v>80</c:v>
                </c:pt>
                <c:pt idx="83">
                  <c:v>80</c:v>
                </c:pt>
                <c:pt idx="84">
                  <c:v>80</c:v>
                </c:pt>
                <c:pt idx="85">
                  <c:v>80</c:v>
                </c:pt>
                <c:pt idx="86">
                  <c:v>80</c:v>
                </c:pt>
                <c:pt idx="87">
                  <c:v>80</c:v>
                </c:pt>
                <c:pt idx="88">
                  <c:v>80</c:v>
                </c:pt>
                <c:pt idx="89">
                  <c:v>80</c:v>
                </c:pt>
                <c:pt idx="90">
                  <c:v>80</c:v>
                </c:pt>
                <c:pt idx="91">
                  <c:v>80</c:v>
                </c:pt>
                <c:pt idx="92">
                  <c:v>80</c:v>
                </c:pt>
                <c:pt idx="93">
                  <c:v>80</c:v>
                </c:pt>
                <c:pt idx="94">
                  <c:v>80</c:v>
                </c:pt>
                <c:pt idx="95">
                  <c:v>80</c:v>
                </c:pt>
                <c:pt idx="96">
                  <c:v>80</c:v>
                </c:pt>
                <c:pt idx="97">
                  <c:v>80</c:v>
                </c:pt>
                <c:pt idx="98">
                  <c:v>80</c:v>
                </c:pt>
                <c:pt idx="99">
                  <c:v>80</c:v>
                </c:pt>
                <c:pt idx="100">
                  <c:v>80</c:v>
                </c:pt>
                <c:pt idx="101">
                  <c:v>80</c:v>
                </c:pt>
                <c:pt idx="102">
                  <c:v>80</c:v>
                </c:pt>
                <c:pt idx="103">
                  <c:v>80</c:v>
                </c:pt>
                <c:pt idx="104">
                  <c:v>80</c:v>
                </c:pt>
                <c:pt idx="105">
                  <c:v>80</c:v>
                </c:pt>
                <c:pt idx="106">
                  <c:v>80</c:v>
                </c:pt>
                <c:pt idx="107">
                  <c:v>80</c:v>
                </c:pt>
                <c:pt idx="108">
                  <c:v>80</c:v>
                </c:pt>
                <c:pt idx="109">
                  <c:v>80</c:v>
                </c:pt>
                <c:pt idx="110">
                  <c:v>80</c:v>
                </c:pt>
                <c:pt idx="111">
                  <c:v>80</c:v>
                </c:pt>
                <c:pt idx="112">
                  <c:v>80</c:v>
                </c:pt>
                <c:pt idx="113">
                  <c:v>80</c:v>
                </c:pt>
                <c:pt idx="114">
                  <c:v>80</c:v>
                </c:pt>
                <c:pt idx="115">
                  <c:v>80</c:v>
                </c:pt>
                <c:pt idx="116">
                  <c:v>80</c:v>
                </c:pt>
                <c:pt idx="117">
                  <c:v>80</c:v>
                </c:pt>
                <c:pt idx="118">
                  <c:v>80</c:v>
                </c:pt>
                <c:pt idx="119">
                  <c:v>80</c:v>
                </c:pt>
                <c:pt idx="120">
                  <c:v>80</c:v>
                </c:pt>
                <c:pt idx="121">
                  <c:v>80</c:v>
                </c:pt>
                <c:pt idx="122">
                  <c:v>80</c:v>
                </c:pt>
                <c:pt idx="123">
                  <c:v>80</c:v>
                </c:pt>
                <c:pt idx="124">
                  <c:v>80</c:v>
                </c:pt>
                <c:pt idx="125">
                  <c:v>80</c:v>
                </c:pt>
                <c:pt idx="126">
                  <c:v>80</c:v>
                </c:pt>
                <c:pt idx="127">
                  <c:v>80</c:v>
                </c:pt>
                <c:pt idx="128">
                  <c:v>80</c:v>
                </c:pt>
                <c:pt idx="129">
                  <c:v>80</c:v>
                </c:pt>
                <c:pt idx="130">
                  <c:v>80</c:v>
                </c:pt>
                <c:pt idx="131">
                  <c:v>80</c:v>
                </c:pt>
                <c:pt idx="132">
                  <c:v>80</c:v>
                </c:pt>
                <c:pt idx="133">
                  <c:v>80</c:v>
                </c:pt>
                <c:pt idx="134">
                  <c:v>80</c:v>
                </c:pt>
                <c:pt idx="135">
                  <c:v>80</c:v>
                </c:pt>
                <c:pt idx="136">
                  <c:v>80</c:v>
                </c:pt>
                <c:pt idx="137">
                  <c:v>80</c:v>
                </c:pt>
                <c:pt idx="138">
                  <c:v>80</c:v>
                </c:pt>
                <c:pt idx="139">
                  <c:v>80</c:v>
                </c:pt>
                <c:pt idx="140">
                  <c:v>80</c:v>
                </c:pt>
                <c:pt idx="141">
                  <c:v>80</c:v>
                </c:pt>
                <c:pt idx="142">
                  <c:v>80</c:v>
                </c:pt>
                <c:pt idx="143">
                  <c:v>80</c:v>
                </c:pt>
                <c:pt idx="144">
                  <c:v>80</c:v>
                </c:pt>
                <c:pt idx="145">
                  <c:v>80</c:v>
                </c:pt>
                <c:pt idx="146">
                  <c:v>80</c:v>
                </c:pt>
                <c:pt idx="147">
                  <c:v>80</c:v>
                </c:pt>
                <c:pt idx="148">
                  <c:v>80</c:v>
                </c:pt>
                <c:pt idx="149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D0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4"/>
        <c:axId val="-2068027335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  <c:valAx>
        <c:axId val="-2068027335"/>
        <c:scaling>
          <c:orientation val="minMax"/>
          <c:max val="100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068027334"/>
        <c:crosses val="max"/>
        <c:crossBetween val="between"/>
      </c:valAx>
      <c:catAx>
        <c:axId val="-206802733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-2068027335"/>
        <c:crosses val="autoZero"/>
        <c:auto val="1"/>
        <c:lblAlgn val="ctr"/>
        <c:lblOffset val="100"/>
        <c:tickLblSkip val="10"/>
        <c:tickMarkSkip val="10"/>
        <c:noMultiLvlLbl val="1"/>
      </c:catAx>
    </c:plotArea>
    <c:legend>
      <c:legendPos val="b"/>
      <c:overlay val="0"/>
      <c:txPr>
        <a:bodyPr/>
        <a:lstStyle/>
        <a:p>
          <a:pPr>
            <a:defRPr sz="12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거래처별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파레토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1,835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5F0-4142-B8BE-E89E336B78A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1,727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5F0-4142-B8BE-E89E336B78A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1,445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5F0-4142-B8BE-E89E336B78A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1,278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5F0-4142-B8BE-E89E336B78A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1,150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5F0-4142-B8BE-E89E336B78A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1,138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5F0-4142-B8BE-E89E336B78A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5F0-4142-B8BE-E89E336B78A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801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5F0-4142-B8BE-E89E336B78A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5F0-4142-B8BE-E89E336B78AC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5F0-4142-B8BE-E89E336B78A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1835</c:v>
                </c:pt>
                <c:pt idx="1">
                  <c:v>1727</c:v>
                </c:pt>
                <c:pt idx="2">
                  <c:v>1445</c:v>
                </c:pt>
                <c:pt idx="3">
                  <c:v>1278</c:v>
                </c:pt>
                <c:pt idx="4">
                  <c:v>1150</c:v>
                </c:pt>
                <c:pt idx="5">
                  <c:v>1138</c:v>
                </c:pt>
                <c:pt idx="6">
                  <c:v>932</c:v>
                </c:pt>
                <c:pt idx="7">
                  <c:v>801</c:v>
                </c:pt>
                <c:pt idx="8">
                  <c:v>789</c:v>
                </c:pt>
                <c:pt idx="9">
                  <c:v>772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65F0-4142-B8BE-E89E336B7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0.155</c:v>
                </c:pt>
                <c:pt idx="1">
                  <c:v>0.3</c:v>
                </c:pt>
                <c:pt idx="2">
                  <c:v>0.42200000000000004</c:v>
                </c:pt>
                <c:pt idx="3">
                  <c:v>0.53</c:v>
                </c:pt>
                <c:pt idx="4">
                  <c:v>0.627</c:v>
                </c:pt>
                <c:pt idx="5">
                  <c:v>0.72199999999999998</c:v>
                </c:pt>
                <c:pt idx="6">
                  <c:v>0.80099999999999993</c:v>
                </c:pt>
                <c:pt idx="7">
                  <c:v>0.86799999999999999</c:v>
                </c:pt>
                <c:pt idx="8">
                  <c:v>0.93500000000000005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65F0-4142-B8BE-E89E336B7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37.000000000000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"/>
          <c:min val="-1.7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출고수량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오류율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 -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평균 초과 표시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4987</c:v>
                </c:pt>
                <c:pt idx="1">
                  <c:v>4712</c:v>
                </c:pt>
                <c:pt idx="2">
                  <c:v>4004</c:v>
                </c:pt>
                <c:pt idx="3">
                  <c:v>3518</c:v>
                </c:pt>
                <c:pt idx="4">
                  <c:v>3184</c:v>
                </c:pt>
                <c:pt idx="5">
                  <c:v>2983</c:v>
                </c:pt>
                <c:pt idx="6">
                  <c:v>2533</c:v>
                </c:pt>
                <c:pt idx="7">
                  <c:v>2150</c:v>
                </c:pt>
                <c:pt idx="8">
                  <c:v>2210</c:v>
                </c:pt>
                <c:pt idx="9">
                  <c:v>2072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B92-4189-B620-0B76DA41E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오류율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3.5%(50)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B92-4189-B620-0B76DA41E29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2.5%(20)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B92-4189-B620-0B76DA41E29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2.2%(17)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B92-4189-B620-0B76DA41E2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1.9E-2</c:v>
                </c:pt>
                <c:pt idx="1">
                  <c:v>1.1000000000000001E-2</c:v>
                </c:pt>
                <c:pt idx="2">
                  <c:v>3.5000000000000003E-2</c:v>
                </c:pt>
                <c:pt idx="3">
                  <c:v>0.02</c:v>
                </c:pt>
                <c:pt idx="4">
                  <c:v>1.8000000000000002E-2</c:v>
                </c:pt>
                <c:pt idx="5">
                  <c:v>0.02</c:v>
                </c:pt>
                <c:pt idx="6">
                  <c:v>1.6E-2</c:v>
                </c:pt>
                <c:pt idx="7">
                  <c:v>1.6E-2</c:v>
                </c:pt>
                <c:pt idx="8">
                  <c:v>2.5000000000000001E-2</c:v>
                </c:pt>
                <c:pt idx="9">
                  <c:v>2.2000000000000002E-2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B92-4189-B620-0B76DA41E2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 2.0%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0.02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  <c:pt idx="6">
                  <c:v>0.02</c:v>
                </c:pt>
                <c:pt idx="7">
                  <c:v>0.02</c:v>
                </c:pt>
                <c:pt idx="8">
                  <c:v>0.02</c:v>
                </c:pt>
                <c:pt idx="9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B92-4189-B620-0B76DA41E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971.400000000001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5.6000000000000008E-2"/>
          <c:min val="-3.1500000000000007E-2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출고오류 유형별 건수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72 (30.3%)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306-4DBF-84AF-85438C3CE43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58 (24.4%)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306-4DBF-84AF-85438C3CE43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37 (15.5%)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306-4DBF-84AF-85438C3CE43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33 (13.9%)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306-4DBF-84AF-85438C3CE43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21 (8.8%)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306-4DBF-84AF-85438C3CE43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17 (7.1%)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306-4DBF-84AF-85438C3CE43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오피킹</c:v>
                </c:pt>
                <c:pt idx="1">
                  <c:v>수량오류</c:v>
                </c:pt>
                <c:pt idx="2">
                  <c:v>파손</c:v>
                </c:pt>
                <c:pt idx="3">
                  <c:v>라벨·송장오류</c:v>
                </c:pt>
                <c:pt idx="4">
                  <c:v>배송지오류</c:v>
                </c:pt>
                <c:pt idx="5">
                  <c:v>결품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58</c:v>
                </c:pt>
                <c:pt idx="2">
                  <c:v>37</c:v>
                </c:pt>
                <c:pt idx="3">
                  <c:v>33</c:v>
                </c:pt>
                <c:pt idx="4">
                  <c:v>21</c:v>
                </c:pt>
                <c:pt idx="5">
                  <c:v>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F306-4DBF-84AF-85438C3CE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3.60000000000000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15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 일별 출고 라인수와 피킹 처리능력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월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1~31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15시 일별 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2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26E-42D9-993E-5B712DE56A41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26E-42D9-993E-5B712DE56A4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77</c:v>
                </c:pt>
                <c:pt idx="1">
                  <c:v>73</c:v>
                </c:pt>
                <c:pt idx="2">
                  <c:v>31</c:v>
                </c:pt>
                <c:pt idx="3">
                  <c:v>111</c:v>
                </c:pt>
                <c:pt idx="4">
                  <c:v>57</c:v>
                </c:pt>
                <c:pt idx="5">
                  <c:v>57</c:v>
                </c:pt>
                <c:pt idx="6">
                  <c:v>80</c:v>
                </c:pt>
                <c:pt idx="7">
                  <c:v>88</c:v>
                </c:pt>
                <c:pt idx="8">
                  <c:v>69</c:v>
                </c:pt>
                <c:pt idx="9">
                  <c:v>40</c:v>
                </c:pt>
                <c:pt idx="10">
                  <c:v>76</c:v>
                </c:pt>
                <c:pt idx="11">
                  <c:v>83</c:v>
                </c:pt>
                <c:pt idx="12">
                  <c:v>69</c:v>
                </c:pt>
                <c:pt idx="13">
                  <c:v>62</c:v>
                </c:pt>
                <c:pt idx="14">
                  <c:v>84</c:v>
                </c:pt>
                <c:pt idx="15">
                  <c:v>57</c:v>
                </c:pt>
                <c:pt idx="16">
                  <c:v>42</c:v>
                </c:pt>
                <c:pt idx="17">
                  <c:v>81</c:v>
                </c:pt>
                <c:pt idx="18">
                  <c:v>68</c:v>
                </c:pt>
                <c:pt idx="19">
                  <c:v>125</c:v>
                </c:pt>
                <c:pt idx="20">
                  <c:v>71</c:v>
                </c:pt>
                <c:pt idx="21">
                  <c:v>128</c:v>
                </c:pt>
                <c:pt idx="22">
                  <c:v>116</c:v>
                </c:pt>
                <c:pt idx="23">
                  <c:v>93</c:v>
                </c:pt>
                <c:pt idx="24">
                  <c:v>101</c:v>
                </c:pt>
                <c:pt idx="25">
                  <c:v>41</c:v>
                </c:pt>
                <c:pt idx="26">
                  <c:v>24</c:v>
                </c:pt>
                <c:pt idx="27">
                  <c:v>57</c:v>
                </c:pt>
                <c:pt idx="28">
                  <c:v>69</c:v>
                </c:pt>
                <c:pt idx="29">
                  <c:v>68</c:v>
                </c:pt>
                <c:pt idx="30">
                  <c:v>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26E-42D9-993E-5B712DE56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평균 73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72.8</c:v>
                </c:pt>
                <c:pt idx="1">
                  <c:v>72.8</c:v>
                </c:pt>
                <c:pt idx="2">
                  <c:v>72.8</c:v>
                </c:pt>
                <c:pt idx="3">
                  <c:v>72.8</c:v>
                </c:pt>
                <c:pt idx="4">
                  <c:v>72.8</c:v>
                </c:pt>
                <c:pt idx="5">
                  <c:v>72.8</c:v>
                </c:pt>
                <c:pt idx="6">
                  <c:v>72.8</c:v>
                </c:pt>
                <c:pt idx="7">
                  <c:v>72.8</c:v>
                </c:pt>
                <c:pt idx="8">
                  <c:v>72.8</c:v>
                </c:pt>
                <c:pt idx="9">
                  <c:v>72.8</c:v>
                </c:pt>
                <c:pt idx="10">
                  <c:v>72.8</c:v>
                </c:pt>
                <c:pt idx="11">
                  <c:v>72.8</c:v>
                </c:pt>
                <c:pt idx="12">
                  <c:v>72.8</c:v>
                </c:pt>
                <c:pt idx="13">
                  <c:v>72.8</c:v>
                </c:pt>
                <c:pt idx="14">
                  <c:v>72.8</c:v>
                </c:pt>
                <c:pt idx="15">
                  <c:v>72.8</c:v>
                </c:pt>
                <c:pt idx="16">
                  <c:v>72.8</c:v>
                </c:pt>
                <c:pt idx="17">
                  <c:v>72.8</c:v>
                </c:pt>
                <c:pt idx="18">
                  <c:v>72.8</c:v>
                </c:pt>
                <c:pt idx="19">
                  <c:v>72.8</c:v>
                </c:pt>
                <c:pt idx="20">
                  <c:v>72.8</c:v>
                </c:pt>
                <c:pt idx="21">
                  <c:v>72.8</c:v>
                </c:pt>
                <c:pt idx="22">
                  <c:v>72.8</c:v>
                </c:pt>
                <c:pt idx="23">
                  <c:v>72.8</c:v>
                </c:pt>
                <c:pt idx="24">
                  <c:v>72.8</c:v>
                </c:pt>
                <c:pt idx="25">
                  <c:v>72.8</c:v>
                </c:pt>
                <c:pt idx="26">
                  <c:v>72.8</c:v>
                </c:pt>
                <c:pt idx="27">
                  <c:v>72.8</c:v>
                </c:pt>
                <c:pt idx="28">
                  <c:v>72.8</c:v>
                </c:pt>
                <c:pt idx="29">
                  <c:v>72.8</c:v>
                </c:pt>
                <c:pt idx="30">
                  <c:v>72.8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26E-42D9-993E-5B712DE56A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P85 97</c:v>
                </c:pt>
              </c:strCache>
            </c:strRef>
          </c:tx>
          <c:spPr>
            <a:ln w="22225">
              <a:solidFill>
                <a:srgbClr val="C99A2E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97</c:v>
                </c:pt>
                <c:pt idx="1">
                  <c:v>97</c:v>
                </c:pt>
                <c:pt idx="2">
                  <c:v>97</c:v>
                </c:pt>
                <c:pt idx="3">
                  <c:v>97</c:v>
                </c:pt>
                <c:pt idx="4">
                  <c:v>97</c:v>
                </c:pt>
                <c:pt idx="5">
                  <c:v>97</c:v>
                </c:pt>
                <c:pt idx="6">
                  <c:v>97</c:v>
                </c:pt>
                <c:pt idx="7">
                  <c:v>97</c:v>
                </c:pt>
                <c:pt idx="8">
                  <c:v>97</c:v>
                </c:pt>
                <c:pt idx="9">
                  <c:v>97</c:v>
                </c:pt>
                <c:pt idx="10">
                  <c:v>97</c:v>
                </c:pt>
                <c:pt idx="11">
                  <c:v>97</c:v>
                </c:pt>
                <c:pt idx="12">
                  <c:v>97</c:v>
                </c:pt>
                <c:pt idx="13">
                  <c:v>97</c:v>
                </c:pt>
                <c:pt idx="14">
                  <c:v>97</c:v>
                </c:pt>
                <c:pt idx="15">
                  <c:v>97</c:v>
                </c:pt>
                <c:pt idx="16">
                  <c:v>97</c:v>
                </c:pt>
                <c:pt idx="17">
                  <c:v>97</c:v>
                </c:pt>
                <c:pt idx="18">
                  <c:v>97</c:v>
                </c:pt>
                <c:pt idx="19">
                  <c:v>97</c:v>
                </c:pt>
                <c:pt idx="20">
                  <c:v>97</c:v>
                </c:pt>
                <c:pt idx="21">
                  <c:v>97</c:v>
                </c:pt>
                <c:pt idx="22">
                  <c:v>97</c:v>
                </c:pt>
                <c:pt idx="23">
                  <c:v>97</c:v>
                </c:pt>
                <c:pt idx="24">
                  <c:v>97</c:v>
                </c:pt>
                <c:pt idx="25">
                  <c:v>97</c:v>
                </c:pt>
                <c:pt idx="26">
                  <c:v>97</c:v>
                </c:pt>
                <c:pt idx="27">
                  <c:v>97</c:v>
                </c:pt>
                <c:pt idx="28">
                  <c:v>97</c:v>
                </c:pt>
                <c:pt idx="29">
                  <c:v>97</c:v>
                </c:pt>
                <c:pt idx="30">
                  <c:v>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26E-42D9-993E-5B712DE56A4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P90 111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111</c:v>
                </c:pt>
                <c:pt idx="1">
                  <c:v>111</c:v>
                </c:pt>
                <c:pt idx="2">
                  <c:v>111</c:v>
                </c:pt>
                <c:pt idx="3">
                  <c:v>111</c:v>
                </c:pt>
                <c:pt idx="4">
                  <c:v>111</c:v>
                </c:pt>
                <c:pt idx="5">
                  <c:v>111</c:v>
                </c:pt>
                <c:pt idx="6">
                  <c:v>111</c:v>
                </c:pt>
                <c:pt idx="7">
                  <c:v>111</c:v>
                </c:pt>
                <c:pt idx="8">
                  <c:v>111</c:v>
                </c:pt>
                <c:pt idx="9">
                  <c:v>111</c:v>
                </c:pt>
                <c:pt idx="10">
                  <c:v>111</c:v>
                </c:pt>
                <c:pt idx="11">
                  <c:v>111</c:v>
                </c:pt>
                <c:pt idx="12">
                  <c:v>111</c:v>
                </c:pt>
                <c:pt idx="13">
                  <c:v>111</c:v>
                </c:pt>
                <c:pt idx="14">
                  <c:v>111</c:v>
                </c:pt>
                <c:pt idx="15">
                  <c:v>111</c:v>
                </c:pt>
                <c:pt idx="16">
                  <c:v>111</c:v>
                </c:pt>
                <c:pt idx="17">
                  <c:v>111</c:v>
                </c:pt>
                <c:pt idx="18">
                  <c:v>111</c:v>
                </c:pt>
                <c:pt idx="19">
                  <c:v>111</c:v>
                </c:pt>
                <c:pt idx="20">
                  <c:v>111</c:v>
                </c:pt>
                <c:pt idx="21">
                  <c:v>111</c:v>
                </c:pt>
                <c:pt idx="22">
                  <c:v>111</c:v>
                </c:pt>
                <c:pt idx="23">
                  <c:v>111</c:v>
                </c:pt>
                <c:pt idx="24">
                  <c:v>111</c:v>
                </c:pt>
                <c:pt idx="25">
                  <c:v>111</c:v>
                </c:pt>
                <c:pt idx="26">
                  <c:v>111</c:v>
                </c:pt>
                <c:pt idx="27">
                  <c:v>111</c:v>
                </c:pt>
                <c:pt idx="28">
                  <c:v>111</c:v>
                </c:pt>
                <c:pt idx="29">
                  <c:v>111</c:v>
                </c:pt>
                <c:pt idx="30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26E-42D9-993E-5B712DE56A4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Effective 370/시간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370</c:v>
                </c:pt>
                <c:pt idx="1">
                  <c:v>370</c:v>
                </c:pt>
                <c:pt idx="2">
                  <c:v>370</c:v>
                </c:pt>
                <c:pt idx="3">
                  <c:v>370</c:v>
                </c:pt>
                <c:pt idx="4">
                  <c:v>370</c:v>
                </c:pt>
                <c:pt idx="5">
                  <c:v>370</c:v>
                </c:pt>
                <c:pt idx="6">
                  <c:v>370</c:v>
                </c:pt>
                <c:pt idx="7">
                  <c:v>370</c:v>
                </c:pt>
                <c:pt idx="8">
                  <c:v>370</c:v>
                </c:pt>
                <c:pt idx="9">
                  <c:v>370</c:v>
                </c:pt>
                <c:pt idx="10">
                  <c:v>370</c:v>
                </c:pt>
                <c:pt idx="11">
                  <c:v>370</c:v>
                </c:pt>
                <c:pt idx="12">
                  <c:v>370</c:v>
                </c:pt>
                <c:pt idx="13">
                  <c:v>370</c:v>
                </c:pt>
                <c:pt idx="14">
                  <c:v>370</c:v>
                </c:pt>
                <c:pt idx="15">
                  <c:v>370</c:v>
                </c:pt>
                <c:pt idx="16">
                  <c:v>370</c:v>
                </c:pt>
                <c:pt idx="17">
                  <c:v>370</c:v>
                </c:pt>
                <c:pt idx="18">
                  <c:v>370</c:v>
                </c:pt>
                <c:pt idx="19">
                  <c:v>370</c:v>
                </c:pt>
                <c:pt idx="20">
                  <c:v>370</c:v>
                </c:pt>
                <c:pt idx="21">
                  <c:v>370</c:v>
                </c:pt>
                <c:pt idx="22">
                  <c:v>370</c:v>
                </c:pt>
                <c:pt idx="23">
                  <c:v>370</c:v>
                </c:pt>
                <c:pt idx="24">
                  <c:v>370</c:v>
                </c:pt>
                <c:pt idx="25">
                  <c:v>370</c:v>
                </c:pt>
                <c:pt idx="26">
                  <c:v>370</c:v>
                </c:pt>
                <c:pt idx="27">
                  <c:v>370</c:v>
                </c:pt>
                <c:pt idx="28">
                  <c:v>370</c:v>
                </c:pt>
                <c:pt idx="29">
                  <c:v>370</c:v>
                </c:pt>
                <c:pt idx="30">
                  <c:v>370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26E-42D9-993E-5B712DE56A4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Design 430/시간</c:v>
                </c:pt>
              </c:strCache>
            </c:strRef>
          </c:tx>
          <c:spPr>
            <a:ln w="28575">
              <a:solidFill>
                <a:srgbClr val="2758A7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430</c:v>
                </c:pt>
                <c:pt idx="1">
                  <c:v>430</c:v>
                </c:pt>
                <c:pt idx="2">
                  <c:v>430</c:v>
                </c:pt>
                <c:pt idx="3">
                  <c:v>430</c:v>
                </c:pt>
                <c:pt idx="4">
                  <c:v>430</c:v>
                </c:pt>
                <c:pt idx="5">
                  <c:v>430</c:v>
                </c:pt>
                <c:pt idx="6">
                  <c:v>430</c:v>
                </c:pt>
                <c:pt idx="7">
                  <c:v>430</c:v>
                </c:pt>
                <c:pt idx="8">
                  <c:v>430</c:v>
                </c:pt>
                <c:pt idx="9">
                  <c:v>430</c:v>
                </c:pt>
                <c:pt idx="10">
                  <c:v>430</c:v>
                </c:pt>
                <c:pt idx="11">
                  <c:v>430</c:v>
                </c:pt>
                <c:pt idx="12">
                  <c:v>430</c:v>
                </c:pt>
                <c:pt idx="13">
                  <c:v>430</c:v>
                </c:pt>
                <c:pt idx="14">
                  <c:v>430</c:v>
                </c:pt>
                <c:pt idx="15">
                  <c:v>430</c:v>
                </c:pt>
                <c:pt idx="16">
                  <c:v>430</c:v>
                </c:pt>
                <c:pt idx="17">
                  <c:v>430</c:v>
                </c:pt>
                <c:pt idx="18">
                  <c:v>430</c:v>
                </c:pt>
                <c:pt idx="19">
                  <c:v>430</c:v>
                </c:pt>
                <c:pt idx="20">
                  <c:v>430</c:v>
                </c:pt>
                <c:pt idx="21">
                  <c:v>430</c:v>
                </c:pt>
                <c:pt idx="22">
                  <c:v>430</c:v>
                </c:pt>
                <c:pt idx="23">
                  <c:v>430</c:v>
                </c:pt>
                <c:pt idx="24">
                  <c:v>430</c:v>
                </c:pt>
                <c:pt idx="25">
                  <c:v>430</c:v>
                </c:pt>
                <c:pt idx="26">
                  <c:v>430</c:v>
                </c:pt>
                <c:pt idx="27">
                  <c:v>430</c:v>
                </c:pt>
                <c:pt idx="28">
                  <c:v>430</c:v>
                </c:pt>
                <c:pt idx="29">
                  <c:v>430</c:v>
                </c:pt>
                <c:pt idx="30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26E-42D9-993E-5B712DE56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60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대안별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CAPEX·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연간 순절감액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억원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CAPEX(억원)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418-4CEB-8F02-ADBAC13480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12.5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418-4CEB-8F02-ADBAC13480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418-4CEB-8F02-ADBAC13480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12.5</c:v>
                </c:pt>
                <c:pt idx="2">
                  <c:v>7.6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418-4CEB-8F02-ADBAC13480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연간 순절감액(억원)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418-4CEB-8F02-ADBAC13480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1.85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418-4CEB-8F02-ADBAC13480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1.05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418-4CEB-8F02-ADBAC13480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0.72</c:v>
                </c:pt>
                <c:pt idx="1">
                  <c:v>1.85</c:v>
                </c:pt>
                <c:pt idx="2">
                  <c:v>1.05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9418-4CEB-8F02-ADBAC1348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회수기간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vs 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년 기준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회수기간(년)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6.7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년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4D7-47E3-B2C8-C18DC01C60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6.8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년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4D7-47E3-B2C8-C18DC01C60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7.2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년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4D7-47E3-B2C8-C18DC01C603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6.8</c:v>
                </c:pt>
                <c:pt idx="2">
                  <c:v>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4D7-47E3-B2C8-C18DC01C6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5년 기준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4D7-47E3-B2C8-C18DC01C6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대안별 생산성 향상 목표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목표 가동률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생산성 향상 목표</c:v>
                </c:pt>
              </c:strCache>
            </c:strRef>
          </c:tx>
          <c:spPr>
            <a:solidFill>
              <a:srgbClr val="C99A2E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459-426B-973D-803797C48CF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459-426B-973D-803797C48CF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459-426B-973D-803797C48CF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0.42</c:v>
                </c:pt>
                <c:pt idx="2">
                  <c:v>0.18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459-426B-973D-803797C48C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가동률</c:v>
                </c:pt>
              </c:strCache>
            </c:strRef>
          </c:tx>
          <c:spPr>
            <a:solidFill>
              <a:srgbClr val="548235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459-426B-973D-803797C48CF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459-426B-973D-803797C48CF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459-426B-973D-803797C48CF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</c:v>
                </c:pt>
                <c:pt idx="1">
                  <c:v>0.97</c:v>
                </c:pt>
                <c:pt idx="2">
                  <c:v>0.98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7459-426B-973D-803797C48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물류비 비목별 월 비용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합계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218.5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백만원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비용(백만원)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105.0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08C-4CE2-ADB7-1148E8B09C5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19.2%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08C-4CE2-ADB7-1148E8B09C5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11.9%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08C-4CE2-ADB7-1148E8B09C5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08C-4CE2-ADB7-1148E8B09C5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16.0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08C-4CE2-ADB7-1148E8B09C5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7.5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08C-4CE2-ADB7-1148E8B09C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인건비</c:v>
                </c:pt>
                <c:pt idx="1">
                  <c:v>보관비</c:v>
                </c:pt>
                <c:pt idx="2">
                  <c:v>외주·긴급</c:v>
                </c:pt>
                <c:pt idx="3">
                  <c:v>포장재</c:v>
                </c:pt>
                <c:pt idx="4">
                  <c:v>설비유지</c:v>
                </c:pt>
                <c:pt idx="5">
                  <c:v>IT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105</c:v>
                </c:pt>
                <c:pt idx="1">
                  <c:v>42</c:v>
                </c:pt>
                <c:pt idx="2">
                  <c:v>26</c:v>
                </c:pt>
                <c:pt idx="3">
                  <c:v>22</c:v>
                </c:pt>
                <c:pt idx="4">
                  <c:v>16</c:v>
                </c:pt>
                <c:pt idx="5">
                  <c:v>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308C-4CE2-ADB7-1148E8B09C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67.3%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08C-4CE2-ADB7-1148E8B09C5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79.2%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08C-4CE2-ADB7-1148E8B09C5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89.2%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08C-4CE2-ADB7-1148E8B09C5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96.6%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08C-4CE2-ADB7-1148E8B09C5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100.0%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08C-4CE2-ADB7-1148E8B09C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인건비</c:v>
                </c:pt>
                <c:pt idx="1">
                  <c:v>보관비</c:v>
                </c:pt>
                <c:pt idx="2">
                  <c:v>외주·긴급</c:v>
                </c:pt>
                <c:pt idx="3">
                  <c:v>포장재</c:v>
                </c:pt>
                <c:pt idx="4">
                  <c:v>설비유지</c:v>
                </c:pt>
                <c:pt idx="5">
                  <c:v>IT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0.48100000000000004</c:v>
                </c:pt>
                <c:pt idx="1">
                  <c:v>0.67299999999999993</c:v>
                </c:pt>
                <c:pt idx="2">
                  <c:v>0.79200000000000004</c:v>
                </c:pt>
                <c:pt idx="3">
                  <c:v>0.89200000000000002</c:v>
                </c:pt>
                <c:pt idx="4">
                  <c:v>0.96599999999999997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308C-4CE2-ADB7-1148E8B09C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0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100000000000000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일별 필요 차량 대수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월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필요 차량 대수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1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05C-4119-B4A0-EDFD47DFA55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05C-4119-B4A0-EDFD47DFA55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05C-4119-B4A0-EDFD47DFA5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3</c:v>
                </c:pt>
                <c:pt idx="15">
                  <c:v>2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4</c:v>
                </c:pt>
                <c:pt idx="20">
                  <c:v>3</c:v>
                </c:pt>
                <c:pt idx="21">
                  <c:v>4</c:v>
                </c:pt>
                <c:pt idx="22">
                  <c:v>4</c:v>
                </c:pt>
                <c:pt idx="23">
                  <c:v>2</c:v>
                </c:pt>
                <c:pt idx="24">
                  <c:v>3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3</c:v>
                </c:pt>
                <c:pt idx="29">
                  <c:v>2</c:v>
                </c:pt>
                <c:pt idx="30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05C-4119-B4A0-EDFD47DFA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일평균 약 2.5대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  <c:pt idx="20">
                  <c:v>2.5</c:v>
                </c:pt>
                <c:pt idx="21">
                  <c:v>2.5</c:v>
                </c:pt>
                <c:pt idx="22">
                  <c:v>2.5</c:v>
                </c:pt>
                <c:pt idx="23">
                  <c:v>2.5</c:v>
                </c:pt>
                <c:pt idx="24">
                  <c:v>2.5</c:v>
                </c:pt>
                <c:pt idx="25">
                  <c:v>2.5</c:v>
                </c:pt>
                <c:pt idx="26">
                  <c:v>2.5</c:v>
                </c:pt>
                <c:pt idx="27">
                  <c:v>2.5</c:v>
                </c:pt>
                <c:pt idx="28">
                  <c:v>2.5</c:v>
                </c:pt>
                <c:pt idx="29">
                  <c:v>2.5</c:v>
                </c:pt>
                <c:pt idx="30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05C-4119-B4A0-EDFD47DFA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대수별 일수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요일별 평균 대수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대수별 일수(일)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49A-4624-B066-4139D1887F4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49A-4624-B066-4139D1887F4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49A-4624-B066-4139D1887F4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49A-4624-B066-4139D1887F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1대</c:v>
                </c:pt>
                <c:pt idx="1">
                  <c:v>2대</c:v>
                </c:pt>
                <c:pt idx="2">
                  <c:v>3대</c:v>
                </c:pt>
                <c:pt idx="3">
                  <c:v>4대</c:v>
                </c:pt>
                <c:pt idx="4">
                  <c:v>월</c:v>
                </c:pt>
                <c:pt idx="5">
                  <c:v>화</c:v>
                </c:pt>
                <c:pt idx="6">
                  <c:v>수</c:v>
                </c:pt>
                <c:pt idx="7">
                  <c:v>목</c:v>
                </c:pt>
                <c:pt idx="8">
                  <c:v>금</c:v>
                </c:pt>
                <c:pt idx="9">
                  <c:v>토</c:v>
                </c:pt>
                <c:pt idx="10">
                  <c:v>일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18</c:v>
                </c:pt>
                <c:pt idx="2">
                  <c:v>9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E49A-4624-B066-4139D1887F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요일별 평균 대수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49A-4624-B066-4139D1887F4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49A-4624-B066-4139D1887F4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49A-4624-B066-4139D1887F4E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49A-4624-B066-4139D1887F4E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49A-4624-B066-4139D1887F4E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49A-4624-B066-4139D1887F4E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E49A-4624-B066-4139D1887F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1대</c:v>
                </c:pt>
                <c:pt idx="1">
                  <c:v>2대</c:v>
                </c:pt>
                <c:pt idx="2">
                  <c:v>3대</c:v>
                </c:pt>
                <c:pt idx="3">
                  <c:v>4대</c:v>
                </c:pt>
                <c:pt idx="4">
                  <c:v>월</c:v>
                </c:pt>
                <c:pt idx="5">
                  <c:v>화</c:v>
                </c:pt>
                <c:pt idx="6">
                  <c:v>수</c:v>
                </c:pt>
                <c:pt idx="7">
                  <c:v>목</c:v>
                </c:pt>
                <c:pt idx="8">
                  <c:v>금</c:v>
                </c:pt>
                <c:pt idx="9">
                  <c:v>토</c:v>
                </c:pt>
                <c:pt idx="10">
                  <c:v>일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4">
                  <c:v>3</c:v>
                </c:pt>
                <c:pt idx="5">
                  <c:v>2</c:v>
                </c:pt>
                <c:pt idx="6">
                  <c:v>2.5</c:v>
                </c:pt>
                <c:pt idx="7">
                  <c:v>2.25</c:v>
                </c:pt>
                <c:pt idx="8">
                  <c:v>3.2</c:v>
                </c:pt>
                <c:pt idx="9">
                  <c:v>2.4</c:v>
                </c:pt>
                <c:pt idx="10">
                  <c:v>1.8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E49A-4624-B066-4139D1887F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70000001"/>
        <c:axId val="70000002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4"/>
          <c:min val="0"/>
        </c:scaling>
        <c:delete val="0"/>
        <c:axPos val="r"/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B2C0B-7C6C-49E2-A6A8-2FB815C9FB40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61AA8-7686-4900-98F5-8FB4AE21F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84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61AA8-7686-4900-98F5-8FB4AE21F3C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48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36179-D079-4571-B325-B3D5D4B80E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955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[강사 메모 : AI 해석 되묻기]</a:t>
            </a:r>
          </a:p>
          <a:p>
            <a:r>
              <a:t>AI가 '5주차가 낮은 건 주말이 포함된 영향'처럼 원인을 설명하면, 수강생에게 이렇게 되묻게 한다 : "그 설명의 근거가 되는 일별 수치를 전부 보여줘."</a:t>
            </a:r>
          </a:p>
          <a:p>
            <a:r>
              <a:t>실제 수치 : 29일(금) 38건, 30일(토) 11건, 31일(일) 32건. 31일 일요일은 다른 일요일(9~16건)의 2~3배인 이상치다. 5주차 일평균이 낮은 진짜 이유는 사흘 중 평일이 금요일 하루뿐이고 주말이 이틀인 요일 구성 차이다. 주차 비교는 평일·주말을 나눠서 본다.</a:t>
            </a:r>
          </a:p>
          <a:p>
            <a:r>
              <a:t>강사 멘트 : "강사도 AI의 모든 해석을 미리 알 수는 없습니다. 근거를 보여 달라고 되묻는 습관이 있으면 AI가 스스로 틀린 곳을 드러냅니다."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29 - 1교시 AI 질문설계</a:t>
            </a:r>
          </a:p>
          <a:p/>
          <a:p>
            <a:r>
              <a:t>■ [프롬프트] 01_입고Raw / 02_출고Raw</a:t>
            </a:r>
          </a:p>
          <a:p>
            <a:r>
              <a:t>· 무엇을 만드나: 표가 아니다. AI가 데이터를 '제대로 이해한 상태'를 만든다.</a:t>
            </a:r>
          </a:p>
          <a:p>
            <a:r>
              <a:t>· 왜 하나: 열 이름만 보고 AI가 추측하면 엉뚱하게 해석한다(예: Error_YN을 수량으로, Customer_ID를 고객 개인으로). 열의 뜻을 먼저 알려 주면 이후 모든 집계가 정확해진다.</a:t>
            </a:r>
          </a:p>
          <a:p>
            <a:r>
              <a:t>· "이 내용을 이해했으면 요약해서 다시 말해줘": AI가 이해한 내용을 되말하게 해서, 잘못 이해한 열을 분석 전에 잡는다. 사람에게 업무 지시 후 복창시키는 것과 같다.</a:t>
            </a:r>
          </a:p>
          <a:p>
            <a:r>
              <a:t>· 확인할 점: 요약에 Customer_ID=거래처, Unit_Qty=수량, Order_DateTime=주문 시각이 맞게 나오는지.</a:t>
            </a:r>
          </a:p>
          <a:p/>
          <a:p>
            <a:r>
              <a:t>■ [종합 프롬프트]</a:t>
            </a:r>
          </a:p>
          <a:p>
            <a:r>
              <a:t>· 무엇을 만드나: 요일별·시간대별 입고 집중도 표 + 3문장 요약.</a:t>
            </a:r>
          </a:p>
          <a:p>
            <a:r>
              <a:t>· 왜 하나: 좋은 프롬프트의 4요소를 한 번에 연습한다. 역할(당신은 물류센터 데이터 분석가) · 데이터 설명(2026년 5월 한 달 입고 실적) · 분석 목적(요일별·시간대별 집중도) · 출력 형태(표, 3문장, 합계 행).</a:t>
            </a:r>
          </a:p>
          <a:p>
            <a:r>
              <a:t>· "맨 아래에 합계 행도 넣어줘": 합계가 994건과 맞는지 보면 AI가 데이터를 빠짐없이 읽었는지 바로 검증된다.</a:t>
            </a:r>
          </a:p>
          <a:p>
            <a:r>
              <a:t>· 참고: 2교시 STEP 2(Page 32)의 요일별·시간대별과 내용이 겹친다. 여기서는 '질문 만드는 법'이 목적이고, STEP 2에서는 '정해진 표를 정확히 만드는 것'이 목적이다.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32 - STEP 2 입고 패턴 (요일·시간대·주차)</a:t>
            </a:r>
          </a:p>
          <a:p/>
          <a:p>
            <a:r>
              <a:t>■ 프롬프트 A 요일별 → 실습표 Page 33 / 결과 확인 Page 34와 같은 표</a:t>
            </a:r>
          </a:p>
          <a:p>
            <a:r>
              <a:t>· 무엇을 만드나: 요일별 일수·입고건수·비중·입고수량·일평균 건수 표.</a:t>
            </a:r>
          </a:p>
          <a:p>
            <a:r>
              <a:t>· 왜 하나: 요일마다 입고 물량이 얼마나 다른지 보고, 입고 인력과 도크(하역장)를 요일별로 다르게 배치할지 판단한다.</a:t>
            </a:r>
          </a:p>
          <a:p>
            <a:r>
              <a:t>· 일수·일평균을 넣는 이유: 2026년 5월은 금·토·일이 5번, 월~목이 4번이다. 건수만 비교하면 5번 있는 요일이 유리해진다. 일수로 나눈 일평균이 공정한 비교다.</a:t>
            </a:r>
          </a:p>
          <a:p>
            <a:r>
              <a:t>· 합계 행의 일평균: 요일별 일평균 7개를 다시 평균하면 32.8건으로 틀린다. 전체 994건 ÷ 31일 = 32.1건이 맞아서 프롬프트에 계산 방법을 적었다.</a:t>
            </a:r>
          </a:p>
          <a:p>
            <a:r>
              <a:t>· 확인할 점: 합계 31일·994건·114,906개·일평균 32.1건. 결론은 금요일 최다(일평균 44.2건), 토·일은 평일의 절반 이하.</a:t>
            </a:r>
          </a:p>
          <a:p/>
          <a:p>
            <a:r>
              <a:t>■ 프롬프트 B 시간대별 → 실습표 Page 35 / 결과 확인 Page 36</a:t>
            </a:r>
          </a:p>
          <a:p>
            <a:r>
              <a:t>· 무엇을 만드나: 시간대별 입고건수·비중·누계·입고수량 표 + 집중 시간대의 원인 후보 3가지.</a:t>
            </a:r>
          </a:p>
          <a:p>
            <a:r>
              <a:t>· 왜 하나: 하루 중 언제 몰리는지 보고 입고 인력의 근무 시간과 도크 예약 시간을 정한다.</a:t>
            </a:r>
          </a:p>
          <a:p>
            <a:r>
              <a:t>· 누계의 뜻: 하루 진행률이다. 10시 누계 41.6%(오전 10시까지 하루의 40%가 들어옴), 15시 87.1%(16시 이후는 13%만 남음). 언제 인력을 투입하고 언제 다른 작업으로 돌릴지 정하는 숫자다. 18시 누계가 100%인지로 검증한다.</a:t>
            </a:r>
          </a:p>
          <a:p>
            <a:r>
              <a:t>· 원인 후보 3가지: AI의 '가설'일 뿐 데이터로 확인된 사실이 아니다(공급처 배송 스케줄 등). 현장 확인이 필요하다고 짚어 준다.</a:t>
            </a:r>
          </a:p>
          <a:p>
            <a:r>
              <a:t>· 확인할 점: 10시·14시 각 189건 쌍봉, 9·10·14·15시 4개 시간대가 70.9%.</a:t>
            </a:r>
          </a:p>
          <a:p/>
          <a:p>
            <a:r>
              <a:t>■ 프롬프트 C 주차별 → 실습표 Page 37 / 결과 확인 Page 38</a:t>
            </a:r>
          </a:p>
          <a:p>
            <a:r>
              <a:t>· 무엇을 만드나: 주차별 일수(평일/주말)·입고건수·비중·일평균·평일 일평균·주말 일평균 표.</a:t>
            </a:r>
          </a:p>
          <a:p>
            <a:r>
              <a:t>· 왜 하나: 월초·월말 같은 월중 흐름이 있는지 본다(월말 마감 물량 대비).</a:t>
            </a:r>
          </a:p>
          <a:p>
            <a:r>
              <a:t>· 평일·주말을 나누는 이유: 5주차는 29~31일 사흘뿐이고 평일 1일·주말 2일이다. 요일 구성이 달라서 일평균만 보면 5주차가 낮아 보인다. 평일 일평균으로 보면 5주차 38.0건도 1~4주차(36.8~42.0건)와 비슷하다.</a:t>
            </a:r>
          </a:p>
          <a:p>
            <a:r>
              <a:t>· 합계 행: 주차별 일평균을 다시 평균하지 않고 전체를 일수로 나눈다(일평균 32.1·평일 39.7·주말 16.0).</a:t>
            </a:r>
          </a:p>
          <a:p>
            <a:r>
              <a:t>· 함정: AI가 "5주차는 주말 영향으로 낮다"고 해석할 수 있다. 실제로는 31일 일요일 32건이 다른 일요일의 2~3배라 주말 일평균(21.5건)이 오히려 가장 높다. "근거가 되는 일별 수치를 전부 보여줘"로 되묻게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금요일 막대가 가장 높고, 아래 일평균 그래프에서도 금요일이 가장 높은지 본다. 일수(4·5일)를 반영해도 결론이 그대로인지 확인하는 그래프다.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막대가 10시·14시 두 봉우리(쌍봉)로 솟는지, 평균 점선 위로 올라간 시간대가 어디인지 본다. 아래 누계 선은 하루 진행률이다.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위 그래프에서 5주차만 낮아 보이는 것과, 아래 평일·주말 막대에서는 5주차 평일이 다른 주와 비슷하다는 차이를 비교한다.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40 - STEP 3 공급처</a:t>
            </a:r>
          </a:p>
          <a:p/>
          <a:p>
            <a:r>
              <a:t>■ 프롬프트 A → 실습표 Page 41 / 결과 확인 Page 42</a:t>
            </a:r>
          </a:p>
          <a:p>
            <a:r>
              <a:t>· 무엇을 만드나: 공급처별 주 카테고리·입고건수·비중·누계·입고수량·오류건수·오류율 한 표.</a:t>
            </a:r>
          </a:p>
          <a:p>
            <a:r>
              <a:t>· 왜 하나: 공급처 분석은 두 가지를 본다. 누가 많이 보내는가(물량), 누가 자주 틀리는가(품질). 공급처 관리의 우선순위를 정하는 기초 표다.</a:t>
            </a:r>
          </a:p>
          <a:p>
            <a:r>
              <a:t>· 주 카테고리: 공급처의 성격을 보여 준다. 다만 입고Raw에는 주 카테고리 외 납품도 141건(14%) 섞여 있다(주석).</a:t>
            </a:r>
          </a:p>
          <a:p>
            <a:r>
              <a:t>· 누계: 상위 4개사가 45.6%라 특정 공급처 쏠림은 크지 않다.</a:t>
            </a:r>
          </a:p>
          <a:p>
            <a:r>
              <a:t>· 확인할 점: 합계 994건·114,906개·오류 48건·4.8%. 비중을 반올림해서 더하면 100.3%가 나올 수 있는데 틀린 것이 아니다.</a:t>
            </a:r>
          </a:p>
          <a:p>
            <a:r>
              <a:t>· 열 순서·정렬을 적은 이유: 적지 않으면 AI마다 정렬 기준이 달라(오류율 순 등) 강사 화면과 대조하기 어렵다.</a:t>
            </a:r>
          </a:p>
          <a:p/>
          <a:p>
            <a:r>
              <a:t>■ 프롬프트 B → 실습표 Page 43 / 결과 확인 Page 44</a:t>
            </a:r>
          </a:p>
          <a:p>
            <a:r>
              <a:t>· 무엇을 만드나: 오류 요약(구분·값) 표 + 오류 유형별 건수·비중 표 + 재점검 근거 판단.</a:t>
            </a:r>
          </a:p>
          <a:p>
            <a:r>
              <a:t>· 왜 하나: 오류가 어떤 유형인지 알아야 검수 절차의 어디를 고칠지 정할 수 있다. 오배송·수량불일치처럼 검수 단계에서 걸러야 할 유형이 절반 가까이다.</a:t>
            </a:r>
          </a:p>
          <a:p>
            <a:r>
              <a:t>· 동률 처리: 규격불량·수량불일치가 둘 다 10건이라 '같으면 가나다순'을 넣어 순서를 고정했다.</a:t>
            </a:r>
          </a:p>
          <a:p>
            <a:r>
              <a:t>· 판단 질문의 함정: AI가 "오류가 10건뿐이라 통계적으로 확정하기 어렵다(p=0.055)"고 답할 수 있다. 이 판단은 맞다. 1개월 자료의 한계이므로 '모니터링 대상으로 두고 2~3개월 누적 확인'이 실무 답이다.</a:t>
            </a:r>
          </a:p>
          <a:p>
            <a:r>
              <a:t>· 확인할 점: 오류 48건, 유형 5종, 공급처06 9.0%(10건/111건), 평균의 1.9배.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파레토 누계 선이 완만하게 오르면 쏠림이 작다는 뜻이다. 오류율 선이 평균 점선 위로 튀는 공급처(06·09 등)를 찾는다.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유형별 막대 높이가 비슷하면 특정 원인에 몰린 문제가 아니라 전반적인 검수 품질 문제라는 뜻이다.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46 - STEP 4 재고 Aging</a:t>
            </a:r>
          </a:p>
          <a:p/>
          <a:p>
            <a:r>
              <a:t>■ 프롬프트 → 실습표 Page 47 / 결과 확인 Page 48</a:t>
            </a:r>
          </a:p>
          <a:p>
            <a:r>
              <a:t>· 무엇을 만드나: 180일 초과 재고 요약(구분·값) 표 + 카테고리별 표.</a:t>
            </a:r>
          </a:p>
          <a:p>
            <a:r>
              <a:t>· 왜 하나: 오래 묵은 재고는 돈이 묶여 있다는 뜻이다. 얼마나 되는지, 어느 카테고리에 몰렸는지 보고 처분·프로모션·선입선출 점검 대상을 정한다.</a:t>
            </a:r>
          </a:p>
          <a:p>
            <a:r>
              <a:t>· Aging_Days의 뜻: 현 재고 중 가장 오래된 로트가 들어온 뒤 지난 일수(재고 연령)다. 잘 팔리는 SKU도 오래된 로트가 남아 있으면 길게 나온다.</a:t>
            </a:r>
          </a:p>
          <a:p>
            <a:r>
              <a:t>· A등급 SKU 항목을 넣은 이유: 잘 나가는 SKU(A등급)인데 Aging이 길면 오래된 로트를 먼저 꺼내지 않았다는 신호(선입선출 미준수)다. SKU0135·SKU0068이 해당한다. A등급 정의는 3교시 ABC에서 다시 다룬다.</a:t>
            </a:r>
          </a:p>
          <a:p>
            <a:r>
              <a:t>· 확인할 점: 20개, 약 1.6억원, 전체 11.5억원 중 13.9%. 카테고리 재고 대비는 패션·생활이 26%대로 높다.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금액 막대가 큰 카테고리와 비율 선이 높은 카테고리가 다를 수 있다. 둘 다 봐야 처분 우선순위를 정할 수 있다.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50 - STEP 5 재고 커버일수·적정재고</a:t>
            </a:r>
          </a:p>
          <a:p/>
          <a:p>
            <a:r>
              <a:t>■ 프롬프트 A 재고 커버일수 → 실습표 Page 51 왼쪽 / 결과 확인 Page 52</a:t>
            </a:r>
          </a:p>
          <a:p>
            <a:r>
              <a:t>· 무엇을 만드나: 재고회전 지표(구분·값) 표.</a:t>
            </a:r>
          </a:p>
          <a:p>
            <a:r>
              <a:t>· 왜 하나: 지금 재고로 며칠을 버틸 수 있는지 본다. 너무 길면 과잉, 너무 짧으면 결품 위험이다.</a:t>
            </a:r>
          </a:p>
          <a:p>
            <a:r>
              <a:t>· 전체 vs 중앙값: 전체 재고 커버일수은 39.0일이지만 SKU 커버일수 중앙값은 87.7일이다. 많이 팔리는 소수 SKU가 전체 평균을 끌어내리기 때문이다. 평균만 보면 착시가 생긴다.</a:t>
            </a:r>
          </a:p>
          <a:p>
            <a:r>
              <a:t>· 함정: 출고가 없는 SKU는 커버일수을 계산할 수 없다(0으로 나눔). 이번 데이터는 150개 SKU 모두 5월 출고가 있어 문제가 없지만, 다른 데이터에서는 AI가 어떻게 처리했는지 확인한다.</a:t>
            </a:r>
          </a:p>
          <a:p>
            <a:r>
              <a:t>· 확인할 점: 40,686개, 일평균 1,043.6개, 180일 초과 27개(Aging 180일 초과와 8개 겹침).</a:t>
            </a:r>
          </a:p>
          <a:p/>
          <a:p>
            <a:r>
              <a:t>■ 프롬프트 B 적정재고 → 실습표 Page 51 오른쪽 / 결과 확인 Page 52</a:t>
            </a:r>
          </a:p>
          <a:p>
            <a:r>
              <a:t>· 무엇을 만드나: 안전재고·발주점·발주량과 커버일수 구간 표.</a:t>
            </a:r>
          </a:p>
          <a:p>
            <a:r>
              <a:t>· 왜 하나: 얼마를 가지고 있어야 하는지(적정재고)와 언제 주문해야 하는지(발주점)를 정한다.</a:t>
            </a:r>
          </a:p>
          <a:p>
            <a:r>
              <a:t>· 공식의 뜻: 안전재고 = 수요가 들쭉날쭉할 때를 대비한 완충분. 발주점 = 리드타임(3일) 동안 쓸 양 + 안전재고. 재고가 발주점 아래로 내려가면 주문한다.</a:t>
            </a:r>
          </a:p>
          <a:p>
            <a:r>
              <a:t>· 출고 없는 날을 0으로 넣는 이유: 빼면 변동(표준편차)이 작게 계산되어 안전재고가 모자라게 나온다.</a:t>
            </a:r>
          </a:p>
          <a:p>
            <a:r>
              <a:t>· 확인할 점: 발주점 미만 0개, 발주점 3배 초과 132개. 재고는 부족이 아니라 과잉이라는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커버일수 구간 막대가 오른쪽(91일 이상)으로 쏠리면 과잉 재고가 많다는 뜻이다.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56 - STEP 7 출고 패턴</a:t>
            </a:r>
          </a:p>
          <a:p/>
          <a:p>
            <a:r>
              <a:t>■ 프롬프트 A 시간대별 → 실습표 Page 57 / 결과 확인 Page 58</a:t>
            </a:r>
          </a:p>
          <a:p>
            <a:r>
              <a:t>· 무엇을 만드나: 시간대별 출고 라인수·비중·누계·출고수량 표 + Peak/평균 배수.</a:t>
            </a:r>
          </a:p>
          <a:p>
            <a:r>
              <a:t>· 왜 하나: 피킹(물건 꺼내기) 인력을 몇 시에 얼마나 둘지, 출고 마감 시각을 언제로 할지 정한다.</a:t>
            </a:r>
          </a:p>
          <a:p>
            <a:r>
              <a:t>· Peak/평균 배수: 15시가 시간평균의 2.28배다. 평균 기준으로 인력을 두면 15시를 감당하지 못한다. 인력 설계는 평균이 아니라 피크를 기준으로 본다.</a:t>
            </a:r>
          </a:p>
          <a:p>
            <a:r>
              <a:t>· 시간평균: 출고가 있는 시간대(08~19시, 12개)만으로 나눈 평균이다. 24시간으로 나누면 배수가 부풀려진다.</a:t>
            </a:r>
          </a:p>
          <a:p>
            <a:r>
              <a:t>· 확인할 점: 합계 11,867라인·32,353개. 입고(오전 집중)와 반대로 출고는 오후에 몰린다.</a:t>
            </a:r>
          </a:p>
          <a:p/>
          <a:p>
            <a:r>
              <a:t>■ 프롬프트 B 요일별 → 실습표 Page 59 / 결과 확인 Page 60</a:t>
            </a:r>
          </a:p>
          <a:p>
            <a:r>
              <a:t>· 무엇을 만드나: 요일별 일수·출고 라인수·비중·출고수량·일평균 라인수 표.</a:t>
            </a:r>
          </a:p>
          <a:p>
            <a:r>
              <a:t>· 합계 행의 일평균: 요일별 일평균을 다시 평균하면 383.5라인으로 틀린다. 전체 11,867라인 ÷ 31일 = 382.8라인이 맞다.</a:t>
            </a:r>
          </a:p>
          <a:p>
            <a:r>
              <a:t>· 왜 하나: 요일별 피킹 인력 배치. 일평균으로 보면 금요일 469.8라인 최다, 일요일 267.4라인 최소(1.76배). 토요일(391.6)도 평일 수준이라 주말 인력을 따로 봐야 한다.</a:t>
            </a:r>
          </a:p>
          <a:p/>
          <a:p>
            <a:r>
              <a:t>■ 프롬프트 C 주차별 → 실습표 Page 61 / 결과 확인 Page 62</a:t>
            </a:r>
          </a:p>
          <a:p>
            <a:r>
              <a:t>· 무엇을 만드나: 주차별 일수(평일/주말)·라인수·비중·일평균·평일/주말 일평균 표.</a:t>
            </a:r>
          </a:p>
          <a:p>
            <a:r>
              <a:t>· 왜 하나: 월말로 갈수록 늘어나는지 본다. 1주차 일평균 330.9 → 4주차 451.9라인. 4주차는 주말 일평균(506.5)이 평일(430.0)보다 높아 프로모션 등 원인 확인이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출고는 오후에 몰리는지, 15시 막대가 평균 점선의 약 2.3배(2.28배)인지 본다. 아래 누계 선이 오후에 가파르게 오르는 구간이 피크다.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금요일·일요일 막대 차이(약 1.76배)와 토요일이 평일 수준인지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주차가 갈수록 막대가 높아지는지(월말 증가), 4주차 주말 막대가 평일보다 높은지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64 - STEP 8 ABC 분석</a:t>
            </a:r>
          </a:p>
          <a:p/>
          <a:p>
            <a:r>
              <a:t>■ 프롬프트 A → 실습표 Page 65 위 표 / 결과 확인 Page 66</a:t>
            </a:r>
          </a:p>
          <a:p>
            <a:r>
              <a:t>· 무엇을 만드나: A·B·C 등급별 SKU 개수·비중·누계와 출고라인 합·물량비중·누계 표.</a:t>
            </a:r>
          </a:p>
          <a:p>
            <a:r>
              <a:t>· 왜 하나: 소수 SKU가 물량 대부분을 차지한다. 잘 나가는 SKU(A등급)를 출고구 가까운 곳에 두거나 자동화 대상으로 삼는 근거가 된다.</a:t>
            </a:r>
          </a:p>
          <a:p>
            <a:r>
              <a:t>· 기준: 출고 라인수(피킹 횟수) 기준이다. 수량 기준으로 하면 등급이 달라질 수 있다.</a:t>
            </a:r>
          </a:p>
          <a:p>
            <a:r>
              <a:t>· 경계 처리(중요): 22번째 SKU0119의 누계가 80.003%로 80%를 아주 조금 넘는다. '80% 이하'로 자르면 A등급이 21개, '처음 80% 이상이 되는 SKU까지'로 자르면 22개가 된다. 그래서 프롬프트에 '처음 80% 이상이 되는 SKU까지'라고 못 박았다. B등급 경계(95.003%)도 같다. 수강생 결과가 21개로 나오면 경계 정의부터 묻는다.</a:t>
            </a:r>
          </a:p>
          <a:p>
            <a:r>
              <a:t>· 확인할 점: A등급 22개(150개 중 14.7%), 합계 150개·11,867라인.</a:t>
            </a:r>
          </a:p>
          <a:p/>
          <a:p>
            <a:r>
              <a:t>■ 프롬프트 B → 실습표 Page 65 아래 표 / 결과 확인 Page 66 상위 5</a:t>
            </a:r>
          </a:p>
          <a:p>
            <a:r>
              <a:t>· 무엇을 만드나: 상위 5개 SKU 표 + 자동화 방식 제안.</a:t>
            </a:r>
          </a:p>
          <a:p>
            <a:r>
              <a:t>· 왜 하나: 데이터 분석을 설비 의사결정(GTP 피킹, 소터 라인 등)으로 연결하는 연습이다.</a:t>
            </a:r>
          </a:p>
          <a:p>
            <a:r>
              <a:t>· 주의: AI의 자동화 제안은 출발점이다. 규격·중량·포장 형태 같은 현장 조건을 따로 확인해야 한다.</a:t>
            </a:r>
          </a:p>
          <a:p>
            <a:r>
              <a:t>· 확인할 점: 1위 SKU0002(10.9%), 상위 5개 누계 33.9%.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누적 선이 80% 점선과 만나는 지점까지가 A등급이다. 앞쪽 소수 SKU에서 선이 가파르게 오를수록 쏠림이 크다.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68 - STEP 9 거래처·출고오류</a:t>
            </a:r>
          </a:p>
          <a:p/>
          <a:p>
            <a:r>
              <a:t>■ 프롬프트 A 거래처별 → 실습표 Page 69 / 결과 확인 Page 70</a:t>
            </a:r>
          </a:p>
          <a:p>
            <a:r>
              <a:t>· 무엇을 만드나: 거래처별 출고 라인수·비중·누계·출고수량·오류건수·오류율 한 표.</a:t>
            </a:r>
          </a:p>
          <a:p>
            <a:r>
              <a:t>· 왜 하나: 어느 거래처가 출고를 많이 만드는지(물량), 어디서 오류가 나는지(품질) 보고 거래처별 출고 마감·검수 우선순위를 정한다.</a:t>
            </a:r>
          </a:p>
          <a:p>
            <a:r>
              <a:t>· 확인할 점: 상위 3개 42.2%, 상위 7개 80.1%. 오류율은 거래처03이 3.5%로 평균(2.0%)의 약 1.7배.</a:t>
            </a:r>
          </a:p>
          <a:p/>
          <a:p>
            <a:r>
              <a:t>■ 프롬프트 B 출고오류 → 실습표 Page 71 / 결과 확인 Page 72</a:t>
            </a:r>
          </a:p>
          <a:p>
            <a:r>
              <a:t>· 무엇을 만드나: 출고오류 요약(구분·값) 표 + 오류 유형별 표.</a:t>
            </a:r>
          </a:p>
          <a:p>
            <a:r>
              <a:t>· 왜 하나: 오류가 Peak 시간대에 몰리는지 확인한다. 물량이 몰리면 실수도 늘어난다. 그렇다면 Peak를 평평하게 만드는 것이 품질 대책이 된다.</a:t>
            </a:r>
          </a:p>
          <a:p>
            <a:r>
              <a:t>· 확인할 점: Peak(14~17시) 오류율 2.5% vs 그 외 1.3%, 1.9배. 오피킹(SKU상이)이 30.3%로 최다 → 피킹 검증(바코드 스캔) 강화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파레토 누계 선이 80%에 닿는 거래처 수(상위 7개)를 본다. 오류율 선은 거래처03이 튀는지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오피킹 막대가 가장 높으면 피킹 단계 검증(바코드 스캔)이 첫 번째 개선 대상이다.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74 - STEP 10 인력·자동화</a:t>
            </a:r>
          </a:p>
          <a:p/>
          <a:p>
            <a:r>
              <a:t>■ 프롬프트 A 인력 소요 → 실습표 Page 75 / 결과 확인 Page 76</a:t>
            </a:r>
          </a:p>
          <a:p>
            <a:r>
              <a:t>· 무엇을 만드나: 15시 일별 라인수의 평균·P85·P90·최댓값·최솟값과 피킹 처리능력 비교 표.</a:t>
            </a:r>
          </a:p>
          <a:p>
            <a:r>
              <a:t>· 왜 하나: 15시 피크를 지금 처리능력으로 감당할 수 있는지, 인력을 더 뽑아야 하는지 판단한다.</a:t>
            </a:r>
          </a:p>
          <a:p>
            <a:r>
              <a:t>· 핵심 함정: 15시 월 합계 2,256건을 하루 한 시간 물량으로 착각하면 인력을 크게 과대 산정한다. 반드시 일별로 나눠 본다.</a:t>
            </a:r>
          </a:p>
          <a:p>
            <a:r>
              <a:t>· P85·P90의 뜻: 가장 바쁜 날(최댓값)에 맞추면 과잉 설계, 평균에 맞추면 부족하다. 상위 10~15% 날까지 감당할 수준을 설계 기준으로 쓴다.</a:t>
            </a:r>
          </a:p>
          <a:p>
            <a:r>
              <a:t>· PERCENTILE.INC를 지정한 이유: 백분위수 계산 방식마다 값이 조금씩 달라 결과 확인과 대조하기 위해서다.</a:t>
            </a:r>
          </a:p>
          <a:p>
            <a:r>
              <a:t>· 확인할 점: 평균 73건·P90 111건·최대 128건(5/22) vs Effective 370건/시간 → 사용률 30%/35%, 여유 있음.</a:t>
            </a:r>
          </a:p>
          <a:p/>
          <a:p>
            <a:r>
              <a:t>■ 프롬프트 B 자동화 대안 → 실습표 Page 77 / 결과 확인 Page 78</a:t>
            </a:r>
          </a:p>
          <a:p>
            <a:r>
              <a:t>· 무엇을 만드나: 대안별 CAPEX·연간 순절감액·생산성 향상 목표·목표 가동률·회수기간·판단 표 + 결론.</a:t>
            </a:r>
          </a:p>
          <a:p>
            <a:r>
              <a:t>· 왜 하나: 투자 판단의 기본은 회수기간(투자금을 몇 년 만에 회수하나)이다. 5년 이내를 기준으로 본다.</a:t>
            </a:r>
          </a:p>
          <a:p>
            <a:r>
              <a:t>· 생산성 향상 목표·목표 가동률: 효과 가정치다. 높을수록 낙관적인 가정이라 그대로 믿지 말고 근거를 묻는다.</a:t>
            </a:r>
          </a:p>
          <a:p>
            <a:r>
              <a:t>· 확인할 점: AMR 6.7년·GTP 6.8년·Sorter 7.2년 → 모두 5년 초과, 재검토. 15시 Peak도 처리능력 이내라 Peak 해소만을 위한 투자는 시급하지 않다.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일별 막대가 처리능력 실선(370·430)보다 한참 아래에 있으면 여유가 있다는 뜻이다. P90 점선이 설계 기준선이다.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회수기간 막대가 5년 점선을 모두 넘는지 본다. 생산성·가동률 막대는 효과 가정치라 높을수록 낙관적이다.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80 - STEP 10 물류비·차량</a:t>
            </a:r>
          </a:p>
          <a:p/>
          <a:p>
            <a:r>
              <a:t>■ 프롬프트 C 물류비 → 실습표 Page 81 / 결과 확인 Page 82</a:t>
            </a:r>
          </a:p>
          <a:p>
            <a:r>
              <a:t>· 무엇을 만드나: 비목별 월 비용·비중·누계 표(파레토).</a:t>
            </a:r>
          </a:p>
          <a:p>
            <a:r>
              <a:t>· 왜 하나: 돈이 어디에 쓰이는지 알아야 개선 우선순위를 정한다.</a:t>
            </a:r>
          </a:p>
          <a:p>
            <a:r>
              <a:t>· 확인할 점: 인건비 48.1% + 보관비 19.2% = 67.3%. 외주·긴급(Outsource_Expedite) 11.9%는 Peak 대응에 쓰는 비용이라, Peak를 줄이면 절감 여지가 생긴다.</a:t>
            </a:r>
          </a:p>
          <a:p/>
          <a:p>
            <a:r>
              <a:t>■ 프롬프트 D 차량 소요대수 → 실습표 Page 83 / 결과 확인 Page 84</a:t>
            </a:r>
          </a:p>
          <a:p>
            <a:r>
              <a:t>· 무엇을 만드나: 일별 출고 총중량·총부피로 계산한 필요 차량 대수 요약(구분·값) 표.</a:t>
            </a:r>
          </a:p>
          <a:p>
            <a:r>
              <a:t>· 왜 하나: 하루에 차가 몇 대 필요한지 알아야 배차 계약(고정 차량 몇 대 + 용차)을 정한다.</a:t>
            </a:r>
          </a:p>
          <a:p>
            <a:r>
              <a:t>· 계산 규칙의 뜻: 중량과 부피 중 하나만 넘쳐도 못 싣기 때문에 둘 중 큰 값을 쓴다. 적재율 80%는 실제로 꽉 채우지 못하는 현실을 반영한다. 대수는 올림한다(3.2대 = 4대).</a:t>
            </a:r>
          </a:p>
          <a:p>
            <a:r>
              <a:t>· 확인할 점: 일평균 약 2.5대, 최대 4대(5/20·5/22·5/23), 금요일 평균 3.2대 → 평균(2.5대)으로 배차하면 피크 요일에 부족하다.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앞쪽 두 막대(인건비·보관비)에서 누계 선이 67%까지 오르는지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일별 막대 중 평균 점선(일평균)을 넘는 날이 얼마나 자주 있는지, 요일별 평균에서 금요일이 가장 높은지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Relationship Id="rId3" Type="http://schemas.openxmlformats.org/officeDocument/2006/relationships/chart" Target="../charts/chart2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936000" y="1098000"/>
            <a:ext cx="72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6000" y="1296000"/>
            <a:ext cx="9720000" cy="867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5400" b="1" dirty="0">
                <a:solidFill>
                  <a:srgbClr val="B9C7DD"/>
                </a:solidFill>
                <a:latin typeface="맑은 고딕"/>
                <a:ea typeface="맑은 고딕"/>
              </a:rPr>
              <a:t>물류</a:t>
            </a:r>
            <a:r>
              <a:rPr lang="en-US" altLang="ko-KR" sz="5400" b="1" dirty="0">
                <a:solidFill>
                  <a:srgbClr val="B9C7DD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5400" b="1" dirty="0" err="1">
                <a:solidFill>
                  <a:srgbClr val="B9C7DD"/>
                </a:solidFill>
                <a:latin typeface="맑은 고딕"/>
                <a:ea typeface="맑은 고딕"/>
              </a:rPr>
              <a:t>분석사</a:t>
            </a:r>
            <a:r>
              <a:rPr lang="ko-KR" altLang="en-US" sz="5400" b="1" dirty="0">
                <a:solidFill>
                  <a:srgbClr val="B9C7DD"/>
                </a:solidFill>
                <a:latin typeface="맑은 고딕"/>
                <a:ea typeface="맑은 고딕"/>
              </a:rPr>
              <a:t> 자격과정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2435400"/>
            <a:ext cx="97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 dirty="0">
                <a:solidFill>
                  <a:srgbClr val="B9C7DD"/>
                </a:solidFill>
                <a:latin typeface="맑은 고딕"/>
                <a:ea typeface="맑은 고딕"/>
              </a:rPr>
              <a:t>Logistics Data Analyst Certification Program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6000" y="4536000"/>
            <a:ext cx="72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6000" y="4752000"/>
            <a:ext cx="972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 i="0">
                <a:solidFill>
                  <a:srgbClr val="E4EAF4"/>
                </a:solidFill>
                <a:latin typeface="맑은 고딕"/>
                <a:ea typeface="맑은 고딕"/>
              </a:rPr>
              <a:t>한국SCM협회  |  2026. 10. 27(화) ~ 10. 29(목)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 i="0">
                <a:solidFill>
                  <a:srgbClr val="E4EAF4"/>
                </a:solidFill>
                <a:latin typeface="맑은 고딕"/>
                <a:ea typeface="맑은 고딕"/>
              </a:rPr>
              <a:t>이기호  |  한국씨앤이 · 물류자동화 컨설턴트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00" y="468000"/>
            <a:ext cx="97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B9C7DD"/>
                </a:solidFill>
                <a:latin typeface="맑은 고딕"/>
                <a:ea typeface="맑은 고딕"/>
              </a:rPr>
              <a:t>PART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810000"/>
            <a:ext cx="99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1080000"/>
            <a:ext cx="104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1일차 오전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물류DATA분석사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810898"/>
            <a:ext cx="1044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 dirty="0">
                <a:solidFill>
                  <a:srgbClr val="C99A2E"/>
                </a:solidFill>
                <a:latin typeface="맑은 고딕"/>
                <a:ea typeface="맑은 고딕"/>
              </a:rPr>
              <a:t>09:00 ~ 12:30 (3시간 30분)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429338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 dirty="0">
                <a:solidFill>
                  <a:srgbClr val="B9C7DD"/>
                </a:solidFill>
                <a:latin typeface="맑은 고딕"/>
                <a:ea typeface="맑은 고딕"/>
              </a:rPr>
              <a:t>Why Logistics Data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3348000"/>
            <a:ext cx="10620000" cy="1806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0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오리엔테이션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1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역할과 필요성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2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프로세스와 데이터구조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3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분석기법과 의사결정 연결</a:t>
            </a: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(ABC 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계산 실습 포함</a:t>
            </a: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)</a:t>
            </a:r>
            <a:endParaRPr sz="2000" dirty="0">
              <a:solidFill>
                <a:srgbClr val="E4EAF4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083999"/>
            <a:ext cx="12192119" cy="774000"/>
          </a:xfrm>
          <a:prstGeom prst="rect">
            <a:avLst/>
          </a:prstGeom>
          <a:solidFill>
            <a:srgbClr val="11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00" y="6246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C99A2E"/>
                </a:solidFill>
                <a:latin typeface="맑은 고딕"/>
                <a:ea typeface="맑은 고딕"/>
              </a:rPr>
              <a:t>이기호  |  한국씨앤이 · 물류자동화 컨설턴트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443999"/>
            <a:ext cx="97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BABC8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0" y="6443999"/>
            <a:ext cx="176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9BABC8"/>
                </a:solidFill>
                <a:latin typeface="맑은 고딕"/>
                <a:ea typeface="맑은 고딕"/>
              </a:rPr>
              <a:t>Page 1 / 90</a:t>
            </a:r>
            <a:endParaRPr sz="1400" b="0" i="0">
              <a:solidFill>
                <a:srgbClr val="9BABC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0교시 · 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오늘부터 3일, 무엇이 달라지는가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48000" cy="108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60000"/>
            <a:ext cx="11448000" cy="486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60000"/>
            <a:ext cx="11376000" cy="4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오늘부터 3일, 무엇이 달라지는가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00" y="1799856"/>
            <a:ext cx="11318400" cy="4862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물류센터는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매일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방대한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트랜잭션을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만들지만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대부분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시스템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안에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쌓이기만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하고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다시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열어보지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뒤에는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"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바쁘다"가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"15시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라인이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2.28배"라고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말하는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담당자가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2448000"/>
            <a:ext cx="3683999" cy="237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000" y="2448000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2448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① 무엇을 하는 사람인가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2000" y="2844000"/>
            <a:ext cx="3539999" cy="1820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정확히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읽는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문제를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정량적으로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정의하는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레이아웃·설비·인력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SQL·엑셀·AI는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뿐,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핵심은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판단력이다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경험과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해석을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갖춘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2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전문가를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지향한다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42000" y="2448000"/>
            <a:ext cx="3683999" cy="237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42000" y="2448000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8000" y="2448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데이터는 어떻게 발생하나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14000" y="2844000"/>
            <a:ext cx="3539999" cy="191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입고-보관-재고-피킹-출고-배송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등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각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각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단계는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WMS·ERP·TMS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시스템에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남는다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불변값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누적값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)로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두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정보는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8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갖는다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24000" y="2448000"/>
            <a:ext cx="3683999" cy="237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24000" y="2448000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60000" y="2448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무엇을 결정할 수 있나</a:t>
            </a:r>
          </a:p>
        </p:txBody>
      </p:sp>
      <p:sp>
        <p:nvSpPr>
          <p:cNvPr id="22" name="diagbody"/>
          <p:cNvSpPr txBox="1"/>
          <p:nvPr/>
        </p:nvSpPr>
        <p:spPr>
          <a:xfrm>
            <a:off x="8196000" y="2843998"/>
            <a:ext cx="3539999" cy="17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레이아웃 - 어떤 상품을 어디에 배치할지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CAPA - 시간당 처리량을 얼마로 설계할지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인력 - 몇 명을, 어느 시간대에 배치할지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면적 - 얼마나 넓은 공간이 필요한지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 - 몇 대를 배차해야 하는지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4929281"/>
            <a:ext cx="11448000" cy="1475999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0000" y="4929281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6000" y="4929281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과정 전체의 철학</a:t>
            </a:r>
          </a:p>
        </p:txBody>
      </p:sp>
      <p:sp>
        <p:nvSpPr>
          <p:cNvPr id="26" name="diagbody"/>
          <p:cNvSpPr txBox="1"/>
          <p:nvPr/>
        </p:nvSpPr>
        <p:spPr>
          <a:xfrm>
            <a:off x="432000" y="5325285"/>
            <a:ext cx="11304000" cy="1072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과정의 목표는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자격증이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역량을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검정한다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오후부터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2일차까지는 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3일차는 AI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이어진다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세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파트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모두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잇는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하나의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도구(SQL, AI)가 바뀌어도 분석의 논리(ABC·EIQ·Peak, 분석 기본 6단계)는 동일하다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3일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뒤에는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목표다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0교시 · 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3일의 흐름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27270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1일차 오전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(이기호)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52000"/>
            <a:ext cx="2727000" cy="3816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52000"/>
            <a:ext cx="27270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357999"/>
            <a:ext cx="2583000" cy="341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의 정의와 경영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와의                           근본적 차이를 이해한다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~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배송 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6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단계                   프로세스별로 어떤 데이터가 남는지 구조를 파악한다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altLang="ko-KR" sz="1400" dirty="0" err="1">
                <a:solidFill>
                  <a:srgbClr val="222222"/>
                </a:solidFill>
                <a:latin typeface="맑은 고딕"/>
                <a:ea typeface="맑은 고딕"/>
              </a:rPr>
              <a:t>ABC·EIQ·Peak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3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대 분석기법의 원리와                    서로 다른 쓰임새를 배운다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분석 결과가 레이아웃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·CAPA·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면적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차량 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대 의사결정으로 연결되는 구조를 익힌다</a:t>
            </a:r>
          </a:p>
          <a:p>
            <a:pPr algn="ctr">
              <a:lnSpc>
                <a:spcPct val="90000"/>
              </a:lnSpc>
              <a:spcAft>
                <a:spcPts val="596"/>
              </a:spcAft>
            </a:pP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분석을 가상의 예시로              손수 계산해보며                      분석기법을 체험한다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6999" y="1260000"/>
            <a:ext cx="27270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1000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1일차 오후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(김정현)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6999" y="2052000"/>
            <a:ext cx="2727000" cy="381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6999" y="2052000"/>
            <a:ext cx="2727000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02999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3338999" y="2358000"/>
            <a:ext cx="2583000" cy="2806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Server와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SSMS(Management Studio) 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접속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환경을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구성한다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.</a:t>
            </a: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SELECT·WHERE·GROUP BY 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문법을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실습한다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테이블·컬럼·행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(Row)·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기본키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(Primary Key)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개념을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기준정보·거래정보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문법과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2일차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본격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준비를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마친다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3999" y="1260000"/>
            <a:ext cx="27270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2일차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(김정현)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3999" y="2052000"/>
            <a:ext cx="2727000" cy="381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3999" y="2052000"/>
            <a:ext cx="2727000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0000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6245999" y="2358000"/>
            <a:ext cx="2583000" cy="30307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입고·재고·출고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DATA를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SQL로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조회하고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JOIN으로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거래정보를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진행한다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제공된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본격적인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수행한다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GROUP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BY와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집계함수로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ABC·Peak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산출값을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3일차 AI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SQL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기초를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81000" y="1260000"/>
            <a:ext cx="2727000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4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3일차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(이기호)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1000" y="2052000"/>
            <a:ext cx="2727000" cy="381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81000" y="2052000"/>
            <a:ext cx="2727000" cy="251999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17000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30" name="diagbody"/>
          <p:cNvSpPr txBox="1"/>
          <p:nvPr/>
        </p:nvSpPr>
        <p:spPr>
          <a:xfrm>
            <a:off x="9152999" y="2358000"/>
            <a:ext cx="2583000" cy="325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AI(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생성형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AI)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진행한다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입고·재고(요일·시간대·주차,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 오류, Aging·회전)와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출고(ABC·거래처·오류·Peak)를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구체적인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도출하고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동료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참가자와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상호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피드백을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주고받으며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전체를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총정리하고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수료식으로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마무리한다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3086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93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01000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000" y="5918200"/>
            <a:ext cx="114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1일차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개념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정립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, 2일차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SQL로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손에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익히기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, 3일차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AI로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속도를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더하는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하나의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흐름</a:t>
            </a:r>
            <a:endParaRPr sz="1500" b="0" i="1" dirty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35" name="Rectangle 27"/>
          <p:cNvSpPr/>
          <p:nvPr/>
        </p:nvSpPr>
        <p:spPr>
          <a:xfrm>
            <a:off x="360000" y="6210300"/>
            <a:ext cx="11448000" cy="3175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28"/>
          <p:cNvSpPr txBox="1"/>
          <p:nvPr/>
        </p:nvSpPr>
        <p:spPr>
          <a:xfrm>
            <a:off x="540000" y="624052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학습목표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- ①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물류DATA분석사가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일  ②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발생하는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방식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 ③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결정할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수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① 물류 DATA 분석이란?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6B6B6B"/>
                </a:solidFill>
                <a:latin typeface="맑은 고딕"/>
                <a:ea typeface="맑은 고딕"/>
              </a:rPr>
              <a:t>PART A · 1일차 </a:t>
            </a:r>
            <a:r>
              <a:rPr sz="1400" b="0" i="0" dirty="0" err="1">
                <a:solidFill>
                  <a:srgbClr val="6B6B6B"/>
                </a:solidFill>
                <a:latin typeface="맑은 고딕"/>
                <a:ea typeface="맑은 고딕"/>
              </a:rPr>
              <a:t>오전</a:t>
            </a:r>
            <a:r>
              <a:rPr sz="1400" b="0" i="0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6B6B6B"/>
                </a:solidFill>
                <a:latin typeface="맑은 고딕"/>
                <a:ea typeface="맑은 고딕"/>
              </a:rPr>
              <a:t>이론교육</a:t>
            </a:r>
            <a:endParaRPr sz="1400" b="0" i="0" dirty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3683999" cy="507124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60000" y="1331033"/>
            <a:ext cx="3683999" cy="2570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정의와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레벨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0000" y="1892109"/>
            <a:ext cx="3683999" cy="1181300"/>
          </a:xfrm>
          <a:prstGeom prst="rect">
            <a:avLst/>
          </a:prstGeom>
          <a:solidFill>
            <a:srgbClr val="E7EC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60800" y="2081206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입고·보관·재고·피킹·출고·배송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전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과정에서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WMS/ERP/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TMS에</a:t>
            </a:r>
            <a:b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남는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트랜잭션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기록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전체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0000" y="3049544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3319887"/>
            <a:ext cx="3683999" cy="1181300"/>
          </a:xfrm>
          <a:prstGeom prst="rect">
            <a:avLst/>
          </a:prstGeom>
          <a:solidFill>
            <a:srgbClr val="E7EC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60800" y="3371095"/>
            <a:ext cx="3482399" cy="107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초급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레벨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: </a:t>
            </a:r>
            <a:endParaRPr lang="en-US" sz="16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일별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총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출하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PCS·BOX 등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볼륨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집계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사양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설계에는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활용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불가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0000" y="4481423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5867"/>
            <a:ext cx="3683999" cy="1181300"/>
          </a:xfrm>
          <a:prstGeom prst="rect">
            <a:avLst/>
          </a:prstGeom>
          <a:solidFill>
            <a:srgbClr val="E7EC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60800" y="4807075"/>
            <a:ext cx="3482399" cy="107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중급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이상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레벨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: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SKU·Location·Tote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입출하처·주문서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매핑까지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시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필수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42000" y="1206000"/>
            <a:ext cx="3683999" cy="507124"/>
          </a:xfrm>
          <a:prstGeom prst="rect">
            <a:avLst/>
          </a:prstGeom>
          <a:solidFill>
            <a:srgbClr val="8A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242000" y="1331033"/>
            <a:ext cx="3683999" cy="2570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경영 DATA와의 근본적 차이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000" y="1892109"/>
            <a:ext cx="3683999" cy="1181300"/>
          </a:xfrm>
          <a:prstGeom prst="rect">
            <a:avLst/>
          </a:prstGeom>
          <a:solidFill>
            <a:srgbClr val="F7EEDD"/>
          </a:solidFill>
          <a:ln w="12700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4342800" y="1952933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경영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DATA(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매출·손익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)는</a:t>
            </a: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i="0" dirty="0" err="1">
                <a:solidFill>
                  <a:srgbClr val="222222"/>
                </a:solidFill>
                <a:latin typeface="맑은 고딕"/>
                <a:ea typeface="맑은 고딕"/>
              </a:rPr>
              <a:t>결과</a:t>
            </a: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  <a:ea typeface="맑은 고딕"/>
              </a:rPr>
              <a:t>지표</a:t>
            </a: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- Lagging Indicator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000" y="3049544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8A5A1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000" y="3319887"/>
            <a:ext cx="3683999" cy="1181300"/>
          </a:xfrm>
          <a:prstGeom prst="rect">
            <a:avLst/>
          </a:prstGeom>
          <a:solidFill>
            <a:srgbClr val="F7EEDD"/>
          </a:solidFill>
          <a:ln w="12700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342800" y="3508985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DATA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언제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어디서·누가·무엇을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처리했는가를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기록하는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Leading Indicator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2000" y="4481423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8A5A1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2000" y="4740862"/>
            <a:ext cx="3683999" cy="1181300"/>
          </a:xfrm>
          <a:prstGeom prst="rect">
            <a:avLst/>
          </a:prstGeom>
          <a:solidFill>
            <a:srgbClr val="F7EEDD"/>
          </a:solidFill>
          <a:ln w="12700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4342800" y="5067849"/>
            <a:ext cx="3482399" cy="527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Pick_Start·Pick_End까지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남아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발생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지점을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정확히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특정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가능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24000" y="1206000"/>
            <a:ext cx="3683999" cy="507124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8124000" y="1331033"/>
            <a:ext cx="3683999" cy="2570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실무에서의 함정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4000" y="1892109"/>
            <a:ext cx="3683999" cy="1181300"/>
          </a:xfrm>
          <a:prstGeom prst="rect">
            <a:avLst/>
          </a:prstGeom>
          <a:solidFill>
            <a:srgbClr val="E6F2EA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8224800" y="2081206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가공된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월간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합계·연간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평균만으로는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요일도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품목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빈도수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이 어려움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24000" y="3049544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E6B4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4000" y="3319887"/>
            <a:ext cx="3683999" cy="1181300"/>
          </a:xfrm>
          <a:prstGeom prst="rect">
            <a:avLst/>
          </a:prstGeom>
          <a:solidFill>
            <a:srgbClr val="E6F2EA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8224800" y="3508985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DATA →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→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판단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→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lang="en-US"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[</a:t>
            </a:r>
            <a:r>
              <a:rPr lang="ko-KR" altLang="en-US"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r>
              <a:rPr lang="en-US" altLang="ko-KR"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]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ko-KR" altLang="en-US" sz="1600" dirty="0">
                <a:solidFill>
                  <a:srgbClr val="222222"/>
                </a:solidFill>
                <a:latin typeface="맑은 고딕"/>
                <a:ea typeface="맑은 고딕"/>
              </a:rPr>
              <a:t>각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단계가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이어져야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판단의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근거가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된다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24000" y="4481423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E6B4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000" y="4755867"/>
            <a:ext cx="3683999" cy="1181300"/>
          </a:xfrm>
          <a:prstGeom prst="rect">
            <a:avLst/>
          </a:prstGeom>
          <a:solidFill>
            <a:srgbClr val="E6F2EA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8224800" y="4944964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프레임은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3일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전체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컨설팅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보고서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작성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시에도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반복해서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쓰는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골격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0000" y="6005368"/>
            <a:ext cx="11448000" cy="473364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0000" y="6113521"/>
            <a:ext cx="3903761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깊이가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깊이를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결정한다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91781" y="6125544"/>
            <a:ext cx="4601678" cy="233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초급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레벨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분석으로는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설비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사양을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결정할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수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없다</a:t>
            </a:r>
            <a:endParaRPr sz="1450" b="0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3363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데이터가 쌓이는 것만으로는 의미가 없다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40000" y="1260000"/>
            <a:ext cx="9288000" cy="36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4000" y="1305764"/>
            <a:ext cx="9180000" cy="268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DATA   -&gt;  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  -&gt;  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판단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  -&gt;  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개선</a:t>
            </a:r>
            <a:r>
              <a:rPr 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[</a:t>
            </a:r>
            <a:r>
              <a:rPr lang="ko-KR" alt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  <a:r>
              <a:rPr lang="en-US" altLang="ko-KR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]</a:t>
            </a:r>
            <a:endParaRPr sz="18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0000" y="1835999"/>
            <a:ext cx="2727000" cy="3491999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1835999"/>
            <a:ext cx="2727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232000"/>
            <a:ext cx="2583000" cy="304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시스템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(WMS·ERP·TMS)에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남는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트랜잭션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입고·피킹·출고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처리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시점마다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실시간으로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생성된다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원본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(Raw)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상태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그대로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보존해야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기록되지만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그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자체로는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아무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의미도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만들어내지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35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11,867라인,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994건이다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6999" y="1835999"/>
            <a:ext cx="2727000" cy="3491999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6999" y="1835999"/>
            <a:ext cx="2727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2999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16" name="diagbody"/>
          <p:cNvSpPr txBox="1"/>
          <p:nvPr/>
        </p:nvSpPr>
        <p:spPr>
          <a:xfrm>
            <a:off x="3338999" y="2232000"/>
            <a:ext cx="2583000" cy="2765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일/월/SKU/거래처 단위로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가공·집계한다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ABC·EIQ·Peak 등 분석기법으로 패턴을 찾는다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평균이 아니라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분포(백분위)까지 함께 본다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집계 결과를 표·차트로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시각화해 해석 가능하게 만든다</a:t>
            </a:r>
          </a:p>
          <a:p>
            <a:pPr algn="ctr">
              <a:lnSpc>
                <a:spcPct val="120000"/>
              </a:lnSpc>
              <a:spcAft>
                <a:spcPts val="35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이 단계가 없으면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데이터는 그냥 로그일 뿐이다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3999" y="1835999"/>
            <a:ext cx="2727000" cy="3491999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3999" y="1835999"/>
            <a:ext cx="2727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0000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판단</a:t>
            </a:r>
          </a:p>
        </p:txBody>
      </p:sp>
      <p:sp>
        <p:nvSpPr>
          <p:cNvPr id="20" name="diagbody"/>
          <p:cNvSpPr txBox="1"/>
          <p:nvPr/>
        </p:nvSpPr>
        <p:spPr>
          <a:xfrm>
            <a:off x="6245999" y="2232000"/>
            <a:ext cx="2583000" cy="2699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분석 결과에서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원인 후보를 추출한다</a:t>
            </a:r>
          </a:p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검증 가능한 가설로 좁힌다</a:t>
            </a:r>
          </a:p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이상치와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정상 변동을 구분해 판단한다</a:t>
            </a:r>
          </a:p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"바쁘다"가 아니라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"15시가 평균의 2.28배"로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판단 근거를 세운다</a:t>
            </a:r>
          </a:p>
          <a:p>
            <a:pPr algn="ctr">
              <a:lnSpc>
                <a:spcPct val="106275"/>
              </a:lnSpc>
              <a:spcAft>
                <a:spcPts val="35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여러 지표를 교차 검증해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판단의 신뢰도를 높인다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1000" y="1835999"/>
            <a:ext cx="2727000" cy="3491999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81000" y="1835999"/>
            <a:ext cx="2727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7000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개선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9152999" y="2232000"/>
            <a:ext cx="2583000" cy="2765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CAPA,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보관·임대면적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산정으로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차량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소요대수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구체적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실행안으로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전환한다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ROI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우선순위를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35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효과를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포함한다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086999" y="3581999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93999" y="3581999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01000" y="3581999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각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단계가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순서대로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이어질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때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비로소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가치를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만든다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② 왜 물류 DATA를 분석해야 하는가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3683999" cy="381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332000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332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평균의 함정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728000"/>
            <a:ext cx="3539999" cy="3171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일평균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설계하면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명절·프로모션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특수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시기에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미출고와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결품이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반복된다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P85·P90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같은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상위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백분위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채택하는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15시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Peak가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2.28배로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요일별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편차도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존재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금요일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많다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(2,349라인)</a:t>
            </a: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평균만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설계하면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성수기에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병목이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대응은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증설과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외주·교대조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운영을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42000" y="1332000"/>
            <a:ext cx="3683999" cy="381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42000" y="1332000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8000" y="1332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같은 물동량, 다른 정답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14000" y="1728000"/>
            <a:ext cx="3539999" cy="3171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A센터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파렛트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B센터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낱개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다품종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)는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출고량이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같아도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A센터는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AS/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RS·파렛트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셔틀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B센터는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미니로드·Piece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Sorter가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적합하다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끼워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맞추는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역산은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확률이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오더당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수, SKU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회전율까지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봐야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정답에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가까워진다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규모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면적·물동량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만으로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정하면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과투자나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병목이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센터마다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고유한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프로파일을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읽는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출발점이다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4000" y="1332000"/>
            <a:ext cx="3683999" cy="381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4000" y="1332000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0000" y="1332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투자 의사결정의 무게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8196000" y="1728000"/>
            <a:ext cx="3539999" cy="3171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CAPEX,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정책은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대부분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ROI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=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증분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÷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순절감액으로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통상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3~5년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합격선으로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통용된다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잘못된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근거는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큰 규모의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실패로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직결된다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제안서에는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①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②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③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가정을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표기해야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최종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목적은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판단을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뒷받침하는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0000" y="5292000"/>
            <a:ext cx="114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감이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아니라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데이터로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설계하는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습관이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마스터플랜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Phase 1의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핵심이다</a:t>
            </a:r>
            <a:endParaRPr sz="1550" b="0" i="1" dirty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같은 물동량, 다른 설계 - A/B 센터 비교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5616000" cy="273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332000"/>
            <a:ext cx="5616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332000"/>
            <a:ext cx="554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 물류센터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727999"/>
            <a:ext cx="5472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출고 특성 - 파렛트 중심 대량 출고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SKU 구성 - 소품종 위주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적합 설비 - AS/RS·파렛트 셔틀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오더당 라인 수가 적고 단위가 크다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대형 오더의 처리 속도가 설계의 핵심이다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입고~출고 리드타임이 짧고 회전이 빠르다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1332000"/>
            <a:ext cx="5616000" cy="273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2000" y="1332000"/>
            <a:ext cx="5616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8000" y="1332000"/>
            <a:ext cx="554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B 물류센터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6263999" y="1727999"/>
            <a:ext cx="5472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출고 특성 - 낱개 다품종 소량 출고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SKU 구성 - 다품종 위주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적합 설비 - 미니로드·Piece Sorter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오더당 라인 수가 많고 단위가 작다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다품종 동시 피킹 정확도가 설계의 핵심이다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오배송·오피킹 관리가 상대적으로 더 중요하다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212000"/>
            <a:ext cx="11448000" cy="1584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0000" y="4212000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000" y="4212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판단 기준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2000" y="4889281"/>
            <a:ext cx="11304000" cy="5714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동일한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총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동일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면적이라도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단위와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구조가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다르면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설계가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완전히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달라진다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A/B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어느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쪽도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정답이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각자의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물동량에</a:t>
            </a:r>
            <a:r>
              <a:rPr sz="16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맑은 고딕"/>
                <a:ea typeface="맑은 고딕"/>
              </a:rPr>
              <a:t>맞는</a:t>
            </a:r>
            <a:r>
              <a:rPr sz="16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맑은 고딕"/>
                <a:ea typeface="맑은 고딕"/>
              </a:rPr>
              <a:t>최적해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있을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뿐이다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규모가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같아도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물동량의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성격이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다르면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정답도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③ 물류DATA분석사의 세 가지 역할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83999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260000"/>
            <a:ext cx="3575999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데이터를 정확히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읽는 사람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52000"/>
            <a:ext cx="3683999" cy="3348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52000"/>
            <a:ext cx="3683999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52000"/>
            <a:ext cx="361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역량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357999"/>
            <a:ext cx="3539999" cy="29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SQL·엑셀·AI는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뿐,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테이블에서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조회할지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는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ABC·EIQ·Peak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산출값을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오독하지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1차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역량이다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결함을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걸러내야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결론이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왜곡되지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숫자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뒤에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입고·피킹·출고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맥락을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읽어야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이상치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(Outlier)와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변동을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43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하나의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여러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교차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습관이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필요하다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42000" y="1260000"/>
            <a:ext cx="3683999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6000" y="1260000"/>
            <a:ext cx="3575999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문제를 정량적으로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정의하는 사람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000" y="2052000"/>
            <a:ext cx="3683999" cy="3348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42000" y="2052000"/>
            <a:ext cx="3683999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8000" y="2052000"/>
            <a:ext cx="361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역량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296000" y="2357999"/>
            <a:ext cx="3539999" cy="29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바쁘다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"(X)가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"15시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출고라인이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2.28배"(O)로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표현한다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SKU 22개의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편중도를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짚어낸다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흐리면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그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모든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제안서가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흐려진다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막연한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느낌을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가능한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가설로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바꾸는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핵심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능력이다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같은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현상도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정의하느냐에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따라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해법이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달라진다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43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문제는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재확인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가능해야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24000" y="1260000"/>
            <a:ext cx="3683999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7999" y="1260000"/>
            <a:ext cx="3575999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개선 솔루션으로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전환하는 사람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4000" y="2052000"/>
            <a:ext cx="3683999" cy="3348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4000" y="2052000"/>
            <a:ext cx="3683999" cy="251999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0000" y="2052000"/>
            <a:ext cx="361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역량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8196000" y="2357999"/>
            <a:ext cx="3539999" cy="299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CAPA,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보관·임대면적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차량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소요대수로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표 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장으로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끝나지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- ROI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우선순위를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가능한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대안인지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예산·일정·조직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운영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)과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중장기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)을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구분해서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효과를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사후에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것까지가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역할이다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43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전체가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3일간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배우게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될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043999" y="1584000"/>
            <a:ext cx="198001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26000" y="1584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000" y="5526000"/>
            <a:ext cx="114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맑은 고딕"/>
                <a:ea typeface="맑은 고딕"/>
              </a:rPr>
              <a:t>오전은 개념, 오후와 2일차는 SQL로 손에 익히기, 3일차는 AI로 완성하는 순서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프로세스와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① 물류 프로세스와 DATA의 발생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1782000" cy="46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입고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93200" y="1332000"/>
            <a:ext cx="1782000" cy="46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472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보관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6400" y="1332000"/>
            <a:ext cx="1782000" cy="46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804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재고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9600" y="1332000"/>
            <a:ext cx="1782000" cy="46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3599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피킹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800" y="1332000"/>
            <a:ext cx="1782000" cy="46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468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출고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26000" y="1332000"/>
            <a:ext cx="1782000" cy="46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800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배송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420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752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084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416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8748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51000" y="1800000"/>
            <a:ext cx="0" cy="432000"/>
          </a:xfrm>
          <a:prstGeom prst="line">
            <a:avLst/>
          </a:prstGeom>
          <a:ln w="15875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0000" y="2232000"/>
            <a:ext cx="1782000" cy="2376000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iagbody"/>
          <p:cNvSpPr txBox="1"/>
          <p:nvPr/>
        </p:nvSpPr>
        <p:spPr>
          <a:xfrm>
            <a:off x="413999" y="2296799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입고일자·입고시간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공급처명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코드·상품명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입고수량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(BOX/EA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판정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입고오류율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4.8%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84200" y="1800000"/>
            <a:ext cx="0" cy="432000"/>
          </a:xfrm>
          <a:prstGeom prst="line">
            <a:avLst/>
          </a:prstGeom>
          <a:ln w="1587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293200" y="2232000"/>
            <a:ext cx="1782000" cy="237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iagbody"/>
          <p:cNvSpPr txBox="1"/>
          <p:nvPr/>
        </p:nvSpPr>
        <p:spPr>
          <a:xfrm>
            <a:off x="2347200" y="2296800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Location 코드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(Zone-Rack-Level)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SKU별 보관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위치 매핑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보관 수량·보관 형태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Location별 적재율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동선과의 거리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고빈도 SKU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근접 배치 여부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17400" y="1800000"/>
            <a:ext cx="0" cy="432000"/>
          </a:xfrm>
          <a:prstGeom prst="line">
            <a:avLst/>
          </a:prstGeom>
          <a:ln w="1587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226400" y="2232000"/>
            <a:ext cx="1782000" cy="2376000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iagbody"/>
          <p:cNvSpPr txBox="1"/>
          <p:nvPr/>
        </p:nvSpPr>
        <p:spPr>
          <a:xfrm>
            <a:off x="4280400" y="2296800"/>
            <a:ext cx="1674000" cy="2129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기초재고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당일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기말재고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Aging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후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경과일수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Aging 180일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초과</a:t>
            </a:r>
            <a:br>
              <a:rPr dirty="0"/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20개(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금액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13.9%)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재고회전율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기초값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재고÷출고=회전일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7050600" y="1800000"/>
            <a:ext cx="0" cy="432000"/>
          </a:xfrm>
          <a:prstGeom prst="line">
            <a:avLst/>
          </a:prstGeom>
          <a:ln w="15875">
            <a:solidFill>
              <a:srgbClr val="6A9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59600" y="2232000"/>
            <a:ext cx="1782000" cy="2376000"/>
          </a:xfrm>
          <a:prstGeom prst="rect">
            <a:avLst/>
          </a:prstGeom>
          <a:solidFill>
            <a:srgbClr val="F5F7FB"/>
          </a:solidFill>
          <a:ln w="1270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iagbody"/>
          <p:cNvSpPr txBox="1"/>
          <p:nvPr/>
        </p:nvSpPr>
        <p:spPr>
          <a:xfrm>
            <a:off x="6213599" y="2296799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주문번호·SKU·수량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시작·종료 시각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담당자·작업 존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단위시간당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라인수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동선 이동거리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오피킹·결품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발생 여부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83800" y="1800000"/>
            <a:ext cx="0" cy="432000"/>
          </a:xfrm>
          <a:prstGeom prst="line">
            <a:avLst/>
          </a:prstGeom>
          <a:ln w="15875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092800" y="2232000"/>
            <a:ext cx="1782000" cy="2376000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iagbody"/>
          <p:cNvSpPr txBox="1"/>
          <p:nvPr/>
        </p:nvSpPr>
        <p:spPr>
          <a:xfrm>
            <a:off x="8146800" y="2296800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주문처(거래처) 코드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출고수량·출고형태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(단포/합포)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 시각·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 라인수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15시 Peak =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시간평균 2.28배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ABC 등급 매핑 결과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917000" y="1800000"/>
            <a:ext cx="0" cy="432000"/>
          </a:xfrm>
          <a:prstGeom prst="line">
            <a:avLst/>
          </a:prstGeom>
          <a:ln w="1587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026000" y="2232000"/>
            <a:ext cx="1782000" cy="237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iagbody"/>
          <p:cNvSpPr txBox="1"/>
          <p:nvPr/>
        </p:nvSpPr>
        <p:spPr>
          <a:xfrm>
            <a:off x="10080000" y="2296800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배송처·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 권역 코드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차량번호·차량 유형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적재량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(PLT/BOX 환산값)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 순서·소요시간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 소요대수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산정 근거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000" y="4716000"/>
            <a:ext cx="114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맑은 고딕"/>
                <a:ea typeface="맑은 고딕"/>
              </a:rPr>
              <a:t>여섯 단계마다 남는 데이터가 물류 데이터 분석의 기본 틀이다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프로세스와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프로세스별 주요 DATA 요약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076413"/>
              </p:ext>
            </p:extLst>
          </p:nvPr>
        </p:nvGraphicFramePr>
        <p:xfrm>
          <a:off x="360000" y="1296000"/>
          <a:ext cx="1144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프로세스</a:t>
                      </a:r>
                      <a:endParaRPr sz="16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주요</a:t>
                      </a:r>
                      <a:r>
                        <a:rPr sz="16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DATA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연결되는 분석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입고일자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SKU,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 패턴, 공급처 오류율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보관/재고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Location, SKU,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Aging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재고회전율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적정재고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피킹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주문, SKU, 수량, 작업시간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생산성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동선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분석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주문처, 출고량, 출고형태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ABC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분석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Peak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분석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배송처, 권역, 차량, 배송량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차량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소요대수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계획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0000" y="5724000"/>
            <a:ext cx="11448000" cy="55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5874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표가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기본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틀이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프로세스와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② 물류 DATA의 세 가지 종류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96000"/>
            <a:ext cx="3456000" cy="3024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3456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338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기준정보 (Master)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691999"/>
            <a:ext cx="3311999" cy="257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SKU, 상품코드, 상품명, 규격, 바코드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거래처(고객사) 코드·상호·배송권역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공급처 코드·상호·연락처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Location 코드(Zone-Rack-Level 체계)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차량정보(차량번호·유형·적재능력)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출고형태 코드(단포/합포/단수 분류기준)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자주 변하지 않지만,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품질이 이후 모든 분석의 신뢰도를 결정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2000" y="1296000"/>
            <a:ext cx="3456000" cy="302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2000" y="1296000"/>
            <a:ext cx="3456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8000" y="1296000"/>
            <a:ext cx="338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거래정보 (Transaction)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7703999" y="1692000"/>
            <a:ext cx="3311999" cy="2618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입고Raw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994건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입고일자·공급처·SKU·수량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출고Raw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11,867라인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주문처·SKU·수량·형태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재고Raw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- 150행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SKU·Location·재고량·Aging·재고금액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DATA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주문번호·SKU·수량·주문시각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DATA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배송처·권역·차량·배송량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실제로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(Event)의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매일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매시간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계속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쌓이는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살아있는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4000" y="4517216"/>
            <a:ext cx="5040000" cy="1332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4000" y="4517216"/>
            <a:ext cx="5040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0000" y="4517216"/>
            <a:ext cx="496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분석 DATA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3276000" y="4913216"/>
            <a:ext cx="4896000" cy="891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32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일/월/SKU/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거래처별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2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재고회전일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ABC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EIQ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Peak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2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+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거래정보를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가공해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만드는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결과물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29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제안서·보고서에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들어가는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최종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산출물</a:t>
            </a:r>
            <a:endParaRPr sz="1400" b="1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0000" y="5981700"/>
            <a:ext cx="11448000" cy="5207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000" y="5994400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기준정보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품질이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나쁘면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정교한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기법을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써도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결과가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왜곡된다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0000" y="6248400"/>
            <a:ext cx="5889644" cy="233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2일차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기준정보의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중요성과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바로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연결되는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지점</a:t>
            </a:r>
            <a:endParaRPr sz="1450" b="0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EF76397-9B44-3487-5BE3-B1CDD74C7C9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815999" y="1467000"/>
            <a:ext cx="1188000" cy="30502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013FEECF-89D4-76E5-2C3B-25E83CF60104}"/>
              </a:ext>
            </a:extLst>
          </p:cNvPr>
          <p:cNvCxnSpPr>
            <a:cxnSpLocks/>
          </p:cNvCxnSpPr>
          <p:nvPr/>
        </p:nvCxnSpPr>
        <p:spPr>
          <a:xfrm rot="5400000">
            <a:off x="5512892" y="2398108"/>
            <a:ext cx="3050216" cy="1188000"/>
          </a:xfrm>
          <a:prstGeom prst="bentConnector3">
            <a:avLst>
              <a:gd name="adj1" fmla="val 6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① 물류 DATA 분석의 기본 6단계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분석의 기본 골격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13236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750885"/>
            <a:ext cx="3508800" cy="1011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1)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에서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시작해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2)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3)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수집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          4)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5)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결과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해석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거쳐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6)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개선안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도출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끝난다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[6</a:t>
            </a:r>
            <a:r>
              <a:rPr lang="ko-KR" alt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단계</a:t>
            </a:r>
            <a:r>
              <a:rPr lang="en-US" altLang="ko-KR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]</a:t>
            </a:r>
            <a:endParaRPr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2997600"/>
            <a:ext cx="3696000" cy="13236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34122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정의하지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않고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데이터부터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뒤지면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길을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잃는다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0000" y="4400400"/>
            <a:ext cx="3696000" cy="13236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48150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"내가 지금 무엇을 알고 싶은가"라는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질문이 모든 분석의 출발점이다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 다룰 세 가지 핵심 기법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594800"/>
            <a:ext cx="3696000" cy="13236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29600" y="20094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소수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품목이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대부분을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움직인다는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원리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36000" y="2997600"/>
            <a:ext cx="3696000" cy="13236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34122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EIQ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구조가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결국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센터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결정한다는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원리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36000" y="4400400"/>
            <a:ext cx="3696000" cy="13236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48150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Peak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br>
              <a:rPr lang="ko-KR" alt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피크치로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설계한다는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원리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이 여섯 단계를 쓰는 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2000" y="1594800"/>
            <a:ext cx="3696000" cy="13236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5600" y="188015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내내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            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그리고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현장에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돌아가서도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계속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쓰게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될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틀이다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12000" y="2997600"/>
            <a:ext cx="3696000" cy="13236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5600" y="34122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3일차 AI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실습은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   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이 틀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위에서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진행된다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12000" y="4400400"/>
            <a:ext cx="3696000" cy="13236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5600" y="48150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컨설팅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보고서의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목차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구조도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대체로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여섯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단계를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따라간다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ABC 분석 - 상위 소수가 대부분을 움직인다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96000"/>
            <a:ext cx="3683999" cy="309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A등급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691999"/>
            <a:ext cx="3539999" cy="2459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10~20%</a:t>
            </a: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70~80%</a:t>
            </a: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접근성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좋은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위치에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고밀도로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3일차 데이터셋은</a:t>
            </a:r>
            <a:b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22개 SKU(14.7%)가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출고 라인의 80.0%를 차지한다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000" y="1296000"/>
            <a:ext cx="3683999" cy="309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42000" y="1296000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8000" y="1296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B등급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14000" y="1691998"/>
            <a:ext cx="3539999" cy="2394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20~30%</a:t>
            </a: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15~20%</a:t>
            </a: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A등급과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C등급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사이의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완충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지대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변동에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등급이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바뀐다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월별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재평가가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필요한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SKU군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4000" y="1296000"/>
            <a:ext cx="3683999" cy="309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4000" y="1296000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0000" y="1296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C등급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8196000" y="1691998"/>
            <a:ext cx="3539999" cy="2394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50~70%</a:t>
            </a: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5~10%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미만</a:t>
            </a:r>
            <a:endParaRPr sz="1400" b="1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접근성보다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밀도를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장기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체류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시 Aging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전환될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일부는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단종·처분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후보로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0000" y="4536000"/>
            <a:ext cx="11448000" cy="1836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0000" y="4536000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6000" y="4578471"/>
            <a:ext cx="11376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실무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적용</a:t>
            </a:r>
            <a:r>
              <a:rPr 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lang="ko-KR" alt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2" name="diagbody"/>
          <p:cNvSpPr txBox="1"/>
          <p:nvPr/>
        </p:nvSpPr>
        <p:spPr>
          <a:xfrm>
            <a:off x="432000" y="4932000"/>
            <a:ext cx="11304000" cy="13726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A등급은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접근성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좋은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곳에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고밀도로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C등급은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보관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밀도를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우선해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배치한다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SKU 14.7%가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라인의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80.0%를 차지한다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lang="ko-KR" altLang="en-US"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</a:p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확인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질문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: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SKU가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창고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안쪽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구석에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있다면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?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동선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비효율의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신호에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가깝다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등급은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고정값이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시즌·프로모션에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따라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주기적으로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재산정해야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교시 </a:t>
            </a: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분석기법 개관</a:t>
            </a:r>
            <a:endParaRPr sz="1600" b="1" i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직접 계산해보기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ABC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분석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(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)  [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실습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빈칸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]</a:t>
            </a:r>
            <a:endParaRPr sz="2400" b="1" i="0">
              <a:solidFill>
                <a:srgbClr val="111111"/>
              </a:solidFill>
              <a:latin typeface="맑은 고딕"/>
              <a:ea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</a:t>
            </a:r>
            <a:r>
              <a:rPr lang="ko-KR" alt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일차 오전 이론교육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15493"/>
            <a:ext cx="11232000" cy="2330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450" b="1" i="0">
                <a:solidFill>
                  <a:srgbClr val="8A5A10"/>
                </a:solidFill>
                <a:latin typeface="맑은 고딕"/>
                <a:ea typeface="맑은 고딕"/>
              </a:rPr>
              <a:t>가상의 물류센터다. 왼쪽 SKU별 월 출고량으로 누적구성비를 계산해 오른쪽 표를 채워 본다.</a:t>
            </a:r>
            <a:endParaRPr sz="1450" b="1" i="0">
              <a:solidFill>
                <a:srgbClr val="8A5A1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84270"/>
              </p:ext>
            </p:extLst>
          </p:nvPr>
        </p:nvGraphicFramePr>
        <p:xfrm>
          <a:off x="5727700" y="1565999"/>
          <a:ext cx="603504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</a:t>
                      </a: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개수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비중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누계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출고량 합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물량비중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A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B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C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5352E64-B071-C340-39DB-F596DB354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3846"/>
              </p:ext>
            </p:extLst>
          </p:nvPr>
        </p:nvGraphicFramePr>
        <p:xfrm>
          <a:off x="355600" y="1565999"/>
          <a:ext cx="51206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비중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누계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월 출고량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(개)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누계비중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7650189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SKU01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83789227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340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403943162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SKU03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35845207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SKU04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81345068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SKU05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87017238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SKU06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99199363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SKU07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44854439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SKU08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98634484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SKU09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6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31302768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SKU10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3310082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27700" y="3638396"/>
            <a:ext cx="60325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2758A7"/>
                </a:solidFill>
                <a:latin typeface="맑은 고딕"/>
              </a:rPr>
              <a:t>등급</a:t>
            </a:r>
            <a:r>
              <a:rPr sz="1600" b="1" dirty="0">
                <a:solidFill>
                  <a:srgbClr val="2758A7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2758A7"/>
                </a:solidFill>
                <a:latin typeface="맑은 고딕"/>
              </a:rPr>
              <a:t>기준</a:t>
            </a:r>
            <a:endParaRPr sz="1600" b="1" dirty="0">
              <a:solidFill>
                <a:srgbClr val="2758A7"/>
              </a:solidFill>
              <a:latin typeface="맑은 고딕"/>
            </a:endParaRPr>
          </a:p>
          <a:p>
            <a:r>
              <a:rPr sz="1600" b="0" dirty="0" err="1">
                <a:solidFill>
                  <a:srgbClr val="2758A7"/>
                </a:solidFill>
                <a:latin typeface="맑은 고딕"/>
              </a:rPr>
              <a:t>A등급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=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누적구성비가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80%에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도달하는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SKU까지</a:t>
            </a:r>
            <a:endParaRPr sz="1600" b="0" dirty="0">
              <a:solidFill>
                <a:srgbClr val="2758A7"/>
              </a:solidFill>
              <a:latin typeface="맑은 고딕"/>
            </a:endParaRPr>
          </a:p>
          <a:p>
            <a:r>
              <a:rPr sz="1600" b="0" dirty="0" err="1">
                <a:solidFill>
                  <a:srgbClr val="2758A7"/>
                </a:solidFill>
                <a:latin typeface="맑은 고딕"/>
              </a:rPr>
              <a:t>B등급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=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누적구성비가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95%에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도달하는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SKU까지</a:t>
            </a:r>
            <a:endParaRPr sz="1600" b="0" dirty="0">
              <a:solidFill>
                <a:srgbClr val="2758A7"/>
              </a:solidFill>
              <a:latin typeface="맑은 고딕"/>
            </a:endParaRPr>
          </a:p>
          <a:p>
            <a:r>
              <a:rPr sz="1600" b="0" dirty="0" err="1">
                <a:solidFill>
                  <a:srgbClr val="2758A7"/>
                </a:solidFill>
                <a:latin typeface="맑은 고딕"/>
              </a:rPr>
              <a:t>C등급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=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나머지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SKU</a:t>
            </a:r>
          </a:p>
        </p:txBody>
      </p:sp>
    </p:spTree>
    <p:extLst>
      <p:ext uri="{BB962C8B-B14F-4D97-AF65-F5344CB8AC3E}">
        <p14:creationId xmlns:p14="http://schemas.microsoft.com/office/powerpoint/2010/main" val="3842427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교시 </a:t>
            </a: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분석기법 개관</a:t>
            </a:r>
            <a:endParaRPr sz="1600" b="1" i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정답 확인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ABC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등급 계산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(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)  [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실습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확인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]</a:t>
            </a:r>
            <a:endParaRPr sz="2400" b="1" i="0">
              <a:solidFill>
                <a:srgbClr val="111111"/>
              </a:solidFill>
              <a:latin typeface="맑은 고딕"/>
              <a:ea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</a:t>
            </a:r>
            <a:r>
              <a:rPr lang="ko-KR" alt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일차 오전 이론교육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15493"/>
            <a:ext cx="11232000" cy="2330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450" b="1" i="0">
                <a:solidFill>
                  <a:srgbClr val="1F5C2E"/>
                </a:solidFill>
                <a:latin typeface="맑은 고딕"/>
                <a:ea typeface="맑은 고딕"/>
              </a:rPr>
              <a:t>직접 계산한 값과 비교해 본다</a:t>
            </a:r>
            <a:r>
              <a:rPr lang="en-US" altLang="ko-KR" sz="1450" b="1" i="0">
                <a:solidFill>
                  <a:srgbClr val="1F5C2E"/>
                </a:solidFill>
                <a:latin typeface="맑은 고딕"/>
                <a:ea typeface="맑은 고딕"/>
              </a:rPr>
              <a:t>. </a:t>
            </a:r>
            <a:r>
              <a:rPr lang="ko-KR" altLang="en-US" sz="1450" b="1" i="0">
                <a:solidFill>
                  <a:srgbClr val="1F5C2E"/>
                </a:solidFill>
                <a:latin typeface="맑은 고딕"/>
                <a:ea typeface="맑은 고딕"/>
              </a:rPr>
              <a:t>아래는 정답이다</a:t>
            </a:r>
            <a:r>
              <a:rPr lang="en-US" altLang="ko-KR" sz="1450" b="1" i="0">
                <a:solidFill>
                  <a:srgbClr val="1F5C2E"/>
                </a:solidFill>
                <a:latin typeface="맑은 고딕"/>
                <a:ea typeface="맑은 고딕"/>
              </a:rPr>
              <a:t>.</a:t>
            </a:r>
            <a:endParaRPr sz="1450" b="1" i="0">
              <a:solidFill>
                <a:srgbClr val="1F5C2E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349456"/>
              </p:ext>
            </p:extLst>
          </p:nvPr>
        </p:nvGraphicFramePr>
        <p:xfrm>
          <a:off x="5727700" y="1565999"/>
          <a:ext cx="6035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개수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누계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출고량 합</a:t>
                      </a:r>
                      <a:endParaRPr sz="1450" b="1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물량비중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A등급</a:t>
                      </a: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2개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20.0%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800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80.0%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80.0%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B등급</a:t>
                      </a: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3개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30.0%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150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15.0%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95.0%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C등급</a:t>
                      </a: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5개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100.0%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50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100.0%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727700" y="3474720"/>
          <a:ext cx="60325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360000" y="5537200"/>
            <a:ext cx="11448000" cy="9144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5678758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상위 2개 SKU(전체 10개 중 20%)가 월 출고량의 80%를 차지한다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0000" y="6047058"/>
            <a:ext cx="1094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상위 소수 품목이 물동량 대부분을 움직인다는 </a:t>
            </a:r>
            <a:r>
              <a:rPr lang="en-US" altLang="ko-KR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ABC </a:t>
            </a:r>
            <a:r>
              <a:rPr lang="ko-KR" altLang="en-US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원리를</a:t>
            </a:r>
            <a:r>
              <a:rPr lang="en-US" altLang="ko-KR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실제 데이터가 아닌 이 예시로 손으로 직접 확인한 것이다</a:t>
            </a:r>
            <a:endParaRPr sz="1450" b="0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0AE1BD6-D90E-D1A7-6D81-C62B3E54B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439598"/>
              </p:ext>
            </p:extLst>
          </p:nvPr>
        </p:nvGraphicFramePr>
        <p:xfrm>
          <a:off x="355600" y="1565999"/>
          <a:ext cx="5120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비중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누계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월 출고량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(개)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누계비중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6110105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1270191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340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34.0%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16606632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SKU03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88.0%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99546319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SKU04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92.0%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55993874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SKU05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50.0%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95.0%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34190827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SKU06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60.0%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97.0%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408691422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SKU07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70.0%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1.2%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98.2%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8451543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SKU08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0.8%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99.0%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90208782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SKU09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6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0.6%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99.6%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21644964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SKU10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0.4%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909901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252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EIQ 분석 - 주문 구조가 설비를 결정한다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61544" y="1260000"/>
            <a:ext cx="6324912" cy="413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40606" y="1332764"/>
            <a:ext cx="6166789" cy="268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EIQ = Entry(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주문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) x</a:t>
            </a:r>
            <a:r>
              <a:rPr 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Item(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품목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) x Quantity(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수량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340000"/>
            <a:ext cx="3672000" cy="2808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340000"/>
            <a:ext cx="3672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340000"/>
            <a:ext cx="360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EN 분석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735999"/>
            <a:ext cx="3528000" cy="2151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Entry(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주문건수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) x</a:t>
            </a:r>
            <a:r>
              <a:rPr lang="en-US"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Number(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품목수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lang="en-US" sz="1400" b="1" dirty="0">
                <a:solidFill>
                  <a:srgbClr val="222222"/>
                </a:solidFill>
                <a:latin typeface="맑은 고딕"/>
                <a:ea typeface="맑은 고딕"/>
              </a:rPr>
              <a:t>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1건당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측정한다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크면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여러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담긴다는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뜻이다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합포장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비중이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높다는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신호로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해석한다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합포장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멀티피킹·소터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13" name="Connector 12"/>
          <p:cNvCxnSpPr/>
          <p:nvPr/>
        </p:nvCxnSpPr>
        <p:spPr>
          <a:xfrm flipH="1">
            <a:off x="2196000" y="1674000"/>
            <a:ext cx="3528000" cy="6660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48000" y="2340000"/>
            <a:ext cx="3672000" cy="2808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8000" y="2340000"/>
            <a:ext cx="3672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84000" y="2340000"/>
            <a:ext cx="360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IQ 분석</a:t>
            </a:r>
          </a:p>
        </p:txBody>
      </p:sp>
      <p:sp>
        <p:nvSpPr>
          <p:cNvPr id="17" name="diagbody"/>
          <p:cNvSpPr txBox="1"/>
          <p:nvPr/>
        </p:nvSpPr>
        <p:spPr>
          <a:xfrm>
            <a:off x="4320000" y="2735997"/>
            <a:ext cx="3528000" cy="21954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Item x Quantity,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집중도를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측정한다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물량이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몰리면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배치피킹이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유리하다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여러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고르게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퍼지면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존피킹이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유리하다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피킹 방식 선정 시 참고 지표로 활용한다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529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교차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신뢰도를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높인다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724000" y="1674000"/>
            <a:ext cx="360000" cy="6660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136000" y="2340000"/>
            <a:ext cx="3672000" cy="2808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6000" y="2340000"/>
            <a:ext cx="3672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2000" y="2340000"/>
            <a:ext cx="360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IK 분석</a:t>
            </a:r>
          </a:p>
        </p:txBody>
      </p:sp>
      <p:sp>
        <p:nvSpPr>
          <p:cNvPr id="22" name="diagbody"/>
          <p:cNvSpPr txBox="1"/>
          <p:nvPr/>
        </p:nvSpPr>
        <p:spPr>
          <a:xfrm>
            <a:off x="8208000" y="2735999"/>
            <a:ext cx="3528000" cy="237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Item x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빈도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빈도수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lang="en-US" sz="1400" b="1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를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조합한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나가는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고밀도·근접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유리하다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드물게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나가는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원거리·고층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적합하다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보충 주기·수량 결정의 참고 지표다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회전율과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봐야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정확한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결론에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724000" y="1674000"/>
            <a:ext cx="4248000" cy="6660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60000" y="5239758"/>
            <a:ext cx="11448000" cy="90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0000" y="5239758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6000" y="5239758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핵심 효용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800" y="5616334"/>
            <a:ext cx="11318400" cy="4700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출고량이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같아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보여도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형태가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다르면</a:t>
            </a:r>
            <a:r>
              <a:rPr lang="en-US"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필요한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설비가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완전히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달라진다는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EIQ의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궁극적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효용이다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세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지표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(EN·IQ·IK)를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봐야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오분류를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피할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EN·IQ·IK의 정의·산식은 본 교안 기준이며, 설비 선정 시 다른 지표와 함께 검토한다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Peak 분석 - 평균의 함정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68000"/>
            <a:ext cx="5616000" cy="2880000"/>
          </a:xfrm>
          <a:prstGeom prst="rect">
            <a:avLst/>
          </a:prstGeom>
          <a:solidFill>
            <a:srgbClr val="ECEEF2"/>
          </a:solidFill>
          <a:ln w="1397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368000"/>
            <a:ext cx="5616000" cy="342000"/>
          </a:xfrm>
          <a:prstGeom prst="rect">
            <a:avLst/>
          </a:prstGeom>
          <a:solidFill>
            <a:srgbClr val="A3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368000"/>
            <a:ext cx="554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연평균 기준 설계 (X)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763999"/>
            <a:ext cx="5472000" cy="24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365일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총합을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365로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나눈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일평균으로</a:t>
            </a:r>
            <a:b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보관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용량과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처리속도를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설계한다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요일별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급등이나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명절·프로모션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특수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시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대응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여력이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없다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대량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미출고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결품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철야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연장근무가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반복된다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CAPA가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만성적으로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부족한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상태가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지속된다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문제의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원인을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"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부족"으로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오판하기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쉽다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이후에도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상시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대응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인력을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유지해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비효율이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커진다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2000" y="1368000"/>
            <a:ext cx="5616000" cy="288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2000" y="1368000"/>
            <a:ext cx="5616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8000" y="1410471"/>
            <a:ext cx="5544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백분위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(O)</a:t>
            </a:r>
            <a:r>
              <a:rPr 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[</a:t>
            </a:r>
            <a:r>
              <a:rPr lang="ko-KR" alt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예</a:t>
            </a:r>
            <a:r>
              <a:rPr lang="en-US" altLang="ko-KR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,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/>
              </a:rPr>
              <a:t>P85 / P90]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" name="diagbody"/>
          <p:cNvSpPr txBox="1"/>
          <p:nvPr/>
        </p:nvSpPr>
        <p:spPr>
          <a:xfrm>
            <a:off x="6263999" y="1763999"/>
            <a:ext cx="5472000" cy="229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안정적인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상위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분위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(P85·P90)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기준으로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채택한다</a:t>
            </a:r>
            <a:endParaRPr sz="1450" b="1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P90은 관측기간의 90백분위값이며, 연중 보장은 아니다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P90 초과 물량은 추가조·외주 등 대안을 비용과 함께 검토한다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15시 Peak =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2.28배로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확인된다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증설과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운영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대응을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균형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있게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배분할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고정비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)와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변동비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외주·교대조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)의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최적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배분이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가능하다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설비는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아니라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성수기와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마감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피크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견디도록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설계하는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것이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기본이다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설계 물동량 산정 공식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260000"/>
            <a:ext cx="10728000" cy="720000"/>
          </a:xfrm>
          <a:prstGeom prst="rect">
            <a:avLst/>
          </a:prstGeom>
          <a:solidFill>
            <a:srgbClr val="F4E7C7"/>
          </a:solidFill>
          <a:ln w="15875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000" y="1260000"/>
            <a:ext cx="10368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2758A7"/>
                </a:solidFill>
                <a:latin typeface="맑은 고딕"/>
                <a:ea typeface="맑은 고딕"/>
              </a:rPr>
              <a:t>설계 물동량  =  피크 물량 × (1+연간성장률)^목표년수 × 안전율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출발점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466000"/>
            <a:ext cx="2713500" cy="2015999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평일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평균이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물량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성장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1500" y="2466000"/>
            <a:ext cx="2713500" cy="2015999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2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연간성장률(CAGR)로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목표년도까지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오차 대비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3000" y="2466000"/>
            <a:ext cx="2713500" cy="2015999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3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예측 오차에 대비해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안전율을 곱한다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최종 목적지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4500" y="2466000"/>
            <a:ext cx="2713500" cy="2015999"/>
          </a:xfrm>
          <a:prstGeom prst="rect">
            <a:avLst/>
          </a:prstGeom>
          <a:solidFill>
            <a:srgbClr val="F5F7FB"/>
          </a:solidFill>
          <a:ln w="1270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95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오전</a:t>
            </a:r>
            <a:r>
              <a:rPr lang="ko-KR" altLang="en-US"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이론의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종착점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설비 사양 검토의 출발값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적정재고 기본 개념 - 안전재고와 발주점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260000"/>
            <a:ext cx="10728000" cy="720000"/>
          </a:xfrm>
          <a:prstGeom prst="rect">
            <a:avLst/>
          </a:prstGeom>
          <a:solidFill>
            <a:srgbClr val="F4E7C7"/>
          </a:solidFill>
          <a:ln w="15875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000" y="1260000"/>
            <a:ext cx="10368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758A7"/>
                </a:solidFill>
                <a:latin typeface="맑은 고딕"/>
                <a:ea typeface="맑은 고딕"/>
              </a:rPr>
              <a:t>발주점 = 평균수요×리드타임 + 안전재고   /   안전재고 = 서비스수준(Z) × 수요변동성 × √리드타임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평균의 한계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466000"/>
            <a:ext cx="2713500" cy="2015999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평균 수요만 준비하면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수요가 튀면 결품 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서비스수준(Z)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1500" y="2466000"/>
            <a:ext cx="2713500" cy="2015999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2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품절 허용도를 정한다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95%면 Z=1.65를 쓴다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수요 변동성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3000" y="2466000"/>
            <a:ext cx="2713500" cy="2015999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3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수요가 들쭉날쭉할수록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안전재고가 커진다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리드타임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4500" y="2466000"/>
            <a:ext cx="2713500" cy="2015999"/>
          </a:xfrm>
          <a:prstGeom prst="rect">
            <a:avLst/>
          </a:prstGeom>
          <a:solidFill>
            <a:srgbClr val="F5F7FB"/>
          </a:solidFill>
          <a:ln w="1270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95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리드타임이 길수록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안전재고도 커진다(√)</a:t>
            </a:r>
          </a:p>
        </p:txBody>
      </p:sp>
      <p:sp>
        <p:nvSpPr>
          <p:cNvPr id="25" name="Rectangle 14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5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적정재고는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아니라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서비스수준·변동성·리드타임을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반영해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정하는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것이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기본이다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물류센터 마스터플랜 4단계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27270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Phase 1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물동량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52000"/>
            <a:ext cx="2727000" cy="384048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52000"/>
            <a:ext cx="2727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47999"/>
            <a:ext cx="2583000" cy="337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1년치 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Raw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정합성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ABC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등급별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SKU·물량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MFD(Material Flow Diagram)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흐름지도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작성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동선·병목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진단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Peak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물량·시간대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패턴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문제점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정량적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6999" y="1260000"/>
            <a:ext cx="27270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1000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Phase 2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To-Be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6999" y="2052000"/>
            <a:ext cx="2727000" cy="384048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6999" y="2052000"/>
            <a:ext cx="2727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02999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3338999" y="2447999"/>
            <a:ext cx="2583000" cy="31952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서비스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수준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(SLA)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리드타임·정확도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목표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프로세스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재정의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-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As-Is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To-Be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블록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(Block Layout)안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수립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적용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범위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1차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복수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정성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3999" y="1260000"/>
            <a:ext cx="27270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999" y="1304340"/>
            <a:ext cx="2619000" cy="559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Phase 3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ko-KR" alt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레이아웃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  <a:endParaRPr sz="18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73999" y="2052000"/>
            <a:ext cx="2727000" cy="384048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3999" y="2052000"/>
            <a:ext cx="2727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0000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6245999" y="2448000"/>
            <a:ext cx="2583000" cy="3183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처리능력·규격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확정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IT/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시스템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(WMS·WCS)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복수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설비업체별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견적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리스크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식별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대응방안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81000" y="1260000"/>
            <a:ext cx="2727000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4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Phase 4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투자 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1000" y="2052000"/>
            <a:ext cx="2727000" cy="384048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81000" y="2052000"/>
            <a:ext cx="2727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17000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30" name="diagbody"/>
          <p:cNvSpPr txBox="1"/>
          <p:nvPr/>
        </p:nvSpPr>
        <p:spPr>
          <a:xfrm>
            <a:off x="9152999" y="2447999"/>
            <a:ext cx="2583000" cy="2870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총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(CAPEX)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ROI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(3~5년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마스터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로드맵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수립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설비업체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선정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평가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경영진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최종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3086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93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01000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000" y="6035040"/>
            <a:ext cx="114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맑은 고딕"/>
                <a:ea typeface="맑은 고딕"/>
              </a:rPr>
              <a:t>Phase 1의 산출물(물동량 프로파일, MFD, ABC 등급)이 Phase 2~4의 입력값이 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출고 ~ 배송 DATA 연결 사례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68000"/>
            <a:ext cx="2131200" cy="90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출고형태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60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단포·합포·단수</a:t>
            </a:r>
            <a:r>
              <a:rPr sz="1400" b="0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분류</a:t>
            </a:r>
            <a:endParaRPr sz="140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89200" y="1368000"/>
            <a:ext cx="2131200" cy="900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배송처별 물량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52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거래처 단위 집계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8400" y="1368000"/>
            <a:ext cx="2131200" cy="900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24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권역별 물량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44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배송 노선 재집계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7600" y="1368000"/>
            <a:ext cx="2131200" cy="900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16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차량 적재능력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36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PLT/BOX 환산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6800" y="1368000"/>
            <a:ext cx="2131200" cy="90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08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차량 소요대수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28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최종 배차대수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912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204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496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788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60000" y="2628000"/>
            <a:ext cx="11448000" cy="2664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0000" y="2628000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6000" y="2628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데이터셋에서 확인되는 값</a:t>
            </a:r>
          </a:p>
        </p:txBody>
      </p:sp>
      <p:sp>
        <p:nvSpPr>
          <p:cNvPr id="29" name="diagbody"/>
          <p:cNvSpPr txBox="1"/>
          <p:nvPr/>
        </p:nvSpPr>
        <p:spPr>
          <a:xfrm>
            <a:off x="432000" y="3024000"/>
            <a:ext cx="11304000" cy="22179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15시 Peak =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2.28배,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요일은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금요일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최다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(2,349라인)</a:t>
            </a: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SKU 22개(14.7%)가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80.0%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차지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SKU0002가 10.9%로 1위</a:t>
            </a: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입고오류율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4.8%로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편차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존재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특정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관리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대상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Aging 180일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초과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20개(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재고금액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13.9%)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장기재고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처분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대상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10시·14시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쌍봉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패턴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오전·오후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448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3일차 AI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실습에서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값들을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0000" y="5386141"/>
            <a:ext cx="1144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3일차 AI 실습에서는 이 체인의 마지막 단계인 차량 소요대수를 직접 계산한다.</a:t>
            </a:r>
          </a:p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실습 데이터에는 권역·차량 마스터가 없으므로, 출고 수량에 SKU 중량·부피를 곱한</a:t>
            </a:r>
          </a:p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일별 총중량·총부피를 차량 적재능력으로 나눠 소요대수를 구한다.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② 물동량 DATA에서 물류센터 의사결정으로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4000" y="1260000"/>
            <a:ext cx="2160000" cy="576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8000" y="1413764"/>
            <a:ext cx="2052000" cy="268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물동량</a:t>
            </a:r>
            <a:r>
              <a:rPr 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808000"/>
            <a:ext cx="2145600" cy="194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808000"/>
            <a:ext cx="21456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레이아웃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3204000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어떤 상품을 어디에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배치할지 결정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ABC 등급별 접근성 매핑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동선 최소화 설계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동선 병목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구간 사전 식별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432800" y="1835999"/>
            <a:ext cx="4291200" cy="972001"/>
          </a:xfrm>
          <a:prstGeom prst="line">
            <a:avLst/>
          </a:prstGeom>
          <a:ln w="19050">
            <a:solidFill>
              <a:srgbClr val="3560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685600" y="2808000"/>
            <a:ext cx="2145600" cy="1944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85600" y="2808000"/>
            <a:ext cx="21456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16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자동화 CAPA</a:t>
            </a:r>
          </a:p>
        </p:txBody>
      </p:sp>
      <p:sp>
        <p:nvSpPr>
          <p:cNvPr id="17" name="diagbody"/>
          <p:cNvSpPr txBox="1"/>
          <p:nvPr/>
        </p:nvSpPr>
        <p:spPr>
          <a:xfrm>
            <a:off x="2757600" y="3204000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48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시간당 처리량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(라인/시간) 산정</a:t>
            </a:r>
          </a:p>
          <a:p>
            <a:pPr algn="ctr">
              <a:lnSpc>
                <a:spcPct val="90000"/>
              </a:lnSpc>
              <a:spcAft>
                <a:spcPts val="48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Peak 시간대 기준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설비 사양 결정</a:t>
            </a:r>
          </a:p>
          <a:p>
            <a:pPr algn="ctr">
              <a:lnSpc>
                <a:spcPct val="90000"/>
              </a:lnSpc>
              <a:spcAft>
                <a:spcPts val="48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병목 구간 식별</a:t>
            </a:r>
          </a:p>
          <a:p>
            <a:pPr algn="ctr">
              <a:lnSpc>
                <a:spcPct val="90000"/>
              </a:lnSpc>
              <a:spcAft>
                <a:spcPts val="354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설비 증설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여부 판단 근거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758400" y="1835999"/>
            <a:ext cx="1965600" cy="972001"/>
          </a:xfrm>
          <a:prstGeom prst="line">
            <a:avLst/>
          </a:prstGeom>
          <a:ln w="19050">
            <a:solidFill>
              <a:srgbClr val="4C7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11200" y="2808000"/>
            <a:ext cx="2145600" cy="1944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11200" y="2808000"/>
            <a:ext cx="21456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2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인력 소요량</a:t>
            </a:r>
          </a:p>
        </p:txBody>
      </p:sp>
      <p:sp>
        <p:nvSpPr>
          <p:cNvPr id="22" name="diagbody"/>
          <p:cNvSpPr txBox="1"/>
          <p:nvPr/>
        </p:nvSpPr>
        <p:spPr>
          <a:xfrm>
            <a:off x="5083200" y="3203998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시간대별 필요 인원 산정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피크/평시 교대조 편성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외주 투입 시점 결정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연장근무 필요 여부 판단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000" y="1835999"/>
            <a:ext cx="359999" cy="972001"/>
          </a:xfrm>
          <a:prstGeom prst="line">
            <a:avLst/>
          </a:prstGeom>
          <a:ln w="19050">
            <a:solidFill>
              <a:srgbClr val="6A97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36800" y="2808000"/>
            <a:ext cx="2145600" cy="194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36800" y="2808000"/>
            <a:ext cx="21456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28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보관·임대면적</a:t>
            </a:r>
          </a:p>
        </p:txBody>
      </p:sp>
      <p:sp>
        <p:nvSpPr>
          <p:cNvPr id="27" name="diagbody"/>
          <p:cNvSpPr txBox="1"/>
          <p:nvPr/>
        </p:nvSpPr>
        <p:spPr>
          <a:xfrm>
            <a:off x="7408799" y="3204000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보관량×회전율 반영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필요 Location 수 산정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임대료·투자비 비교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향후 3~5년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확장 여력 검토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24000" y="1835999"/>
            <a:ext cx="2685600" cy="972001"/>
          </a:xfrm>
          <a:prstGeom prst="line">
            <a:avLst/>
          </a:prstGeom>
          <a:ln w="19050">
            <a:solidFill>
              <a:srgbClr val="3560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662400" y="2808000"/>
            <a:ext cx="2145600" cy="1944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62400" y="2808000"/>
            <a:ext cx="21456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84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차량 소요대수</a:t>
            </a:r>
          </a:p>
        </p:txBody>
      </p:sp>
      <p:sp>
        <p:nvSpPr>
          <p:cNvPr id="32" name="diagbody"/>
          <p:cNvSpPr txBox="1"/>
          <p:nvPr/>
        </p:nvSpPr>
        <p:spPr>
          <a:xfrm>
            <a:off x="9734400" y="3203998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배송처·권역별 물량 집계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PLT 환산·적재율 반영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최종 배차 대수 산출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용차·자차 비중 결정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24000" y="1835999"/>
            <a:ext cx="5011200" cy="972001"/>
          </a:xfrm>
          <a:prstGeom prst="line">
            <a:avLst/>
          </a:prstGeom>
          <a:ln w="19050">
            <a:solidFill>
              <a:srgbClr val="4C7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0000" y="4896000"/>
            <a:ext cx="1072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758A7"/>
                </a:solidFill>
                <a:latin typeface="맑은 고딕"/>
                <a:ea typeface="맑은 고딕"/>
              </a:rPr>
              <a:t>이 자격과정의 차별점 : SQL과 AI는 도구일 뿐, 진짜 목적은 이 다섯 화살표(의사결정 연결)다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5166000"/>
            <a:ext cx="10728000" cy="9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출고형태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배송처별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물량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권역별 물량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차량 적재능력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차량 소요대수로 이어지는 연결 사례처럼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데이터 분석이 결국 실무 의사결정으로 이어진다는 것이 핵심이다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.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3일차는 AI로 이 가운데 레이아웃(ABC)·인력·자동화·차량을 직접 계산한다(면적은 개념만 다룬다).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교시 </a:t>
            </a: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분석기법 개관</a:t>
            </a:r>
            <a:endParaRPr sz="1600" b="1" i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오전 마무리 및 질의응답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3683999" cy="5076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3683999" cy="38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 오전 다룬 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3392"/>
            <a:ext cx="3683999" cy="1095272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8033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물류DATA분석사가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무엇을 하는 사람인지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9390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3187428"/>
            <a:ext cx="3683999" cy="1204799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" y="3187428"/>
            <a:ext cx="3496800" cy="1204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어떤 데이터가 어떻게 발생하는지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3778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680992"/>
            <a:ext cx="3683999" cy="1095272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6809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그 데이터로 무엇을 결정할 수 있는지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000" y="1206000"/>
            <a:ext cx="3683999" cy="5076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42000" y="1332000"/>
            <a:ext cx="3683999" cy="38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오후로의 연결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000" y="1803392"/>
            <a:ext cx="3683999" cy="1095272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35600" y="18033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오전 개념과 그림을 머릿속에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담아두고, 오후부터는 직접 손으로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SQL을 다루며 확인한다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000" y="29390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35608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000" y="3187428"/>
            <a:ext cx="3683999" cy="1204799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5600" y="3216228"/>
            <a:ext cx="3496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5608F"/>
                </a:solidFill>
                <a:latin typeface="맑은 고딕"/>
                <a:ea typeface="맑은 고딕"/>
              </a:rPr>
              <a:t>ABC·EIQ·Peak 같은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35600" y="3439428"/>
            <a:ext cx="3496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35600" y="3482629"/>
            <a:ext cx="3496800" cy="88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용어가 실습 데이터에서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어떻게 계산되는지 2일차에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처음 손으로 만져본다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000" y="43778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35608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000" y="4680992"/>
            <a:ext cx="3683999" cy="1095272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35600" y="46809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2일차, 3일차까지 이어지는 긴 흐름의 첫 관문을 오늘 오전에 통과했다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4000" y="1206000"/>
            <a:ext cx="3683999" cy="5076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24000" y="1332000"/>
            <a:ext cx="3683999" cy="38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질의응답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4000" y="1803392"/>
            <a:ext cx="3683999" cy="1095272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7600" y="18033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질문 있으신 분?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4000" y="29390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4C7BA8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4000" y="3187428"/>
            <a:ext cx="3683999" cy="1204799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7600" y="3216228"/>
            <a:ext cx="3496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4C7BA8"/>
                </a:solidFill>
                <a:latin typeface="맑은 고딕"/>
                <a:ea typeface="맑은 고딕"/>
              </a:rPr>
              <a:t>개념이 애매한 부분은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7600" y="3439428"/>
            <a:ext cx="3496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17600" y="3482629"/>
            <a:ext cx="3496800" cy="88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지금 짚고 넘어가는 것이 좋다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4000" y="43778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4C7BA8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4000" y="4680992"/>
            <a:ext cx="3683999" cy="1095272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7600" y="46809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오후 실습에서 막히면 오전 내용을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다시 떠올려 보시기 바란다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물류DATA분석사의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눈을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만들었다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00" y="468000"/>
            <a:ext cx="97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B9C7DD"/>
                </a:solidFill>
                <a:latin typeface="맑은 고딕"/>
                <a:ea typeface="맑은 고딕"/>
              </a:rPr>
              <a:t>PART 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810000"/>
            <a:ext cx="99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990600"/>
            <a:ext cx="104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3일차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AI 활용 실습교육 및 수료식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426800"/>
            <a:ext cx="1044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C99A2E"/>
                </a:solidFill>
                <a:latin typeface="맑은 고딕"/>
                <a:ea typeface="맑은 고딕"/>
              </a:rPr>
              <a:t>09:00~12:30 오전 / 12:30~13:30 점심 / 13:30~17:00 오후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786800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B9C7DD"/>
                </a:solidFill>
                <a:latin typeface="맑은 고딕"/>
                <a:ea typeface="맑은 고딕"/>
              </a:rPr>
              <a:t>AI-Assisted Logistics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3348000"/>
            <a:ext cx="10620000" cy="2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1교시 AI 질문설계 (60분)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2교시 입고·재고 DATA AI 분석 실습 (110분)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오전 실습 정리·질의응답 (40분)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3교시 출고·ABC·Peak Time AI 분석 실습 (80분)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4교시 결과 발표 및 검증 (70분)</a:t>
            </a:r>
          </a:p>
          <a:p>
            <a:r>
              <a:rPr sz="1650">
                <a:latin typeface="맑은 고딕"/>
              </a:rPr>
              <a:t>· 수료TEST · 수료식 (40분)</a:t>
            </a:r>
          </a:p>
          <a:p>
            <a:r>
              <a:rPr sz="1650">
                <a:latin typeface="맑은 고딕"/>
              </a:rPr>
              <a:t>· 휴식·전환시간 (20분)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083999"/>
            <a:ext cx="12192119" cy="774000"/>
          </a:xfrm>
          <a:prstGeom prst="rect">
            <a:avLst/>
          </a:prstGeom>
          <a:solidFill>
            <a:srgbClr val="11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00" y="6246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C99A2E"/>
                </a:solidFill>
                <a:latin typeface="맑은 고딕"/>
                <a:ea typeface="맑은 고딕"/>
              </a:rPr>
              <a:t>이기호  |  한국씨앤이 · 물류자동화 컨설턴트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443999"/>
            <a:ext cx="97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BABC8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0" y="6443999"/>
            <a:ext cx="176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9BABC8"/>
                </a:solidFill>
                <a:latin typeface="맑은 고딕"/>
                <a:ea typeface="맑은 고딕"/>
              </a:rPr>
              <a:t>Page 24 / 90</a:t>
            </a:r>
            <a:endParaRPr sz="1400" b="0" i="0">
              <a:solidFill>
                <a:srgbClr val="9BABC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지난 이틀, 무엇을 하셨습니까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1·2일차 요약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7048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1일차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물류DATA분석사가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하는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사람인지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개념을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잡았다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7569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1일차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DBMS·SSMS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SQL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문법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(SELECT·WHERE·GROUP BY)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11380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762284"/>
            <a:ext cx="3508800" cy="1011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2일차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SQL로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입고·재고·출고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조회하며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월별·요일별·시간대별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재고회전율까지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다루었다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0000" y="49162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9162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이 감각이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AI 실습의 전제조건이 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활용의 위치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AI는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9600" y="18468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9600" y="1987496"/>
            <a:ext cx="3508800" cy="453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SQL이나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통계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지식을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몰라도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되게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해주는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도구가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endParaRPr sz="14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26757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데이터 구조를 이해하는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29600" y="28989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29600" y="29421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사람일수록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AI에게</a:t>
            </a:r>
            <a:b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더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정확한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질문을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던질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endParaRPr sz="14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236000" y="3699000"/>
            <a:ext cx="3696000" cy="11380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29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오늘은 AI를 배우는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29600" y="39510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29600" y="3994200"/>
            <a:ext cx="3508800" cy="81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시간이 아니라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AI로 분석 속도를 높이는 시간이다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6000" y="49162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29600" y="49162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어제까지의 SQL 감각이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AI 질문의 품질을 결정한다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오늘의 목표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AI에게 정확한 질문을 설계하고,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입고·재고·출고·ABC·Peak 분석을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함께 수행한다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 결과를 그대로 믿지 않고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검증하는 방법을 익힌다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2000" y="3699000"/>
            <a:ext cx="3696000" cy="11380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5600" y="3699000"/>
            <a:ext cx="3508800" cy="113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분석결과를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레이아웃·인력·재고·자동화·차량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같은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개선방안으로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12000" y="49162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05600" y="49450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 마지막에는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05600" y="5178464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05600" y="52114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결과를 발표하고 수료TEST까지 마친다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0000" y="6045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지난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이틀의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감각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위에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AI를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얹어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속도를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높인다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오늘의 실습 데이터셋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280607"/>
              </p:ext>
            </p:extLst>
          </p:nvPr>
        </p:nvGraphicFramePr>
        <p:xfrm>
          <a:off x="360000" y="1296000"/>
          <a:ext cx="11448000" cy="391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시트명</a:t>
                      </a:r>
                      <a:endParaRPr sz="16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주요 컬럼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01_입고Raw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Inbound_ID·DateTime·Supplier·SKU·Category·Qty·Error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02_출고Raw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Order_ID·DateTime·Pick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Pack시각·SKU·Qty·Location·Worker·Customer·Error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11,867라인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03_SKU_Master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SKU·SKU_Name·Category·Case_Qty·규격·중량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150개 SKU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04_Location_Master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Location·Zone·Aisle·Bay·Level·X·Y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05_Inventory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SKU·Location·Stock_Qty·Oldest_Lot_In_Date·Aging_Days·재고금액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06_공급처_Master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Supplier·Main_Category(주 카테고리)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10개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07/08/09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Capacity / Cost / Automation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전 과정을 위해 신규 생성한 교육용 가상 데이터다. 실제 고객사 데이터가 아니다.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AI 질문설계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AI 분석도구와 좋은 질문의 조건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분석도구와 보안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11253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594800"/>
            <a:ext cx="3508800" cy="112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대화형 AI(ChatGPT·Claude 등)에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표(csv/xlsx)를 업로드해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분석을 요청할 수 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7993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7993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실제 거래처명이나 단가 같은 민감정보는 업로드 전 반드시 익명화한다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8514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8514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현장에 돌아가면 사내 AI 활용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보안 규정을 먼저 확인해야 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9035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9035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실습 데이터는 전 과정을 위해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신규 생성한 가상 데이터다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나쁜 질문과 좋은 질문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11253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나쁜 질문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9600" y="18468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9600" y="2063696"/>
            <a:ext cx="3508800" cy="453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"이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분석해줘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 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으로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형태로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원하는지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알 수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없다</a:t>
            </a:r>
            <a:endParaRPr sz="14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6000" y="27993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28281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좋은 질문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29600" y="3055475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29600" y="3073503"/>
            <a:ext cx="3564000" cy="6908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요일별·시간대별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입고건수를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표로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정리하고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집중되는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시간대와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원인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후보를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제시해줘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6000" y="38514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29600" y="38514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분석 대상, 분석 기준, 결과 형태가 모두 명확할수록 AI의 답변도 명확해진다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6000" y="49035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9600" y="49035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질문이 구체적일수록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검증해야 할 범위도 명확해진다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프롬프트 설계 4요소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594800"/>
            <a:ext cx="3696000" cy="11253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19102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①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역할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부여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당신은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물류센터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분석가입니다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000" y="27993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600" y="29093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②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설명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의미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단위를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명확히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알려준다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12000" y="38514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39614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③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목적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패턴·원인·개선안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중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원하는지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지정한다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112000" y="49035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5600" y="50135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④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출력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형태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표,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그래프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요약문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중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원하는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형식을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지정한다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0000" y="6045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요청하기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전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구조부터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설명해주는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습관이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핵심이다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AI 질문설계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AI 질문설계 : 무엇을, 왜 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AI가 우리 데이터를 제대로 이해하고, 원하는 모양으로 답하게 하려면?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데이터 설명 (입고)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AI는 열 이름만 보고 뜻을 추측한다. 추측이 틀리면 이후 분석이 모두 틀어진다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각 열의 뜻(입고번호·일시·공급처·수량·오류)을 AI에게 먼저 알려 준다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모든 분석의 정확도가 이 첫 단계에서 정해진다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데이터 설명 (출고) + 되말하기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4260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AI가 제대로 이해했는지 분석 전에 확인해야 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열의 뜻을 알려 주고 "이해했으면 요약해서 다시 말해줘"로 복창시킨다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요약에서 거래처·수량·주문시각이 맞게 나오는지 본다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8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③ 4요소를 갖춘 질문</a:t>
            </a:r>
          </a:p>
        </p:txBody>
      </p:sp>
      <p:sp>
        <p:nvSpPr>
          <p:cNvPr id="20" name="PurposeCard2"/>
          <p:cNvSpPr txBox="1"/>
          <p:nvPr/>
        </p:nvSpPr>
        <p:spPr>
          <a:xfrm>
            <a:off x="8124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역할·데이터 설명·분석 목적·출력 형태가 다 있어야 원하는 답이 한 번에 나온다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요일별·시간대별 입고 집중도 표와 3문장 요약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합계 행을 넣게 하면 AI가 데이터를 빠짐없이 읽었는지 바로 검증된다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4요소를 갖춘 질문은 이렇게 쓴다 (프롬프트 팁)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AI 질문설계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데이터 구조 설명 및 종합 프롬프트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7300"/>
            <a:ext cx="11448000" cy="1219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335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i="0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i="0" dirty="0">
                <a:solidFill>
                  <a:srgbClr val="1F5C2E"/>
                </a:solidFill>
                <a:latin typeface="맑은 고딕"/>
                <a:ea typeface="맑은 고딕"/>
              </a:rPr>
              <a:t>] 01_입고Raw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100"/>
            <a:ext cx="11088000" cy="80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업로드한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01_입고Raw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시트는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물류센터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데이터입니다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컬럼은</a:t>
            </a:r>
            <a:r>
              <a:rPr lang="en-US" sz="145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Inbound_ID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입고번호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Inbound_DateTime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입고일시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 Supplier(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공급처코드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</a:t>
            </a:r>
            <a:r>
              <a:rPr lang="en-US"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SKU, Category,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Inbound_Qty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Error_Type입니다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628900"/>
            <a:ext cx="11448000" cy="11811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7051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[프롬프트] 02_출고Raw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933700"/>
            <a:ext cx="11088000" cy="80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02_출고Raw는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피킹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데이터입니다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Order_ID·Line_No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Order_DateTime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</a:t>
            </a:r>
            <a:r>
              <a:rPr lang="en-US"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Pick_Start~Pack_End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SKU,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Unit_Qty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Location,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Worker_ID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Customer_ID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</a:t>
            </a:r>
            <a:b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</a:b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Error_YN·Error_Type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)로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구성됩니다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이 내용을 이해했으면 요약해서 다시 말해줘.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962400"/>
            <a:ext cx="11448000" cy="1224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40386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[종합 프롬프트]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267200"/>
            <a:ext cx="11088000" cy="80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당신은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물류센터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데이터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분석가입니다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01_입고Raw는 2026년 5월 한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달간의</a:t>
            </a:r>
            <a:r>
              <a:rPr lang="en-US"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실적입니다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요일별·시간대별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집중도를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정리하고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3문장으로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요약해줘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맨 아래에 합계 행도 넣어줘.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5662459"/>
            <a:ext cx="11448000" cy="5588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0000" y="5813330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지금부터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110분간 이 4요소를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적용한다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실습 절차 (110분)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21456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① 데이터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24000"/>
            <a:ext cx="2145600" cy="396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124000"/>
            <a:ext cx="21456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29999"/>
            <a:ext cx="2001599" cy="35662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01_입고Raw와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06_공급처_Master의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컬럼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구조를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AI에게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설명한다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컬럼명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기간을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명확히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알려줘야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AI가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정확히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두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시트가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Supplier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관계도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확인시킨다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건너뛰면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모든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부정확해진다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85600" y="1332000"/>
            <a:ext cx="21456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9600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② 요일·시간대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입고량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85600" y="2124000"/>
            <a:ext cx="2145600" cy="3960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85600" y="2124000"/>
            <a:ext cx="2145600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216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2757600" y="2430000"/>
            <a:ext cx="2001599" cy="2790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요일별·시간대별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입고건수를 집계한다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Inbound_Date로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주차별(5주) 입고건수와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월 합계도 정리한다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가장 집중되는 시간대와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원인 후보를 AI에게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물어본다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결과를 STEP2-A/B/C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실습표에 채워 넣는다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1200" y="1332000"/>
            <a:ext cx="21456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65200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③ 공급처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패턴·오류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1200" y="2124000"/>
            <a:ext cx="2145600" cy="3960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1200" y="2124000"/>
            <a:ext cx="2145600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2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5083200" y="2429999"/>
            <a:ext cx="2001599" cy="2532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Supplier별 입고건수와 총 입고수량을 정리한다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Error_YN=Y 건의 비율을 공급처별로 계산한다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Error_Type별 빈도수도 함께 표로 정리한다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거래조건·검수절차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재점검이 필요한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공급처를 짚어낸다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6800" y="1332000"/>
            <a:ext cx="2145600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90799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④ 재고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Aging·회전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6800" y="2124000"/>
            <a:ext cx="2145600" cy="3960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800" y="2124000"/>
            <a:ext cx="2145600" cy="251999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728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30" name="diagbody"/>
          <p:cNvSpPr txBox="1"/>
          <p:nvPr/>
        </p:nvSpPr>
        <p:spPr>
          <a:xfrm>
            <a:off x="7408799" y="2429999"/>
            <a:ext cx="2001599" cy="2790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Aging 180일 초과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SKU의 금액 비중과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Category 편중을 본다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재고량÷일평균 출고로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재고 커버일수를 구한다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안전재고·발주점으로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적정재고를 산정한다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장기재고 처분과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발주 정책 검토의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근거 자료가 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62400" y="1332000"/>
            <a:ext cx="21456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16400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⑤ 문제점·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개선안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62400" y="2124000"/>
            <a:ext cx="2145600" cy="396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62400" y="2124000"/>
            <a:ext cx="21456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84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36" name="diagbody"/>
          <p:cNvSpPr txBox="1"/>
          <p:nvPr/>
        </p:nvSpPr>
        <p:spPr>
          <a:xfrm>
            <a:off x="9734400" y="2429999"/>
            <a:ext cx="2001599" cy="33077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입고 집중, 공급처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오류율, 재고 Aging·회전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결과를 종합한다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가능성이 높은 문제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3가지를 AI에게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정리해달라고 요청한다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각 문제에 대한 개선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아이디어도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함께 표로 받는다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오후 출고·ABC·Peak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분석으로 넘어가는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다리 역할을 한다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5056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312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568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4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01_입고Raw · 02_출고Raw · 05_Inventory · 06_공급처_Master 시트 활용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2 - 입고 패턴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입고 인력과 도크(하역장)를 언제, 얼마나 배치해야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요일별 입고량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요일마다 들어오는 물량이 다르면 인력·도크를 요일별로 다르게 배치해야 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 입고건수·비중·입고수량과, 날 수로 나눈 일평균 건수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5월은 금·토·일이 5번, 월~목이 4번이라 건수만 비교하면 왜곡된다 → 일평균으로 비교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시간대별 입고량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4260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하루 중 몰리는 시간을 알아야 근무 시간과 도크 예약 시간을 정할 수 있다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시간대별 입고건수·비중·누계(하루 진행률)·입고수량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누계는 '몇 시까지 하루 물량의 몇 %가 들어왔나'다. 인력 투입·철수 시점을 정하는 숫자다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8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③ 주차별 입고량</a:t>
            </a:r>
          </a:p>
        </p:txBody>
      </p:sp>
      <p:sp>
        <p:nvSpPr>
          <p:cNvPr id="20" name="PurposeCard2"/>
          <p:cNvSpPr txBox="1"/>
          <p:nvPr/>
        </p:nvSpPr>
        <p:spPr>
          <a:xfrm>
            <a:off x="8124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월초·월말처럼 한 달 안에서 물량이 달라지는 흐름이 있는지 확인한다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주차별 입고건수·비중과 일평균, 평일 일평균·주말 일평균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주마다 평일·주말 날 수가 다르다(5주차는 3일뿐) → 평일·주말을 나눠 비교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세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2 - 요일별·시간대별·주차별 입고건수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399"/>
            <a:ext cx="11448000" cy="1188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요일별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월~일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(5월 중 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 수),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입고건수÷일수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합계 행도 넣어줘. 합계 행의 일평균은 전체 합계를 31일로 나눈 값으로 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543404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44204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시간대별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49404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시(時)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있는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이른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시간부터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집중되는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원인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후보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3가지를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제시해줘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3" name="Rectangle 9"/>
          <p:cNvSpPr/>
          <p:nvPr/>
        </p:nvSpPr>
        <p:spPr>
          <a:xfrm>
            <a:off x="360000" y="3861004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0"/>
          <p:cNvSpPr txBox="1"/>
          <p:nvPr/>
        </p:nvSpPr>
        <p:spPr>
          <a:xfrm>
            <a:off x="540000" y="3961803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C] 주차별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540000" y="4167004"/>
            <a:ext cx="11088000" cy="979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01_입고Raw의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1~7일=1주차, 8~14일=2주차, 15~21일=3주차, 22~28일=4주차, 29~31일=5주차로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나눠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예: 7 (5/2)),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5월 합계 행을 넣어줘. 합계 행의 일평균·평일 일평균·주말 일평균은 전체 합계를 해당 일수로 나눈 값으로 해줘.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2-A 실습표 - 요일별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AI 결과를 보며 아래 표를 직접 채운다.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2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6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64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 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25684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54235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313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8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5335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8195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648359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7740000" y="1565999"/>
            <a:ext cx="409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아래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그래프에서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빼줘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2-A 결과 확인 - 요일별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77321"/>
              </p:ext>
            </p:extLst>
          </p:nvPr>
        </p:nvGraphicFramePr>
        <p:xfrm>
          <a:off x="360000" y="1565999"/>
          <a:ext cx="5616000" cy="3727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 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15.1%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18,150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16.9%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19,142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2831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14.3%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14,826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5622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15.4%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19,036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62745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22.2%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26,534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44.2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10449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77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7.7%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9,176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92594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8.4%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8,042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7081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114,906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32.1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0783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221건으로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가장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많지만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5월에는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5번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봐도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44.2건으로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최다다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토·일은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15~17건으로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(35~44건)의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절반에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못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미친다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20000" y="1565999"/>
          <a:ext cx="5713199" cy="204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0000" y="3643199"/>
          <a:ext cx="5713199" cy="170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2-B 실습표 - 시간대별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200000" cy="4583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47769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914954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7802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557523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52659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642762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84680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99604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24696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68217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21483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7740000" y="1565999"/>
            <a:ext cx="4093199" cy="17963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시간당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 0~100%).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2-B 결과 확인 - 시간대별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5544000" cy="3727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4,766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20,248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14219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21,734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939808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3,244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939940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4,150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08477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5,814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00734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20,872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97969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87.1%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18,144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715646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6,770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603923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95.3%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3,348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732886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5,816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01326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114,906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46211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10시와 14시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(각 189건)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쌍봉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구조다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9·10·14·15시 4개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하루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입고의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70.9%가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몰린다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1일차에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배운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함정을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확인했다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48000" y="1565999"/>
          <a:ext cx="5785199" cy="21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048000" y="3718800"/>
          <a:ext cx="5785199" cy="1627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2-C 실습표 - 주차별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AI 결과를 보며 아래 표를 직접 채운다.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739538"/>
              </p:ext>
            </p:extLst>
          </p:nvPr>
        </p:nvGraphicFramePr>
        <p:xfrm>
          <a:off x="360000" y="1565999"/>
          <a:ext cx="720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0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69489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21891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2421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50498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225112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7740000" y="1565999"/>
            <a:ext cx="409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주차별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5월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평일·주말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2-C 결과 확인 - 주차별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92451"/>
              </p:ext>
            </p:extLst>
          </p:nvPr>
        </p:nvGraphicFramePr>
        <p:xfrm>
          <a:off x="360000" y="1565999"/>
          <a:ext cx="648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3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23.7%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33.7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41.6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22.1%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31.4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93378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23.9%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72186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219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22.0%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31.3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36.8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465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 (1/2)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8.1%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27.0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886958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 (21/10)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32.1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39.7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16.0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0606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5주차는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27.0건으로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낮아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보이지만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1일·주말 2일이라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요일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구성이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다르다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5주차도 38.0건으로 1~4주차(36.8~42.0건)와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비슷하다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83999" y="1565999"/>
          <a:ext cx="4849200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983999" y="3491999"/>
          <a:ext cx="4849200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3 - 공급처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어느 공급처를 먼저 관리해야 하는가? (물량과 품질)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공급처별 물량·품질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많이 보내는 곳(물량)과 자주 틀리는 곳(품질)을 함께 봐야 관리 우선순위를 정할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공급처별 주 카테고리·입고건수·비중·누계·입고수량·오류건수·오류율을 한 표로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입고Raw에는 주 카테고리 외 납품도 약 14% 섞여 있다. 비중을 반올림해 더하면 100%가 조금 어긋날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오류 유형과 판단 근거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어떤 유형의 오류인지 알아야 검수 절차의 어디를 고칠지 정할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전체 오류율, 오류율이 높은 공급처, 오류 유형별 건수·비중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1개월 자료라 오류 건수가 적다. 높아 보여도 우연일 수 있으니 근거가 충분한지 따진다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3 - 공급처별 패턴과 오류율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Supplier별로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(06_공급처_Master의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Main_Category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=Y),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비중·누계·오류율은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소수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첫째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자리까지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574000"/>
            <a:ext cx="11448000" cy="1728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748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1088000" cy="1216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 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유형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종류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높은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2위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1위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몇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배인지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Error_Type별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순(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같으면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가나다순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마지막으로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특정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유독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높다면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거래조건이나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검수절차를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재점검할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근거가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되는지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판단해줘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3" name="NoteBox_261003"/>
          <p:cNvSpPr txBox="1"/>
          <p:nvPr/>
        </p:nvSpPr>
        <p:spPr>
          <a:xfrm>
            <a:off x="540000" y="4603698"/>
            <a:ext cx="11088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맑은 고딕"/>
              </a:rPr>
              <a:t>주) 06_공급처_Master의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Main_Category는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공급처의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주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카테고리다</a:t>
            </a:r>
            <a:endParaRPr sz="1400" dirty="0">
              <a:solidFill>
                <a:srgbClr val="555555"/>
              </a:solidFill>
              <a:latin typeface="맑은 고딕"/>
            </a:endParaRPr>
          </a:p>
          <a:p>
            <a:r>
              <a:rPr sz="1400" dirty="0">
                <a:solidFill>
                  <a:srgbClr val="555555"/>
                </a:solidFill>
                <a:latin typeface="맑은 고딕"/>
              </a:rPr>
              <a:t>   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입고Raw에는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주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카테고리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외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납품도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일부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(994건 중 141건, 약 14%)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포함되어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있다</a:t>
            </a:r>
            <a:endParaRPr sz="1400" dirty="0">
              <a:solidFill>
                <a:srgbClr val="5555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3-A 실습표 - 공급처별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440"/>
              </p:ext>
            </p:extLst>
          </p:nvPr>
        </p:nvGraphicFramePr>
        <p:xfrm>
          <a:off x="360000" y="1565999"/>
          <a:ext cx="8150000" cy="4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8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7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공급처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주 카테고리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입고건수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입고수량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오류건수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오류율(%)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384599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973615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346186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21045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7883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2431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872533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33656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03056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합계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474553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690000" y="1565999"/>
            <a:ext cx="3143199" cy="2242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3-A 결과 확인 - 공급처별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상위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공급처가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입고의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45.6%로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특정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공급처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의존은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낮다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오류율은 공급처06 9.0%·09 7.4%로 평균(4.8%)보다 높지만, 1개월 자료라 우선 관찰하며 2~3개월 누적으로 확인한다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206273"/>
              </p:ext>
            </p:extLst>
          </p:nvPr>
        </p:nvGraphicFramePr>
        <p:xfrm>
          <a:off x="360000" y="1565999"/>
          <a:ext cx="6912000" cy="3880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78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공급처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오류율(%)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18,134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13,358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90875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13,472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725490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12,718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404062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10,778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51554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65.2%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12,352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857925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74.2%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9,276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79452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83.2%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9,246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1478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91.9%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7,820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119207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7,752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92673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114,906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32064"/>
                  </a:ext>
                </a:extLst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415999" y="1565999"/>
          <a:ext cx="4417200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415999" y="3491999"/>
          <a:ext cx="4417200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3-B 실습표 - 오류율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5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입고건수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06985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68456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 유형 종류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38907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71288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61895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1위 공급처 / 전체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855345"/>
                  </a:ext>
                </a:extLst>
              </a:tr>
            </a:tbl>
          </a:graphicData>
        </a:graphic>
      </p:graphicFrame>
      <p:graphicFrame>
        <p:nvGraphicFramePr>
          <p:cNvPr id="10" name="Table_err_type"/>
          <p:cNvGraphicFramePr>
            <a:graphicFrameLocks noGrp="1"/>
          </p:cNvGraphicFramePr>
          <p:nvPr/>
        </p:nvGraphicFramePr>
        <p:xfrm>
          <a:off x="7020000" y="1565999"/>
          <a:ext cx="4812000" cy="30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17527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1485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182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20498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4932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360000" y="5149999"/>
            <a:ext cx="11473200" cy="903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C2E"/>
                </a:solidFill>
                <a:latin typeface="맑은 고딕"/>
                <a:ea typeface="맑은 고딕"/>
              </a:rPr>
              <a:t>[그래프 프롬프트]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3D1C"/>
                </a:solidFill>
                <a:latin typeface="맑은 고딕"/>
                <a:ea typeface="맑은 고딕"/>
              </a:rPr>
              <a:t>오류 유형별 건수를 막대 그래프로 그려줘. 막대 위에 건수와 비중을 함께 표시해줘.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3-B 결과 확인 - 오류율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5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입고건수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3686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6106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 유형 종류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5종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4739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공급처06 (9.0%, 10건/111건)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73542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공급처09 (7.4%, 6건/81건)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7108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1위 공급처 / 전체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1.9배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510766"/>
                  </a:ext>
                </a:extLst>
              </a:tr>
            </a:tbl>
          </a:graphicData>
        </a:graphic>
      </p:graphicFrame>
      <p:graphicFrame>
        <p:nvGraphicFramePr>
          <p:cNvPr id="12" name="Table_err_type"/>
          <p:cNvGraphicFramePr>
            <a:graphicFrameLocks noGrp="1"/>
          </p:cNvGraphicFramePr>
          <p:nvPr/>
        </p:nvGraphicFramePr>
        <p:xfrm>
          <a:off x="7020000" y="1565999"/>
          <a:ext cx="48120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오배송(SKU상이)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규격불량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83483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수량불일치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45094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서류미비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19135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파손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75528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13569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스무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건 중 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건꼴로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발생한다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공급처06은 오류율 9.0%로 평균의 약 1.9배지만 오류 10건이라 우연일 수 있어, 모니터링 후 재점검 여부를 정한다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020000" y="3419992"/>
          <a:ext cx="4812000" cy="1997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4 - 재고 Aging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오래 묵은 재고에 돈이 얼마나 묶여 있고, 어디부터 정리해야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오래 묵은 재고 규모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반년 넘게 묶인 재고는 현금이 묶인 것이고, 처분·프로모션을 검토할 대상이다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180일 초과 SKU 수·재고금액·전체 대비 비중, 그중 잘 나가는 A등급 SKU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Aging_Days는 가장 오래된 로트의 경과일(재고 연령)이다. 잘 나가는 SKU인데 길면 선입선출을 지키지 않은 신호다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카테고리별 편중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특정 카테고리에 몰려 있으면 그 카테고리의 발주·판매 방식을 손봐야 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카테고리별 180일 초과 SKU 수·재고금액·카테고리 재고 대비 비율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금액이 큰 카테고리와 비율이 높은 카테고리가 다를 수 있다. 둘 다 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4 - 재고 Aging 분석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2239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1722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05_Inventory에서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Aging_Days가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180일을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찾아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 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180일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해당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Inventory_Value_KRW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합),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그중 A등급 SKU(출고 라인수 누적구성비가 처음 80% 이상이 되는 SKU까지), Aging 최장 SKU(일수), 180일 초과 SKU 중 재고금액 최대 SKU(금액)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② 03_SKU_Master의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Category와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연결한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180일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해당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억원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%)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특정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편중되는지도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확인해줘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NoteBox_261003"/>
          <p:cNvSpPr txBox="1"/>
          <p:nvPr/>
        </p:nvSpPr>
        <p:spPr>
          <a:xfrm>
            <a:off x="540000" y="3804498"/>
            <a:ext cx="11088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맑은 고딕"/>
              </a:rPr>
              <a:t>주)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Aging_Days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= 현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재고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중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가장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오래된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로트의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입고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후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경과일수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재고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연령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)</a:t>
            </a:r>
          </a:p>
          <a:p>
            <a:r>
              <a:rPr sz="1400" dirty="0">
                <a:solidFill>
                  <a:srgbClr val="555555"/>
                </a:solidFill>
                <a:latin typeface="맑은 고딕"/>
              </a:rPr>
              <a:t>   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출고가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활발한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SKU도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오래된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로트가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남아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있으면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Aging이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길게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나올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수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있다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선입선출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미준수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신호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4 실습표 - 재고 Aging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0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241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7454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3301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그중 A등급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53068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Aging 최장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03423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재고금액 최대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897895"/>
                  </a:ext>
                </a:extLst>
              </a:tr>
            </a:tbl>
          </a:graphicData>
        </a:graphic>
      </p:graphicFrame>
      <p:graphicFrame>
        <p:nvGraphicFramePr>
          <p:cNvPr id="10" name="Table_aging_cat"/>
          <p:cNvGraphicFramePr>
            <a:graphicFrameLocks noGrp="1"/>
          </p:cNvGraphicFramePr>
          <p:nvPr/>
        </p:nvGraphicFramePr>
        <p:xfrm>
          <a:off x="6520000" y="1565999"/>
          <a:ext cx="5312000" cy="304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180일 초과 SKU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 재고 대비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05198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41346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54178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07554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995621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360000" y="5149999"/>
            <a:ext cx="11473200" cy="97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C2E"/>
                </a:solidFill>
                <a:latin typeface="맑은 고딕"/>
                <a:ea typeface="맑은 고딕"/>
              </a:rPr>
              <a:t>[그래프 프롬프트]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3D1C"/>
                </a:solidFill>
                <a:latin typeface="맑은 고딕"/>
                <a:ea typeface="맑은 고딕"/>
              </a:rPr>
              <a:t>카테고리별 180일 초과 재고금액은 막대, 카테고리 재고 대비(%)는 꺾은선(오른쪽 축)으로 그려줘. 카테고리 이름 아래에 SKU 수를 표시해줘.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4 결과 확인 - 재고 Aging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0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1.6억원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9454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11.5억원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20742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16145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그중 A등급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2개 (SKU0135·SKU0068)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7168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Aging 최장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SKU0049 (460일)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829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재고금액 최대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SKU0135 (약 2,385만원)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118400"/>
                  </a:ext>
                </a:extLst>
              </a:tr>
            </a:tbl>
          </a:graphicData>
        </a:graphic>
      </p:graphicFrame>
      <p:graphicFrame>
        <p:nvGraphicFramePr>
          <p:cNvPr id="12" name="Table_aging_cat"/>
          <p:cNvGraphicFramePr>
            <a:graphicFrameLocks noGrp="1"/>
          </p:cNvGraphicFramePr>
          <p:nvPr/>
        </p:nvGraphicFramePr>
        <p:xfrm>
          <a:off x="6520000" y="1565999"/>
          <a:ext cx="5312000" cy="1974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180일 초과 SKU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 재고 대비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0.41억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0.39억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0846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0.34억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78122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0.33억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6696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0.13억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124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1.60억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17775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454000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재고는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곧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묶여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돈이다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재고금액의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7분의 1이 반년 이상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로트로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남아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20개 중 SKU0135·SKU0068은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A등급인데도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Aging이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길다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선입선출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미준수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신호로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본다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520000" y="3599993"/>
          <a:ext cx="5312000" cy="1746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5 - 재고 커버일수·적정재고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지금 재고는 많은가 적은가, 언제 얼마나 주문해야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재고 커버일수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지금 재고로 며칠을 버틸 수 있는지 알아야 과잉인지 부족한지 판단할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전체 재고 커버일수, SKU별 커버일수 중앙값, 커버일수가 가장 긴·짧은 SKU, 180일 초과 SKU 수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많이 팔리는 소수 SKU가 전체 평균을 끌어내린다. 평균과 중앙값을 같이 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51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적정재고·발주점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얼마를 갖고 있어야 하고 언제 주문해야 하는지 기준이 있어야 결품과 과잉을 함께 막는다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안전재고·발주점·발주량 합계, 발주점 미만·3배 초과 SKU 수, 커버일수 구간별 SKU 수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안전재고 = 수요 변동에 대비한 여유분, 발주점 = 리드타임 동안 쓸 양 + 안전재고. 출고 없는 날도 0으로 넣어 계산한다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5 - 재고 커버일수·적정재고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재고 커버일수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05_Inventory의 Stock_Qty를 02_출고Raw의 SKU별 5월 출고수량(Unit_Qty 합계)을 31일로 나눈 일평균 출고수량으로 나눠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SKU별 재고 커버일수를 계산해줘. 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 구분·값 표로 전체 재고량, 전체 일평균 출고수량, 전체 재고 커버일수(총 재고량 ÷ 전체 일평균 출고수량), SKU별 커버일수 중앙값, 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커버일수가 가장 긴 SKU, 커버일수가 가장 짧은 SKU, 커버일수 180일 초과 SKU 수(그중 Aging 180일 초과와 겹치는 수) 순서로 보여줘.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360000" y="2833200"/>
            <a:ext cx="11448000" cy="1728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7"/>
          <p:cNvSpPr txBox="1"/>
          <p:nvPr/>
        </p:nvSpPr>
        <p:spPr>
          <a:xfrm>
            <a:off x="540000" y="29340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적정재고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540000" y="3139200"/>
            <a:ext cx="11088000" cy="1216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5월 31일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없는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날은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0)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표본표준편차를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리드타임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3일·서비스수준 95%(z=1.65)로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안전재고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=1.65×표준편차×√3,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=일평균×3+안전재고를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발주주기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7일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정기발주의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발주량은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×(3+7)+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안전재고−현재고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음수는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안전재고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미만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커버일수 30일 이하·31~90일·91~180일·180일 초과 SKU 수 순서로 보여줘.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5 실습표 - 재고 커버일수·적정재고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05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재고일수 지표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일평균 출고수량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5982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 커버일수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01338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 커버일수 중앙값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55856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긴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17351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짧은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025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873167"/>
                  </a:ext>
                </a:extLst>
              </a:tr>
            </a:tbl>
          </a:graphicData>
        </a:graphic>
      </p:graphicFrame>
      <p:graphicFrame>
        <p:nvGraphicFramePr>
          <p:cNvPr id="10" name="Table_safety"/>
          <p:cNvGraphicFramePr>
            <a:graphicFrameLocks noGrp="1"/>
          </p:cNvGraphicFramePr>
          <p:nvPr/>
        </p:nvGraphicFramePr>
        <p:xfrm>
          <a:off x="7530000" y="1565999"/>
          <a:ext cx="4302000" cy="458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적정재고·일수 구간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안전재고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410738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미만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183385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3배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526255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발주(7일 주기) 필요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40355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발주량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75189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30일 이하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16640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31~90일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202416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91~180일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36243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4152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360000" y="5149999"/>
            <a:ext cx="7050000" cy="11684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커버일수 구간(30일 이하·31~90일·91~180일·180일 초과)별 SKU 수를 막대 그래프로 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5 결과 확인 - 재고 커버일수·적정재고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050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재고일수 지표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40,686개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일평균 출고수량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1,043.6개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458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 커버일수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39.0일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69547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 커버일수 중앙값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87.7일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9211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긴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SKU0099 (약 1,035일)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2333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짧은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SKU0006 (8.2일)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98095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27개 (Aging 180일 초과와 겹침 8개)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666689"/>
                  </a:ext>
                </a:extLst>
              </a:tr>
            </a:tbl>
          </a:graphicData>
        </a:graphic>
      </p:graphicFrame>
      <p:graphicFrame>
        <p:nvGraphicFramePr>
          <p:cNvPr id="12" name="Table_safety"/>
          <p:cNvGraphicFramePr>
            <a:graphicFrameLocks noGrp="1"/>
          </p:cNvGraphicFramePr>
          <p:nvPr/>
        </p:nvGraphicFramePr>
        <p:xfrm>
          <a:off x="7530000" y="1565999"/>
          <a:ext cx="4302000" cy="379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적정재고·일수 구간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안전재고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1,925개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5,056개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23456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미만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35287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3배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132개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592208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발주(7일 주기) 필요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355191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발주량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336개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461511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30일 이하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024742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31~90일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52개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683468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91~180일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746874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27개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39311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9144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787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 재고 커버일수는 39.0일이지만 SKU별 편차가 크고, 커버일수·Aging이 모두 180일을 넘는 SKU가 8개다.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발주점 미만은 0개, 3배 초과는 132개로 관측된다. 과잉 가능성을 우선 점검하되 수요추세·발주잔량·MOQ·서비스수준을 함께 확인해야 한다.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0000" y="3671991"/>
          <a:ext cx="7050000" cy="1745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6 - 문제점 도출 및 오전 마무리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종합 프롬프트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지금까지 분석한 입고 시간대 집중,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공급처별 오류율,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재고 Aging·회전 결과를 종합해서,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이 물류센터가 겪고 있을 가능성이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높은 문제 3가지와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각각의 개선 아이디어를 표로 정리해줘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조별로 프롬프트 문구를 조금씩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다르게 시도해보고 결과를 비교한다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해석의 유의점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"입고가 많다"는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9600" y="18468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9600" y="18900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사실과 "그래서 문제가 생겼다"는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해석은 별개다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상관관계와 인과관계를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구분하는 습관이 여기서부터 시작된다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9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원인 후보는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29600" y="39510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29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여러 개 나열하고,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근거가 가장 강한 것부터 검증한다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9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AI가 제시한 원인이 데이터로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뒷받침되는지 한 번 더 확인한다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오후 예고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오전에는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5600" y="18468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5600" y="18900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입고와 재고,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즉 들어오고 쌓이는 흐름을 보았다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26757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오후에는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05600" y="28989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05600" y="29421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출고 데이터로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넘어가 ABC·Peak 분석을 진행한다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05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나가는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05600" y="39510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05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흐름까지 봐야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물류센터 전체 그림이 완성된다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05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 마지막에는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05600" y="50031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05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오늘 결과를 발표하고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검증하는 시간도 있다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0000" y="6045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점심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13:30,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출고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이어간다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실습 절차 (80분)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68000"/>
            <a:ext cx="36960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368000"/>
            <a:ext cx="3588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① 시간대·요일·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주차 출고량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60000"/>
            <a:ext cx="3696000" cy="381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160000"/>
            <a:ext cx="36960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160000"/>
            <a:ext cx="362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65996"/>
            <a:ext cx="3552000" cy="24406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Order_DateTime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시간대별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(0-23시)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라인수를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Peak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Hour와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배수를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요일별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라인수와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Date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주차별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(5주)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월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합계도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패턴과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이어본다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4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STEP7-A/B/C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실습표에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채워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넣는다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36000" y="1368000"/>
            <a:ext cx="36960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0000" y="1368000"/>
            <a:ext cx="3588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② ABC·거래처·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출고오류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6000" y="2160000"/>
            <a:ext cx="3696000" cy="3810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6000" y="2160000"/>
            <a:ext cx="3696000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2000" y="2160000"/>
            <a:ext cx="362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08000" y="2465996"/>
            <a:ext cx="355200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SKU별 출고 라인수를 집계하고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누적구성비를 계산한다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누적 80%에 도달하는 SKU까지 A,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95%에 도달하는 SKU까지 B,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나머지 C등급으로 분류한다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등급별 SKU 개수와 전체 150개 중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비중을 표로 정리한다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상위 SKU를 Category·규격과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연결해 자동화 방식을 확인한다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Customer_ID별 출고 라인수로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거래처 편중도를 본다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Error_YN·Error_Type으로 오류율·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유형·시간대별 차이를 분석한다</a:t>
            </a:r>
          </a:p>
          <a:p>
            <a:pPr algn="ctr">
              <a:lnSpc>
                <a:spcPct val="90000"/>
              </a:lnSpc>
              <a:spcAft>
                <a:spcPts val="44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1일차에 배운 ABC 분석 이론을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실습 데이터로 검증한다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2000" y="1368000"/>
            <a:ext cx="36960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6000" y="1368000"/>
            <a:ext cx="3588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③ 인력·설비·물류비·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차량 운영방안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2000" y="2160000"/>
            <a:ext cx="3696000" cy="3810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12000" y="2160000"/>
            <a:ext cx="3696000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8000" y="2160000"/>
            <a:ext cx="362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8184000" y="2465996"/>
            <a:ext cx="3552000" cy="2711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15시 Peak의 일별 평균·P90을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Effective_Capacity_H와 비교한다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09_Automation의 AMR·GTP 대안을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CAPEX·생산성 기준으로 비교한다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Peak 부담을 줄이는 데 적합한 대안을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AI에게 추천받는다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08_Cost 물류비 구성비로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Peak 대응(외주·긴급) 비용을 본다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 중량·규격으로 일별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 소요대수를 추정한다</a:t>
            </a:r>
          </a:p>
          <a:p>
            <a:pPr algn="ctr">
              <a:lnSpc>
                <a:spcPct val="90000"/>
              </a:lnSpc>
              <a:spcAft>
                <a:spcPts val="44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 제안은 출발점일 뿐,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현장 제약조건은 별도로 검증한다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56000" y="1692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32000" y="1692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02_출고Raw · 03_SKU_Master · 07_Capacity · 08_Cost · 09_Automation 시트 활용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7 - 출고 패턴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피킹 인력을 언제, 얼마나 두고 출고 마감은 몇 시로 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시간대별 출고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피킹이 몰리는 시간과 그 크기를 알아야 인력과 마감 시각을 정한다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시간대별 출고 라인수·비중·누계·출고수량, 피크가 평균의 몇 배인지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인력은 평균이 아니라 피크 기준으로 설계한다. 시간평균은 출고가 있는 시간만으로 낸다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57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요일별 출고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4260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요일별로 피킹 인력을 다르게 둘지 판단한다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 일수·출고 라인수·비중·출고수량·일평균 라인수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요일마다 날 수(4·5번)가 달라 일평균으로 비교한다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59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8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③ 주차별 출고</a:t>
            </a:r>
          </a:p>
        </p:txBody>
      </p:sp>
      <p:sp>
        <p:nvSpPr>
          <p:cNvPr id="20" name="PurposeCard2"/>
          <p:cNvSpPr txBox="1"/>
          <p:nvPr/>
        </p:nvSpPr>
        <p:spPr>
          <a:xfrm>
            <a:off x="8124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월말로 갈수록 물량이 늘어나는지, 특이한 주가 있는지 본다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주차별 라인수·비중·일평균, 평일·주말 일평균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주말이 평일보다 많은 주가 있으면 프로모션 같은 원인을 확인한다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세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7 - 시간대별·요일별·주차별 출고 라인수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476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시(時)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있는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이른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시간부터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Unit_Qty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합)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행, 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Peak/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배수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행(Peak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시간평균은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있는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시간대만의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824903"/>
            <a:ext cx="11448000" cy="1224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925704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130904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월~일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(5월 중 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 수),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라인수÷일수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합계 행도 넣어줘. 합계 행의 일평균은 전체 합계를 31일로 나눈 값으로 해줘.</a:t>
            </a:r>
          </a:p>
        </p:txBody>
      </p:sp>
      <p:sp>
        <p:nvSpPr>
          <p:cNvPr id="13" name="Rectangle 9"/>
          <p:cNvSpPr/>
          <p:nvPr/>
        </p:nvSpPr>
        <p:spPr>
          <a:xfrm>
            <a:off x="360000" y="4173236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0"/>
          <p:cNvSpPr txBox="1"/>
          <p:nvPr/>
        </p:nvSpPr>
        <p:spPr>
          <a:xfrm>
            <a:off x="540000" y="4274035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C] 주차별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540000" y="4479236"/>
            <a:ext cx="11088000" cy="979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Date를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1~7일=1주차, 8~14일=2주차, 15~21일=3주차, 22~28일=4주차, 29~31일=5주차로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나눠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예: 7 (5/2)),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5월 합계 행을 넣어줘. 합계 행의 일평균·평일 일평균·주말 일평균은 전체 합계를 해당 일수로 나눈 값으로 해줘.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7-A 실습표 - 시간대별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920000" cy="4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298363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282159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80427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02812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52743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80490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78200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92584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9881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4557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95565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596094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Peak/평균 배수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82093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460000" y="1565999"/>
            <a:ext cx="337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시간당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 0~100%).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7-A 결과 확인 - 시간대별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1023"/>
              </p:ext>
            </p:extLst>
          </p:nvPr>
        </p:nvGraphicFramePr>
        <p:xfrm>
          <a:off x="360000" y="1565999"/>
          <a:ext cx="5544000" cy="395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1,165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945966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1,282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926212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2,035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659221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919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2,431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58047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1,227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3,321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739022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1,696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4,450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8981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2,256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67.7%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6,185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82410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1,915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83.8%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5,359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001514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1,061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42486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97.2%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1,479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544792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926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9469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32,353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766467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Peak/</a:t>
                      </a:r>
                      <a:endParaRPr lang="en-US"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배수</a:t>
                      </a:r>
                      <a:endParaRPr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2.28배 (15시)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4115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667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15시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Peak가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조업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2.28배다. 1일차에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배운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함정을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확인했다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48000" y="1565999"/>
          <a:ext cx="5785199" cy="21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048000" y="3718800"/>
          <a:ext cx="5785199" cy="1627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7-B 실습표 - 요일별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9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21898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1944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22428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1771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43328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61770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13720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460000" y="1565999"/>
            <a:ext cx="3373199" cy="2412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그래프에서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빼줘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7-B 결과 확인 - 요일별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67657"/>
              </p:ext>
            </p:extLst>
          </p:nvPr>
        </p:nvGraphicFramePr>
        <p:xfrm>
          <a:off x="360000" y="1565999"/>
          <a:ext cx="5616000" cy="3776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1,747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4,671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436.8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1,343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3,525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335.8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801112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1,524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4,208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381.0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529875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1,609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4,371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402.3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25524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2,349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6,459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469.8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973677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1,958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5,408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391.6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05949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1,337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3,711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267.4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92115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32,353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382.8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8889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일평균으로도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469.8라인이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일요일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267.4라인이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최소로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약 1.76배다.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토요일도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391.6라인으로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수준이라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주말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인력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배치를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봐야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20000" y="1565999"/>
          <a:ext cx="5713199" cy="204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0000" y="3643199"/>
          <a:ext cx="5713199" cy="170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7-C 실습표 - 주차별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81609"/>
              </p:ext>
            </p:extLst>
          </p:nvPr>
        </p:nvGraphicFramePr>
        <p:xfrm>
          <a:off x="360000" y="1565999"/>
          <a:ext cx="792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9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1526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7043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533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63064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384291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460000" y="1565999"/>
            <a:ext cx="3373199" cy="2242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주차별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5월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평일·주말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7-C 결과 확인 - 주차별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12447"/>
              </p:ext>
            </p:extLst>
          </p:nvPr>
        </p:nvGraphicFramePr>
        <p:xfrm>
          <a:off x="360000" y="1565999"/>
          <a:ext cx="648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3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2,316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330.9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361.8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253.5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2,396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342.3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356.6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306.5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59729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2,954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422.0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483.6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268.0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65504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3,163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451.9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430.0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506.5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333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 (1/2)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1,038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346.0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412.0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313.0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33312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 (21/10)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382.8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408.2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329.5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58587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4주차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451.9라인은 1주차 330.9라인의 약 1.4배로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월말로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갈수록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늘어난다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4주차는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주말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(506.5)이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(430.0)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높아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프로모션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등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원인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확인이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필요하다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83999" y="1565999"/>
          <a:ext cx="4849200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983999" y="3491999"/>
          <a:ext cx="4849200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8 - ABC 분석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어떤 상품을 출고구 가까이 두고, 무엇을 자동화해야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ABC 등급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소수 상품이 출고 대부분을 차지하면 그 상품만 잘 배치해도 효율이 크게 오른다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출고 라인수 누적구성비로 나눈 A·B·C 등급별 SKU 수·비중·라인수·물량비중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등급 경계는 '처음 80% 이상이 되는 SKU까지'로 정해야 누구나 같은 개수가 나온다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65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상위 SKU와 자동화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가장 많이 나가는 상품의 특성에 맞춰야 자동화 투자가 의미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상위 5개 SKU의 카테고리·라인수·비중과 적합한 자동화 방식 제안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AI 제안은 출발점이다. 상품 규격·무게 같은 현장 조건은 따로 확인한다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65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8 - ABC 분석과 설비 매핑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627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12274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집계하고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누적구성비를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누적구성비가 처음 80% 이상이 되는 SKU까지 A등급, 처음 95% 이상이 되는 SKU까지 B등급, 나머지 C등급으로 분류해줘.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등급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(A·B·C 순), SKU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SKU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SKU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합,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물량비중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0000" y="3033924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3134724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339924"/>
            <a:ext cx="11088000" cy="472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5개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SKU, Category,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03_SKU_Master의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Category·규격과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연결해서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어떤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자동화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방식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(예 : GTP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피킹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전용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소터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적합할지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제안해줘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8 실습표 - ABC 등급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84325"/>
              </p:ext>
            </p:extLst>
          </p:nvPr>
        </p:nvGraphicFramePr>
        <p:xfrm>
          <a:off x="360000" y="1565999"/>
          <a:ext cx="11341100" cy="195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</a:t>
                      </a: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개수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비중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누계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출고라인 합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물량비중</a:t>
                      </a:r>
                      <a:r>
                        <a:rPr lang="en-US" altLang="ko-KR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누계비중</a:t>
                      </a:r>
                      <a:r>
                        <a:rPr lang="en-US" altLang="ko-KR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A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B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C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합계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98956"/>
                  </a:ext>
                </a:extLst>
              </a:tr>
            </a:tbl>
          </a:graphicData>
        </a:graphic>
      </p:graphicFrame>
      <p:graphicFrame>
        <p:nvGraphicFramePr>
          <p:cNvPr id="10" name="Table_abc_top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84325"/>
              </p:ext>
            </p:extLst>
          </p:nvPr>
        </p:nvGraphicFramePr>
        <p:xfrm>
          <a:off x="360000" y="3691394"/>
          <a:ext cx="80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31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순위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Category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 라인수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81911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3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7766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34088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055608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8540000" y="3691394"/>
            <a:ext cx="329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SKU별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큰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누적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80%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기준선은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8 결과 확인 - ABC 등급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1565999"/>
          <a:ext cx="11341100" cy="195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개수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누계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출고라인 합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물량비중(%)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누계비중(%)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A등급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9,494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B등급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25.3%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1,780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95.0%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C등급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90개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593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163355"/>
                  </a:ext>
                </a:extLst>
              </a:tr>
            </a:tbl>
          </a:graphicData>
        </a:graphic>
      </p:graphicFrame>
      <p:graphicFrame>
        <p:nvGraphicFramePr>
          <p:cNvPr id="16" name="Table_abc_top5"/>
          <p:cNvGraphicFramePr>
            <a:graphicFrameLocks noGrp="1"/>
          </p:cNvGraphicFramePr>
          <p:nvPr/>
        </p:nvGraphicFramePr>
        <p:xfrm>
          <a:off x="7000000" y="3650000"/>
          <a:ext cx="4830000" cy="1800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3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9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순위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Category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SKU0002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1,293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883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93817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523882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603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29.4%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736108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SKU0113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07515"/>
                  </a:ext>
                </a:extLst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60000" y="3590999"/>
          <a:ext cx="6500000" cy="1870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360000" y="5537200"/>
            <a:ext cx="11448000" cy="9144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5600700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A등급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22개 SKU(14.7%)가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출고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라인의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80.0%를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차지한다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-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교과서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ABC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원칙과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일치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0000" y="5969000"/>
            <a:ext cx="1094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758A7"/>
                </a:solidFill>
                <a:latin typeface="맑은 고딕"/>
                <a:ea typeface="맑은 고딕"/>
              </a:rPr>
              <a:t>A등급 22개 SKU의 위치와 처리 방식을 최우선으로 설계해야 한다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9 - 거래처·출고오류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어느 거래처의 출고를 먼저 챙기고, 출고 오류는 왜 생기는가?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거래처별 출고·오류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출고를 많이 만드는 거래처와 오류가 나는 거래처를 알아야 마감·검수 우선순위를 정한다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거래처별 출고 라인수·비중·누계·출고수량·오류건수·오류율을 한 표로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라인 수가 적은 거래처는 오류율이 크게 흔들릴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출고 오류와 바쁜 시간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물량이 몰리는 시간에 실수가 늘어난다면 피크를 평평하게 만드는 것이 품질 대책이 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전체 오류율, 14~17시(피크)와 그 외 시간의 오류율 비교, 오류 유형별 건수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가장 많은 오류 유형이 무엇이냐에 따라 대책(바코드 검증 등)이 달라진다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71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9 - 거래처별 출고·출고오류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거래처별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Customer_ID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=Y),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알려줘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5740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748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출고오류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 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(14~17시)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그 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Peak / 그 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배수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높은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2위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Error_Type별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순,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9-A 실습표 - 거래처별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440"/>
              </p:ext>
            </p:extLst>
          </p:nvPr>
        </p:nvGraphicFramePr>
        <p:xfrm>
          <a:off x="360000" y="1565999"/>
          <a:ext cx="8150000" cy="4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0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4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거래처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 라인수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출고수량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오류건수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오류율(%)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056914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902424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883794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348933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18727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768609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780077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73098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36824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합계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863610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690000" y="1565999"/>
            <a:ext cx="3143199" cy="2412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9-A 결과 확인 - 거래처별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상위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3개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거래처가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출고의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42.2%,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상위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7개가 80.1%를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차지한다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오류율은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거래처03이 3.5%로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(2.0%)의 약 1.7배라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집중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관리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대상이다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786682"/>
              </p:ext>
            </p:extLst>
          </p:nvPr>
        </p:nvGraphicFramePr>
        <p:xfrm>
          <a:off x="360000" y="1565999"/>
          <a:ext cx="6336000" cy="3880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2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거래처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오류율(%)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1,835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4,987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1,727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4,712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44507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1,445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4,004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921747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1,278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3,518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30204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1,150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62.7%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3,184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52804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1,138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2,983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699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932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2,533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831648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86.8%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2,150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709929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2,210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833604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2,072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48575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32,353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78416"/>
                  </a:ext>
                </a:extLst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40000" y="1565999"/>
          <a:ext cx="4993199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40000" y="3491999"/>
          <a:ext cx="4993199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9-B 실습표 - 출고오류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700000" cy="38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출고오류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49484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292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시간대(14~17시)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64475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외 시간대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99664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/ 그 외 배수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30289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57062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022102"/>
                  </a:ext>
                </a:extLst>
              </a:tr>
            </a:tbl>
          </a:graphicData>
        </a:graphic>
      </p:graphicFrame>
      <p:graphicFrame>
        <p:nvGraphicFramePr>
          <p:cNvPr id="10" name="Table_out_err_type"/>
          <p:cNvGraphicFramePr>
            <a:graphicFrameLocks noGrp="1"/>
          </p:cNvGraphicFramePr>
          <p:nvPr/>
        </p:nvGraphicFramePr>
        <p:xfrm>
          <a:off x="7220000" y="1565999"/>
          <a:ext cx="4612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8792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2266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54022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21268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12801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263884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7220000" y="5149999"/>
            <a:ext cx="4613199" cy="97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유형별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건수를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위에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건수와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9-B 결과 확인 - 출고오류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700000" cy="3727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11,867라인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출고오류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084648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20684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시간대(14~17시)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2.5% (173건/6,928라인)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7227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외 시간대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1.3% (65건/4,939라인)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4437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/ 그 외 배수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1.9배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05353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거래처03 (3.5%, 50건/1,445라인)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331397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거래처09 (2.5%, 20건/789라인)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573495"/>
                  </a:ext>
                </a:extLst>
              </a:tr>
            </a:tbl>
          </a:graphicData>
        </a:graphic>
      </p:graphicFrame>
      <p:graphicFrame>
        <p:nvGraphicFramePr>
          <p:cNvPr id="12" name="Table_out_err_type"/>
          <p:cNvGraphicFramePr>
            <a:graphicFrameLocks noGrp="1"/>
          </p:cNvGraphicFramePr>
          <p:nvPr/>
        </p:nvGraphicFramePr>
        <p:xfrm>
          <a:off x="7220000" y="1565999"/>
          <a:ext cx="4612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오피킹(SKU상이)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수량오류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0084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파손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9232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라벨·송장오류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9628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배송지오류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07089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결품(재고부족)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33532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32446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667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Peak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(14~17시)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오류율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2.5%는 그 외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1.3%의 약 1.9배다.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물량이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몰리는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늘어난다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220000" y="3671991"/>
          <a:ext cx="4612000" cy="1674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10 - 인력·자동화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15시 피크에 사람을 더 뽑아야 하는가, 자동화를 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15시 피크와 처리능력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피크를 지금 처리능력으로 감당할 수 있으면 채용·투자가 필요 없다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15시 일별 라인수의 평균·P85·P90·최댓값과 피킹 처리능력 비교, 사용률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15시 한 달 합계를 하루 물량으로 착각하면 인력을 크게 과대 산정한다. 일별로 나눠 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75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자동화 투자 판단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자동화는 큰돈이 드는 결정이라 몇 년 만에 회수되는지가 기준이다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대안별 CAPEX·연간 순절감액·회수기간과 5년 기준 판단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생산성 향상 목표·가동률은 가정치다. 낙관적이지 않은지 근거를 따진다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77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10 - 인력·설비 운영방안 연결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인력 소요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02_출고Raw에서 15시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(5월 1~31일)를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구하고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07_Capacity의 Picking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공정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처리능력과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비교해줘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15시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P85, P90,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최댓값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날짜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최솟값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Picking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Design_Capacity_H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Picking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Effective_Capacity_H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처리능력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사용률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(P90÷Effective /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최댓값÷Effective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판단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여유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부족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백분위수는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엑셀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PERCENTILE.INC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방식으로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계산하고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부족하다면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추가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인력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수를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단계별로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8332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9340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자동화 대안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1392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09_Automation의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대안별로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대안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순서대로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CAPEX(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억원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순절감액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Expected_Annual_Net_Benefit_KRW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억원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생산성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향상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목표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Target_Productivity_Gain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목표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가동률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Target_Availability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회수기간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(CAPEX ÷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순절감액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판단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: 5년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이내면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추진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넘으면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재검토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15시 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부담을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줄이는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적합한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대안을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추천해줘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5724000"/>
            <a:ext cx="11448000" cy="756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000" y="6030000"/>
            <a:ext cx="1094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758A7"/>
                </a:solidFill>
                <a:latin typeface="맑은 고딕"/>
                <a:ea typeface="맑은 고딕"/>
              </a:rPr>
              <a:t>AI 제안은 출발점이다 - 인력 채용, 투자 여력 같은 현장 제약조건은 별도 검증이 필요하다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10-A 실습표 - 15시 Peak와 처리능력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336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P85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99791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P90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9036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최댓값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38834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최솟값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76239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Design_Capacity_H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9879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Effective_Capacity_H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1243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처리능력 사용률 (P90 / 최댓값)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137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판단 (여유 / 부족)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462359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6876000" y="1565999"/>
            <a:ext cx="4957199" cy="1573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15시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(5월 1~31일)를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평균·P85·P90은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피킹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처리능력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Design·Effective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)은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실선으로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같은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10-A 결과 확인 - 15시 Peak와 처리능력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5112000" cy="3882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73건 (72.8건)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P85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97건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742546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P90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111건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76041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최댓값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128건 (5/22(금))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09229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최솟값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72886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Design_Capacity_H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430건/시간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46729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Effective_Capacity_H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370건/시간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591212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처리능력 사용률 (P90 / 최댓값)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30% / 35%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17670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판단 (여유 / 부족)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여유 있음 (추가 인력 불필요)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355559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15시 일별 라인수는 평균 73건·P90 111건·최대 128건으로 처리능력 370건 이내다.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2758A7"/>
                </a:solidFill>
                <a:latin typeface="맑은 고딕"/>
                <a:ea typeface="맑은 고딕"/>
              </a:rPr>
              <a:t>월 합계 2,256건을 한 시간 물량으로 쓰면 인력을 과대 산정한다. 일별로 나눠 비교한다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16000" y="1565999"/>
          <a:ext cx="6217199" cy="385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10-B 실습표 - 자동화 대안 회수기간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114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2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CAPEX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연간 순절감액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생산성 향상 목표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목표 가동률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회수기간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판단 (5년 기준)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AMR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GTP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6243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Sorter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2429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결론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636346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360000" y="4309999"/>
            <a:ext cx="11473200" cy="144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대안별로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3개를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CAPEX와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연간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순절감액은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회수기간은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5년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기준은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③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생산성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향상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목표와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목표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가동률은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10-B 결과 확인 - 자동화 대안 회수기간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36637"/>
              </p:ext>
            </p:extLst>
          </p:nvPr>
        </p:nvGraphicFramePr>
        <p:xfrm>
          <a:off x="360000" y="1565999"/>
          <a:ext cx="6983999" cy="200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60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CAPEX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연간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순절감액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생산성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향상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가동률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회수기간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판단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(5년 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AMR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4.8억원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0.72억원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6.7년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GTP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12.5억원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1.85억원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6.8년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8688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Sorter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7.6억원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1.05억원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7.2년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1132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결론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5년 이내 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세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모두</a:t>
                      </a:r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  <a:endParaRPr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812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세 대안 모두 회수기간이 5년을 넘어 재검토 대상이다.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2758A7"/>
                </a:solidFill>
                <a:latin typeface="맑은 고딕"/>
                <a:ea typeface="맑은 고딕"/>
              </a:rPr>
              <a:t>15시 Peak도 처리능력 이내여서 Peak 해소만을 위한 자동화 투자는 시급하지 않다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488000" y="1565999"/>
          <a:ext cx="4345199" cy="1925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488000" y="3527947"/>
          <a:ext cx="4345199" cy="1889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60000" y="3563999"/>
          <a:ext cx="6983999" cy="1853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(계속) - 물류비·차량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물류비를 어디서 줄이고, 차량은 몇 대 계약해야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물류비 구성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돈이 많이 드는 비목부터 손대야 절감 효과가 크다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비목별 월 비용·비중·누계(큰 순서)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외주·긴급 비용은 피크 대응에 쓰는 돈이라 피크를 줄이면 함께 줄일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81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차량 소요대수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일별 필요 차량 대수는 고정 차량·용차 규모를 검토하는 기초자료다. 계약대수는 권역·노선·회전수·시간창을 함께 봐야 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일별 출고 총중량·총부피로 계산한 필요 차량 대수(평균·최대·분포·요일별)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중량·부피 기준 중 큰 값을 사용하고 적재율 80%를 가정한다. 이는 이론 추정치이며 포장·팔레트·혼적·노선·회전수는 별도 검증한다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83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(계속) - 물류비·차량 소요대수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C] 물류비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08_Cost의 월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물류비를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비목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월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비용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월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비목의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외주·긴급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쓰이는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Outsource_Expedite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알려줘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0000" y="2574000"/>
            <a:ext cx="11448000" cy="1944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748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D] 차량 소요대수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1088000" cy="1463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03_SKU_Master의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Weight_kg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상품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1개당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)와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L_cm·W_cm·H_cm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(㎥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환산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)에 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Unit_Qty를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곱해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총부피를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적재중량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5톤·적재부피 22㎥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적재율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80%로 쓸 때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중 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값을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올림해줘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큰 날(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중량·부피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그 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기준·부피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값),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작은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분포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(1대·2대·3대·4대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4대가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10-C 실습표 - 물류비 구성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 첫 칸 이름은 AI 결과의 순서(많은 순)대로 적는다.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34898"/>
              </p:ext>
            </p:extLst>
          </p:nvPr>
        </p:nvGraphicFramePr>
        <p:xfrm>
          <a:off x="360000" y="1565999"/>
          <a:ext cx="6336000" cy="347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월 비용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3006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18993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31394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07421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5701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 물류비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120575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6876000" y="1565999"/>
            <a:ext cx="4957199" cy="135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비목별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비용을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큰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순서대로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위에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10-C 결과 확인 - 물류비 구성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450623"/>
              </p:ext>
            </p:extLst>
          </p:nvPr>
        </p:nvGraphicFramePr>
        <p:xfrm>
          <a:off x="360000" y="1565999"/>
          <a:ext cx="6336000" cy="347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월 비용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Labor (인건비)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105,000,000원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Rent_Storage (보관비)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67.3%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15445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Outsource_Expedite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외주·긴급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79.2%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54538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Packing_Material (포장재)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89.2%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802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Equipment_Maint (설비유지)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96.6%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63317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IT_System (IT)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7,500,000원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71677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 물류비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218,500,000원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57503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인건비와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보관비가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물류비의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67.3%를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차지한다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Peak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대응에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쓰는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외주·긴급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비용도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11.9%로 세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번째다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Peak를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줄이면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비용을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줄일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여지가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생긴다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840000" y="1565999"/>
          <a:ext cx="4993199" cy="385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10-D 실습표 - 차량 소요대수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336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총중량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총부피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0785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큰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1196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날 필요한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29769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작은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2378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필요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883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필요 차량 대수 분포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25881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차량 4대가 필요한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30712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요일별 평균 대수 (최대 / 최소)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988306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6876000" y="1565999"/>
            <a:ext cx="4957199" cy="1573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(5월 1~31일)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대수별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일수와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10-D 결과 확인 - 차량 소요대수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결과다. 여러분의 AI 분석 결과와 비교해 본다.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623999" cy="3799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총중량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7,882kg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총부피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32.5㎥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973388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큰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5/22(금) 15,437kg·63.1㎥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863067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날 필요한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4대 (중량 기준 3.86, 부피 기준 3.58)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122952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작은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5/3(일) 3,757kg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086899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필요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2.5대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38018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필요 차량 대수 분포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1대 1일 · 2대 18일 · 3대 9일 · 4대 3일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67684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차량 4대가 필요한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5/20(수) · 5/22(금) · 5/23(토)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546728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요일별 평균 대수 (최대 / 최소)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금요일 3.2대 / 일요일 1.8대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0376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105156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총중량이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가장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큰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날은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5/22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(7,882kg)의 약 2.0배이고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4대가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필요하다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 2.5대는 월간 평균 기반 추정치다. 실제 계약·배차는 피크일 물량, 권역·노선, 차량 회전수와 운영시간을 반영해 별도 검증한다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128000" y="1565999"/>
          <a:ext cx="4705199" cy="2118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128000" y="3720541"/>
          <a:ext cx="4705199" cy="1697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3교시 마무리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 확인한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출고 시간대·요일·주차 패턴, ABC 등급,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거래처·출고오류, 인력·자동화·물류비·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차량 연결까지 확인했다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A등급 22개 SKU의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물량 집중은 슬로팅 개선의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명확한 우선순위를 보여준다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오전(입고·재고)과 오후(출고·ABC·Peak)를 합치면 물류센터 전체 그림이 완성된다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1일차에 배운 이론(ABC·Peak)을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실습 수치로 직접 확인한 시간이었다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제안의 한계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AI가 제시한 운영방안이 이론적으로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그럴듯해도 현장 제약조건까지는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알지 못한다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인력을 실제로 채용할 수 있는지,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설비 투자 여력이 있는지는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AI가 판단할 수 없는 영역이다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AI 제안은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29600" y="39510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29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출발점이지 결론이 아니다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29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최종 판단은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29600" y="50031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29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언제나 현장을 아는 사람의 몫이다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다음 순서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 마지막 시간은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5600" y="18468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5600" y="18900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오늘 결과를 발표하고 검증하는 시간이다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문제, 분석근거,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개선방안 3단 구조로 정리한다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5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AI 분석결과를 검증하는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5600" y="39510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05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세 가지 원칙도 함께 익힌다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05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발표 후에는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05600" y="50031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05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수료TEST와 수료식으로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3일 과정을 마무리한다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발표 준비 - "문제 - 분석근거 - 개선방안"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발표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8340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데이터에서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발견한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1가지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7569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분석근거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수치로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뒷받침한다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(예: Peak 15시 2.28배,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22개 14.7%)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개선방안 -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레이아웃·인력·재고·자동화·차량 중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하나로 연결한다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3단 구조를 벗어나지 않는 것이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짧은 시간에 설득력을 얻는 핵심이다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발표자료 준비 프롬프트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"오늘 실습에서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도출한 분석 결과를 바탕으로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28861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문제-분석근거-개선방안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3단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구조의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5분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발표자료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개요를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슬라이드 5장 분량으로 정리해줘"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9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표·수치 중심으로 요청하면 발표자료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초안 시간을 크게 줄일 수 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진행 방식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5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조별 5분 발표에 2분 질의응답을 더한다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시간이 부족하면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대표 2~3개 조만 전체 발표하고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나머지는 순회 피드백으로 대체한다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발표를 들으며 강사는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5600" y="39510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5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근거 수치가 실습 데이터와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맞는지 짚어준다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다음 순서로 AI 분석결과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검증 3원칙을 함께 짚는다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AI 분석결과 검증 3원칙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96000"/>
            <a:ext cx="11448000" cy="140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11448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① 출처·기간 확인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691999"/>
            <a:ext cx="11304000" cy="9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AI가 데이터를 임의로 생성하거나 확대해석하지 않았는지 대조한다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2026년 5월 기간, 입고 994건·출고 11,867건 합계가 일치하는지 확인한다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원본 시트의 행 수와 AI가 인용한 수치가 일치하는지 재확인한다. 날짜 누락·중복, 합계·분모·단위도 검산한다</a:t>
            </a:r>
          </a:p>
          <a:p>
            <a:pPr algn="ctr">
              <a:lnSpc>
                <a:spcPct val="90000"/>
              </a:lnSpc>
              <a:spcAft>
                <a:spcPts val="433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</a:rPr>
              <a:t>AI가 존재하지 않는 </a:t>
            </a: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컬럼이나 값을 만들어내지 않았는지 점검한다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826000"/>
            <a:ext cx="11448000" cy="1404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000" y="2826000"/>
            <a:ext cx="11448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2826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통계적 함정 점검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2000" y="3221998"/>
            <a:ext cx="11304000" cy="9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표본 편향, 상관관계와 인과관계의 혼동, 이상치 처리 여부를 점검한다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</a:rPr>
              <a:t>"금요일에 많다"는 </a:t>
            </a: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사실과 "금요일이 원인"이라는 해석은 별개다 - 프로모션 등 다른 요인일 수 있다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평균만으로 결론 내리지 않았는지, 분포(백분위)까지 함께 봤는지 확인한다. 백분위 방식·반올림 규칙도 통일한다</a:t>
            </a:r>
          </a:p>
          <a:p>
            <a:pPr algn="ctr">
              <a:lnSpc>
                <a:spcPct val="90000"/>
              </a:lnSpc>
              <a:spcAft>
                <a:spcPts val="433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</a:rPr>
              <a:t>표본 크기가 작은 </a:t>
            </a: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구간의 비율은 과대 해석을 주의한다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356000"/>
            <a:ext cx="11448000" cy="1404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0000" y="4356000"/>
            <a:ext cx="11448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000" y="4356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현장 교차검증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2000" y="4751999"/>
            <a:ext cx="11304000" cy="9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컨설턴트나 현장 담당자의 직관·경험과 비교해 타당성을 재확인한다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 숫자가 정교해 보여도 현장 경험상 맞지 않으면 반드시 다시 확인한다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데이터 기간이나 표본이 현장의 실제 운영 상황을 대표하는지 검토한다</a:t>
            </a:r>
          </a:p>
          <a:p>
            <a:pPr algn="ctr">
              <a:lnSpc>
                <a:spcPct val="90000"/>
              </a:lnSpc>
              <a:spcAft>
                <a:spcPts val="43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세 원칙 중 하나라도 통과하지 못하면 발표자료에 담지 않는다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5976000"/>
            <a:ext cx="11088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세 원칙 모두를 통과한 결과만 발표자료에 담는다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분석결과 → 개선방안 연결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296000"/>
          <a:ext cx="114480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분석 결과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연결되는 개선방안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입고·출고 시간대별 집중도(Peak)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레이아웃 재배치, 시간대별 인력 운영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SKU별 ABC 등급, EIQ 구조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자동화 설비 CAPA 검토, 피킹 방식 결정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재고회전율, Aging, 적정재고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 정책(안전재고·발주량) 재설정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거래처별 출고물량(Customer_ID)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 집중 관리, 출고 마감·배송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자동화 대안별 CAPEX·절감액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ROI 기준 투자 우선순위 결정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출고오류(유형·시간대·거래처)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검수·피킹 프로세스 개선, Peak 시간대 인력 운영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27414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물류비 구성(인건비·외주·긴급)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완화로 외주·긴급 비용 절감, 인력 운영 효율화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73719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 총중량·총부피(일별)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요일별 차량 소요대수 및 배차 계획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73424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0000" y="5724000"/>
            <a:ext cx="11448000" cy="55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5874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뽑아낸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결과는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그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자체로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끝이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아니다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-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물류센터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의사결정으로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연결할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수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있어야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물류DATA분석사다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ROI 회수기간 공식 - 자동화 투자 판단의 마지막 관문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40000" y="1260000"/>
            <a:ext cx="9288000" cy="486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4000" y="1260000"/>
            <a:ext cx="9180000" cy="4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회수기간(년) = 투자비 증분(TO-BE - AS-IS) / 연간 순 절감액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3683999" cy="3311999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15999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15999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통상 기준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11999"/>
            <a:ext cx="3539999" cy="26368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3~5년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합격선으로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통용된다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미만이면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우선순위가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매우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초과면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재검토가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필요한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수준이다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업종·설비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유형에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따라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달라질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경영진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숫자다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42000" y="2015999"/>
            <a:ext cx="3683999" cy="3311999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42000" y="2015999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8000" y="2015999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입력값</a:t>
            </a:r>
          </a:p>
        </p:txBody>
      </p:sp>
      <p:sp>
        <p:nvSpPr>
          <p:cNvPr id="16" name="diagbody"/>
          <p:cNvSpPr txBox="1"/>
          <p:nvPr/>
        </p:nvSpPr>
        <p:spPr>
          <a:xfrm>
            <a:off x="4314000" y="2411999"/>
            <a:ext cx="3539999" cy="27774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09_Automation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시트의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CAPEX와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절감액을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증분은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TO-BE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설비비용에서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AS-IS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비용을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절감액은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인건비·오류비용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절감분을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AI에게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과정을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단계별로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보여달라고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요청한다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비현실적으로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낙관적이지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않은지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24000" y="2015999"/>
            <a:ext cx="3683999" cy="3311999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4000" y="2015999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0000" y="2015999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최종 산출물</a:t>
            </a:r>
          </a:p>
        </p:txBody>
      </p:sp>
      <p:sp>
        <p:nvSpPr>
          <p:cNvPr id="20" name="diagbody"/>
          <p:cNvSpPr txBox="1"/>
          <p:nvPr/>
        </p:nvSpPr>
        <p:spPr>
          <a:xfrm>
            <a:off x="8196000" y="2411999"/>
            <a:ext cx="3539999" cy="27047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여러 자동화 대안의 회수기간을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나란히 비교한다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투자 우선순위를 숫자로 제시할 수 있다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경영진 의사결정의 근거 자료가 된다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오늘 실습 결과를 발표자료에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그대로 활용할 수 있다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이 공식이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3일 과정 전체의 마지막 도착점이다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수료TEST · 수료식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수료TEST 및 3일 과정 마무리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90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수료TEST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7048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실습에서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도출한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1건을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근거와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서술한다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(A4 1장, 20분)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① 문제 정의 ② 근거 데이터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③ 개선방안 ④ 연결되는 의사결정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영역을 순서대로 적는다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필기시험이 아닌 실무형 평가다. 문제 정의·데이터 근거·개선안 타당성·의사결정 연결의 배점과 합격기준은 운영기관과 사전 확정·공지한다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9903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AI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없이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스스로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정리해보는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마지막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과정이다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3일 과정 요약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1일차 - 물류DATA분석사가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무엇을 하는 사람인지 개념을 잡았다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2일차 - SQL로 입고·재고·출고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데이터를 직접 조회하고 분석했다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3일차 - AI로 속도를 높이고,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결과를 검증하고, 개선안까지 연결했다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9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세 번의 도구(개념·SQL·AI)가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결국 하나의 분석 흐름으로 이어진다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마무리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5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스스로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조회하고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분석하고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개선안으로</a:t>
            </a:r>
            <a:br>
              <a:rPr lang="ko-KR" alt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연결할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있는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사람이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되었다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배운 흐름을 현장에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돌아가서도 계속 쓰시기 바란다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수료증 수여, 단체사진 촬영,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질의응답으로 마무리한다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궁금한 점은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05600" y="50031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05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언제든 다시 연락해 주시기 바란다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0000" y="5940000"/>
            <a:ext cx="11088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3일간 고생 많으셨습니다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14775</Words>
  <Application>Microsoft Office PowerPoint</Application>
  <PresentationFormat>와이드스크린</PresentationFormat>
  <Paragraphs>2886</Paragraphs>
  <Slides>81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물류DATA분석사 자격과정</dc:title>
  <dc:subject/>
  <dc:creator>Kiho Lee</dc:creator>
  <cp:keywords/>
  <dc:description/>
  <cp:lastModifiedBy>Kiho Lee</cp:lastModifiedBy>
  <cp:revision>71</cp:revision>
  <dcterms:created xsi:type="dcterms:W3CDTF">2013-01-27T09:14:16Z</dcterms:created>
  <dcterms:modified xsi:type="dcterms:W3CDTF">2026-10-06T07:37:11Z</dcterms:modified>
  <cp:category/>
</cp:coreProperties>
</file>